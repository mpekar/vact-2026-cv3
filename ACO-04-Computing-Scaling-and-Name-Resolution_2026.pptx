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5.xml" ContentType="application/vnd.openxmlformats-officedocument.them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109.xml" ContentType="application/vnd.openxmlformats-officedocument.presentationml.tags+xml"/>
  <Override PartName="/ppt/notesSlides/notesSlide1.xml" ContentType="application/vnd.openxmlformats-officedocument.presentationml.notesSlide+xml"/>
  <Override PartName="/ppt/tags/tag110.xml" ContentType="application/vnd.openxmlformats-officedocument.presentationml.tags+xml"/>
  <Override PartName="/ppt/notesSlides/notesSlide2.xml" ContentType="application/vnd.openxmlformats-officedocument.presentationml.notesSlide+xml"/>
  <Override PartName="/ppt/tags/tag111.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2.xml" ContentType="application/vnd.openxmlformats-officedocument.presentationml.tags+xml"/>
  <Override PartName="/ppt/notesSlides/notesSlide4.xml" ContentType="application/vnd.openxmlformats-officedocument.presentationml.notesSlide+xml"/>
  <Override PartName="/ppt/tags/tag113.xml" ContentType="application/vnd.openxmlformats-officedocument.presentationml.tags+xml"/>
  <Override PartName="/ppt/notesSlides/notesSlide5.xml" ContentType="application/vnd.openxmlformats-officedocument.presentationml.notesSlide+xml"/>
  <Override PartName="/ppt/tags/tag114.xml" ContentType="application/vnd.openxmlformats-officedocument.presentationml.tags+xml"/>
  <Override PartName="/ppt/notesSlides/notesSlide6.xml" ContentType="application/vnd.openxmlformats-officedocument.presentationml.notesSlide+xml"/>
  <Override PartName="/ppt/tags/tag115.xml" ContentType="application/vnd.openxmlformats-officedocument.presentationml.tags+xml"/>
  <Override PartName="/ppt/notesSlides/notesSlide7.xml" ContentType="application/vnd.openxmlformats-officedocument.presentationml.notesSlide+xml"/>
  <Override PartName="/ppt/tags/tag116.xml" ContentType="application/vnd.openxmlformats-officedocument.presentationml.tags+xml"/>
  <Override PartName="/ppt/notesSlides/notesSlide8.xml" ContentType="application/vnd.openxmlformats-officedocument.presentationml.notesSlide+xml"/>
  <Override PartName="/ppt/tags/tag117.xml" ContentType="application/vnd.openxmlformats-officedocument.presentationml.tags+xml"/>
  <Override PartName="/ppt/notesSlides/notesSlide9.xml" ContentType="application/vnd.openxmlformats-officedocument.presentationml.notesSlide+xml"/>
  <Override PartName="/ppt/tags/tag118.xml" ContentType="application/vnd.openxmlformats-officedocument.presentationml.tags+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9.xml" ContentType="application/vnd.openxmlformats-officedocument.presentationml.tags+xml"/>
  <Override PartName="/ppt/notesSlides/notesSlide11.xml" ContentType="application/vnd.openxmlformats-officedocument.presentationml.notesSlide+xml"/>
  <Override PartName="/ppt/tags/tag120.xml" ContentType="application/vnd.openxmlformats-officedocument.presentationml.tags+xml"/>
  <Override PartName="/ppt/notesSlides/notesSlide12.xml" ContentType="application/vnd.openxmlformats-officedocument.presentationml.notesSlide+xml"/>
  <Override PartName="/ppt/tags/tag121.xml" ContentType="application/vnd.openxmlformats-officedocument.presentationml.tags+xml"/>
  <Override PartName="/ppt/notesSlides/notesSlide13.xml" ContentType="application/vnd.openxmlformats-officedocument.presentationml.notesSlide+xml"/>
  <Override PartName="/ppt/tags/tag122.xml" ContentType="application/vnd.openxmlformats-officedocument.presentationml.tags+xml"/>
  <Override PartName="/ppt/notesSlides/notesSlide14.xml" ContentType="application/vnd.openxmlformats-officedocument.presentationml.notesSlide+xml"/>
  <Override PartName="/ppt/tags/tag123.xml" ContentType="application/vnd.openxmlformats-officedocument.presentationml.tags+xml"/>
  <Override PartName="/ppt/notesSlides/notesSlide15.xml" ContentType="application/vnd.openxmlformats-officedocument.presentationml.notesSlide+xml"/>
  <Override PartName="/ppt/tags/tag124.xml" ContentType="application/vnd.openxmlformats-officedocument.presentationml.tags+xml"/>
  <Override PartName="/ppt/notesSlides/notesSlide16.xml" ContentType="application/vnd.openxmlformats-officedocument.presentationml.notesSlide+xml"/>
  <Override PartName="/ppt/tags/tag125.xml" ContentType="application/vnd.openxmlformats-officedocument.presentationml.tags+xml"/>
  <Override PartName="/ppt/notesSlides/notesSlide17.xml" ContentType="application/vnd.openxmlformats-officedocument.presentationml.notesSlide+xml"/>
  <Override PartName="/ppt/tags/tag126.xml" ContentType="application/vnd.openxmlformats-officedocument.presentationml.tags+xml"/>
  <Override PartName="/ppt/notesSlides/notesSlide18.xml" ContentType="application/vnd.openxmlformats-officedocument.presentationml.notesSlide+xml"/>
  <Override PartName="/ppt/tags/tag127.xml" ContentType="application/vnd.openxmlformats-officedocument.presentationml.tags+xml"/>
  <Override PartName="/ppt/notesSlides/notesSlide19.xml" ContentType="application/vnd.openxmlformats-officedocument.presentationml.notesSlide+xml"/>
  <Override PartName="/ppt/tags/tag128.xml" ContentType="application/vnd.openxmlformats-officedocument.presentationml.tags+xml"/>
  <Override PartName="/ppt/notesSlides/notesSlide20.xml" ContentType="application/vnd.openxmlformats-officedocument.presentationml.notesSlide+xml"/>
  <Override PartName="/ppt/tags/tag129.xml" ContentType="application/vnd.openxmlformats-officedocument.presentationml.tags+xml"/>
  <Override PartName="/ppt/notesSlides/notesSlide21.xml" ContentType="application/vnd.openxmlformats-officedocument.presentationml.notesSlide+xml"/>
  <Override PartName="/ppt/tags/tag130.xml" ContentType="application/vnd.openxmlformats-officedocument.presentationml.tags+xml"/>
  <Override PartName="/ppt/notesSlides/notesSlide22.xml" ContentType="application/vnd.openxmlformats-officedocument.presentationml.notesSlide+xml"/>
  <Override PartName="/ppt/tags/tag131.xml" ContentType="application/vnd.openxmlformats-officedocument.presentationml.tags+xml"/>
  <Override PartName="/ppt/notesSlides/notesSlide23.xml" ContentType="application/vnd.openxmlformats-officedocument.presentationml.notesSlide+xml"/>
  <Override PartName="/ppt/tags/tag132.xml" ContentType="application/vnd.openxmlformats-officedocument.presentationml.tags+xml"/>
  <Override PartName="/ppt/notesSlides/notesSlide24.xml" ContentType="application/vnd.openxmlformats-officedocument.presentationml.notesSlide+xml"/>
  <Override PartName="/ppt/tags/tag133.xml" ContentType="application/vnd.openxmlformats-officedocument.presentationml.tags+xml"/>
  <Override PartName="/ppt/notesSlides/notesSlide25.xml" ContentType="application/vnd.openxmlformats-officedocument.presentationml.notesSlide+xml"/>
  <Override PartName="/ppt/tags/tag134.xml" ContentType="application/vnd.openxmlformats-officedocument.presentationml.tags+xml"/>
  <Override PartName="/ppt/notesSlides/notesSlide26.xml" ContentType="application/vnd.openxmlformats-officedocument.presentationml.notesSlide+xml"/>
  <Override PartName="/ppt/tags/tag135.xml" ContentType="application/vnd.openxmlformats-officedocument.presentationml.tags+xml"/>
  <Override PartName="/ppt/notesSlides/notesSlide27.xml" ContentType="application/vnd.openxmlformats-officedocument.presentationml.notesSlide+xml"/>
  <Override PartName="/ppt/tags/tag136.xml" ContentType="application/vnd.openxmlformats-officedocument.presentationml.tags+xml"/>
  <Override PartName="/ppt/notesSlides/notesSlide28.xml" ContentType="application/vnd.openxmlformats-officedocument.presentationml.notesSlide+xml"/>
  <Override PartName="/ppt/tags/tag137.xml" ContentType="application/vnd.openxmlformats-officedocument.presentationml.tags+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38.xml" ContentType="application/vnd.openxmlformats-officedocument.presentationml.tags+xml"/>
  <Override PartName="/ppt/notesSlides/notesSlide30.xml" ContentType="application/vnd.openxmlformats-officedocument.presentationml.notesSlide+xml"/>
  <Override PartName="/ppt/tags/tag139.xml" ContentType="application/vnd.openxmlformats-officedocument.presentationml.tags+xml"/>
  <Override PartName="/ppt/notesSlides/notesSlide31.xml" ContentType="application/vnd.openxmlformats-officedocument.presentationml.notesSlide+xml"/>
  <Override PartName="/ppt/tags/tag140.xml" ContentType="application/vnd.openxmlformats-officedocument.presentationml.tags+xml"/>
  <Override PartName="/ppt/notesSlides/notesSlide32.xml" ContentType="application/vnd.openxmlformats-officedocument.presentationml.notesSlide+xml"/>
  <Override PartName="/ppt/tags/tag141.xml" ContentType="application/vnd.openxmlformats-officedocument.presentationml.tags+xml"/>
  <Override PartName="/ppt/notesSlides/notesSlide33.xml" ContentType="application/vnd.openxmlformats-officedocument.presentationml.notesSlide+xml"/>
  <Override PartName="/ppt/tags/tag142.xml" ContentType="application/vnd.openxmlformats-officedocument.presentationml.tags+xml"/>
  <Override PartName="/ppt/notesSlides/notesSlide34.xml" ContentType="application/vnd.openxmlformats-officedocument.presentationml.notesSlide+xml"/>
  <Override PartName="/ppt/tags/tag143.xml" ContentType="application/vnd.openxmlformats-officedocument.presentationml.tags+xml"/>
  <Override PartName="/ppt/notesSlides/notesSlide35.xml" ContentType="application/vnd.openxmlformats-officedocument.presentationml.notesSlide+xml"/>
  <Override PartName="/ppt/tags/tag144.xml" ContentType="application/vnd.openxmlformats-officedocument.presentationml.tags+xml"/>
  <Override PartName="/ppt/notesSlides/notesSlide36.xml" ContentType="application/vnd.openxmlformats-officedocument.presentationml.notesSlide+xml"/>
  <Override PartName="/ppt/tags/tag145.xml" ContentType="application/vnd.openxmlformats-officedocument.presentationml.tags+xml"/>
  <Override PartName="/ppt/notesSlides/notesSlide37.xml" ContentType="application/vnd.openxmlformats-officedocument.presentationml.notesSlide+xml"/>
  <Override PartName="/ppt/tags/tag146.xml" ContentType="application/vnd.openxmlformats-officedocument.presentationml.tags+xml"/>
  <Override PartName="/ppt/notesSlides/notesSlide38.xml" ContentType="application/vnd.openxmlformats-officedocument.presentationml.notesSlide+xml"/>
  <Override PartName="/ppt/tags/tag147.xml" ContentType="application/vnd.openxmlformats-officedocument.presentationml.tags+xml"/>
  <Override PartName="/ppt/notesSlides/notesSlide39.xml" ContentType="application/vnd.openxmlformats-officedocument.presentationml.notesSlide+xml"/>
  <Override PartName="/ppt/tags/tag148.xml" ContentType="application/vnd.openxmlformats-officedocument.presentationml.tags+xml"/>
  <Override PartName="/ppt/notesSlides/notesSlide40.xml" ContentType="application/vnd.openxmlformats-officedocument.presentationml.notesSlide+xml"/>
  <Override PartName="/ppt/tags/tag149.xml" ContentType="application/vnd.openxmlformats-officedocument.presentationml.tags+xml"/>
  <Override PartName="/ppt/notesSlides/notesSlide41.xml" ContentType="application/vnd.openxmlformats-officedocument.presentationml.notesSlide+xml"/>
  <Override PartName="/ppt/tags/tag150.xml" ContentType="application/vnd.openxmlformats-officedocument.presentationml.tags+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 id="2147483648" r:id="rId5"/>
    <p:sldMasterId id="2147483702" r:id="rId6"/>
    <p:sldMasterId id="2147483728" r:id="rId7"/>
    <p:sldMasterId id="2147483754" r:id="rId8"/>
  </p:sldMasterIdLst>
  <p:notesMasterIdLst>
    <p:notesMasterId r:id="rId51"/>
  </p:notesMasterIdLst>
  <p:handoutMasterIdLst>
    <p:handoutMasterId r:id="rId52"/>
  </p:handoutMasterIdLst>
  <p:sldIdLst>
    <p:sldId id="872" r:id="rId9"/>
    <p:sldId id="874" r:id="rId10"/>
    <p:sldId id="361" r:id="rId11"/>
    <p:sldId id="362" r:id="rId12"/>
    <p:sldId id="363" r:id="rId13"/>
    <p:sldId id="835" r:id="rId14"/>
    <p:sldId id="365" r:id="rId15"/>
    <p:sldId id="870" r:id="rId16"/>
    <p:sldId id="871" r:id="rId17"/>
    <p:sldId id="364" r:id="rId18"/>
    <p:sldId id="815" r:id="rId19"/>
    <p:sldId id="817" r:id="rId20"/>
    <p:sldId id="372" r:id="rId21"/>
    <p:sldId id="836" r:id="rId22"/>
    <p:sldId id="373" r:id="rId23"/>
    <p:sldId id="854" r:id="rId24"/>
    <p:sldId id="853" r:id="rId25"/>
    <p:sldId id="855" r:id="rId26"/>
    <p:sldId id="856" r:id="rId27"/>
    <p:sldId id="866" r:id="rId28"/>
    <p:sldId id="374" r:id="rId29"/>
    <p:sldId id="375" r:id="rId30"/>
    <p:sldId id="376" r:id="rId31"/>
    <p:sldId id="377" r:id="rId32"/>
    <p:sldId id="378" r:id="rId33"/>
    <p:sldId id="379" r:id="rId34"/>
    <p:sldId id="380" r:id="rId35"/>
    <p:sldId id="801" r:id="rId36"/>
    <p:sldId id="798" r:id="rId37"/>
    <p:sldId id="799" r:id="rId38"/>
    <p:sldId id="867" r:id="rId39"/>
    <p:sldId id="389" r:id="rId40"/>
    <p:sldId id="390" r:id="rId41"/>
    <p:sldId id="392" r:id="rId42"/>
    <p:sldId id="393" r:id="rId43"/>
    <p:sldId id="394" r:id="rId44"/>
    <p:sldId id="395" r:id="rId45"/>
    <p:sldId id="397" r:id="rId46"/>
    <p:sldId id="396" r:id="rId47"/>
    <p:sldId id="868" r:id="rId48"/>
    <p:sldId id="807" r:id="rId49"/>
    <p:sldId id="811" r:id="rId50"/>
  </p:sldIdLst>
  <p:sldSz cx="12192000" cy="6858000"/>
  <p:notesSz cx="6858000" cy="9144000"/>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cmAuthor id="2" name="Galvin, Michael" initials="MG" lastIdx="6" clrIdx="1">
    <p:extLst>
      <p:ext uri="{19B8F6BF-5375-455C-9EA6-DF929625EA0E}">
        <p15:presenceInfo xmlns:p15="http://schemas.microsoft.com/office/powerpoint/2012/main" userId="Galvin, Michael" providerId="None"/>
      </p:ext>
    </p:extLst>
  </p:cmAuthor>
  <p:cmAuthor id="3" name="Morton, Curtis" initials="" lastIdx="0" clrIdx="2"/>
  <p:cmAuthor id="4" name="Kelly, Caryn" initials="KC" lastIdx="198" clrIdx="3">
    <p:extLst>
      <p:ext uri="{19B8F6BF-5375-455C-9EA6-DF929625EA0E}">
        <p15:presenceInfo xmlns:p15="http://schemas.microsoft.com/office/powerpoint/2012/main" userId="S-1-5-21-1407069837-2091007605-538272213-29636527" providerId="AD"/>
      </p:ext>
    </p:extLst>
  </p:cmAuthor>
  <p:cmAuthor id="5" name="David Mohr" initials="DM" lastIdx="55" clrIdx="4">
    <p:extLst>
      <p:ext uri="{19B8F6BF-5375-455C-9EA6-DF929625EA0E}">
        <p15:presenceInfo xmlns:p15="http://schemas.microsoft.com/office/powerpoint/2012/main" userId="David Mohr" providerId="None"/>
      </p:ext>
    </p:extLst>
  </p:cmAuthor>
  <p:cmAuthor id="6" name="Yoshii, June" initials="YJ" lastIdx="108" clrIdx="5">
    <p:extLst>
      <p:ext uri="{19B8F6BF-5375-455C-9EA6-DF929625EA0E}">
        <p15:presenceInfo xmlns:p15="http://schemas.microsoft.com/office/powerpoint/2012/main" userId="S-1-5-21-1407069837-2091007605-538272213-300324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FF9900"/>
    <a:srgbClr val="FCE4D1"/>
    <a:srgbClr val="CCECFF"/>
    <a:srgbClr val="FBD7A1"/>
    <a:srgbClr val="F58536"/>
    <a:srgbClr val="006ABD"/>
    <a:srgbClr val="C7EEFC"/>
    <a:srgbClr val="C00101"/>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49F714-943D-DACA-88B8-725EB217E202}" v="35" dt="2026-02-26T13:20:08.514"/>
    <p1510:client id="{C7242A0A-CE55-2783-9C25-F7C50FDC6269}" v="2" dt="2026-02-26T12:13:58.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handoutMaster" Target="handoutMasters/handout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oš Pekár" userId="S::mpekar@ohpen.com::91d53fac-dd2d-4ede-8d9a-180e3f9eee94" providerId="AD" clId="Web-{8F49F714-943D-DACA-88B8-725EB217E202}"/>
    <pc:docChg chg="addSld delSld">
      <pc:chgData name="Maroš Pekár" userId="S::mpekar@ohpen.com::91d53fac-dd2d-4ede-8d9a-180e3f9eee94" providerId="AD" clId="Web-{8F49F714-943D-DACA-88B8-725EB217E202}" dt="2026-02-26T13:20:08.514" v="33"/>
      <pc:docMkLst>
        <pc:docMk/>
      </pc:docMkLst>
      <pc:sldChg chg="del">
        <pc:chgData name="Maroš Pekár" userId="S::mpekar@ohpen.com::91d53fac-dd2d-4ede-8d9a-180e3f9eee94" providerId="AD" clId="Web-{8F49F714-943D-DACA-88B8-725EB217E202}" dt="2026-02-26T13:19:21.245" v="12"/>
        <pc:sldMkLst>
          <pc:docMk/>
          <pc:sldMk cId="869058100" sldId="398"/>
        </pc:sldMkLst>
      </pc:sldChg>
      <pc:sldChg chg="del">
        <pc:chgData name="Maroš Pekár" userId="S::mpekar@ohpen.com::91d53fac-dd2d-4ede-8d9a-180e3f9eee94" providerId="AD" clId="Web-{8F49F714-943D-DACA-88B8-725EB217E202}" dt="2026-02-26T13:19:43.247" v="18"/>
        <pc:sldMkLst>
          <pc:docMk/>
          <pc:sldMk cId="1249749758" sldId="800"/>
        </pc:sldMkLst>
      </pc:sldChg>
      <pc:sldChg chg="del">
        <pc:chgData name="Maroš Pekár" userId="S::mpekar@ohpen.com::91d53fac-dd2d-4ede-8d9a-180e3f9eee94" providerId="AD" clId="Web-{8F49F714-943D-DACA-88B8-725EB217E202}" dt="2026-02-26T13:19:36.950" v="17"/>
        <pc:sldMkLst>
          <pc:docMk/>
          <pc:sldMk cId="3166676749" sldId="804"/>
        </pc:sldMkLst>
      </pc:sldChg>
      <pc:sldChg chg="del">
        <pc:chgData name="Maroš Pekár" userId="S::mpekar@ohpen.com::91d53fac-dd2d-4ede-8d9a-180e3f9eee94" providerId="AD" clId="Web-{8F49F714-943D-DACA-88B8-725EB217E202}" dt="2026-02-26T13:18:47.633" v="11"/>
        <pc:sldMkLst>
          <pc:docMk/>
          <pc:sldMk cId="2542909438" sldId="805"/>
        </pc:sldMkLst>
      </pc:sldChg>
      <pc:sldChg chg="del">
        <pc:chgData name="Maroš Pekár" userId="S::mpekar@ohpen.com::91d53fac-dd2d-4ede-8d9a-180e3f9eee94" providerId="AD" clId="Web-{8F49F714-943D-DACA-88B8-725EB217E202}" dt="2026-02-26T13:20:07.561" v="32"/>
        <pc:sldMkLst>
          <pc:docMk/>
          <pc:sldMk cId="3716621358" sldId="809"/>
        </pc:sldMkLst>
      </pc:sldChg>
      <pc:sldChg chg="del">
        <pc:chgData name="Maroš Pekár" userId="S::mpekar@ohpen.com::91d53fac-dd2d-4ede-8d9a-180e3f9eee94" providerId="AD" clId="Web-{8F49F714-943D-DACA-88B8-725EB217E202}" dt="2026-02-26T13:20:08.514" v="33"/>
        <pc:sldMkLst>
          <pc:docMk/>
          <pc:sldMk cId="3098941814" sldId="810"/>
        </pc:sldMkLst>
      </pc:sldChg>
      <pc:sldChg chg="add del">
        <pc:chgData name="Maroš Pekár" userId="S::mpekar@ohpen.com::91d53fac-dd2d-4ede-8d9a-180e3f9eee94" providerId="AD" clId="Web-{8F49F714-943D-DACA-88B8-725EB217E202}" dt="2026-02-26T13:09:17.921" v="10"/>
        <pc:sldMkLst>
          <pc:docMk/>
          <pc:sldMk cId="3454482524" sldId="820"/>
        </pc:sldMkLst>
      </pc:sldChg>
      <pc:sldChg chg="del">
        <pc:chgData name="Maroš Pekár" userId="S::mpekar@ohpen.com::91d53fac-dd2d-4ede-8d9a-180e3f9eee94" providerId="AD" clId="Web-{8F49F714-943D-DACA-88B8-725EB217E202}" dt="2026-02-26T13:08:46.779" v="0"/>
        <pc:sldMkLst>
          <pc:docMk/>
          <pc:sldMk cId="436401577" sldId="821"/>
        </pc:sldMkLst>
      </pc:sldChg>
      <pc:sldChg chg="del">
        <pc:chgData name="Maroš Pekár" userId="S::mpekar@ohpen.com::91d53fac-dd2d-4ede-8d9a-180e3f9eee94" providerId="AD" clId="Web-{8F49F714-943D-DACA-88B8-725EB217E202}" dt="2026-02-26T13:08:49.483" v="2"/>
        <pc:sldMkLst>
          <pc:docMk/>
          <pc:sldMk cId="3877079097" sldId="833"/>
        </pc:sldMkLst>
      </pc:sldChg>
      <pc:sldChg chg="del">
        <pc:chgData name="Maroš Pekár" userId="S::mpekar@ohpen.com::91d53fac-dd2d-4ede-8d9a-180e3f9eee94" providerId="AD" clId="Web-{8F49F714-943D-DACA-88B8-725EB217E202}" dt="2026-02-26T13:08:50.295" v="5"/>
        <pc:sldMkLst>
          <pc:docMk/>
          <pc:sldMk cId="751702630" sldId="834"/>
        </pc:sldMkLst>
      </pc:sldChg>
      <pc:sldChg chg="del">
        <pc:chgData name="Maroš Pekár" userId="S::mpekar@ohpen.com::91d53fac-dd2d-4ede-8d9a-180e3f9eee94" providerId="AD" clId="Web-{8F49F714-943D-DACA-88B8-725EB217E202}" dt="2026-02-26T13:19:44.200" v="19"/>
        <pc:sldMkLst>
          <pc:docMk/>
          <pc:sldMk cId="3740348338" sldId="839"/>
        </pc:sldMkLst>
      </pc:sldChg>
      <pc:sldChg chg="del">
        <pc:chgData name="Maroš Pekár" userId="S::mpekar@ohpen.com::91d53fac-dd2d-4ede-8d9a-180e3f9eee94" providerId="AD" clId="Web-{8F49F714-943D-DACA-88B8-725EB217E202}" dt="2026-02-26T13:19:46.294" v="20"/>
        <pc:sldMkLst>
          <pc:docMk/>
          <pc:sldMk cId="52645104" sldId="840"/>
        </pc:sldMkLst>
      </pc:sldChg>
      <pc:sldChg chg="del">
        <pc:chgData name="Maroš Pekár" userId="S::mpekar@ohpen.com::91d53fac-dd2d-4ede-8d9a-180e3f9eee94" providerId="AD" clId="Web-{8F49F714-943D-DACA-88B8-725EB217E202}" dt="2026-02-26T13:19:47.231" v="21"/>
        <pc:sldMkLst>
          <pc:docMk/>
          <pc:sldMk cId="149189177" sldId="841"/>
        </pc:sldMkLst>
      </pc:sldChg>
      <pc:sldChg chg="del">
        <pc:chgData name="Maroš Pekár" userId="S::mpekar@ohpen.com::91d53fac-dd2d-4ede-8d9a-180e3f9eee94" providerId="AD" clId="Web-{8F49F714-943D-DACA-88B8-725EB217E202}" dt="2026-02-26T13:19:48.232" v="22"/>
        <pc:sldMkLst>
          <pc:docMk/>
          <pc:sldMk cId="2683641630" sldId="842"/>
        </pc:sldMkLst>
      </pc:sldChg>
      <pc:sldChg chg="del">
        <pc:chgData name="Maroš Pekár" userId="S::mpekar@ohpen.com::91d53fac-dd2d-4ede-8d9a-180e3f9eee94" providerId="AD" clId="Web-{8F49F714-943D-DACA-88B8-725EB217E202}" dt="2026-02-26T13:19:49.966" v="23"/>
        <pc:sldMkLst>
          <pc:docMk/>
          <pc:sldMk cId="585963885" sldId="843"/>
        </pc:sldMkLst>
      </pc:sldChg>
      <pc:sldChg chg="del">
        <pc:chgData name="Maroš Pekár" userId="S::mpekar@ohpen.com::91d53fac-dd2d-4ede-8d9a-180e3f9eee94" providerId="AD" clId="Web-{8F49F714-943D-DACA-88B8-725EB217E202}" dt="2026-02-26T13:19:50.997" v="24"/>
        <pc:sldMkLst>
          <pc:docMk/>
          <pc:sldMk cId="3197828161" sldId="844"/>
        </pc:sldMkLst>
      </pc:sldChg>
      <pc:sldChg chg="del">
        <pc:chgData name="Maroš Pekár" userId="S::mpekar@ohpen.com::91d53fac-dd2d-4ede-8d9a-180e3f9eee94" providerId="AD" clId="Web-{8F49F714-943D-DACA-88B8-725EB217E202}" dt="2026-02-26T13:19:53.654" v="25"/>
        <pc:sldMkLst>
          <pc:docMk/>
          <pc:sldMk cId="2846897843" sldId="845"/>
        </pc:sldMkLst>
      </pc:sldChg>
      <pc:sldChg chg="del">
        <pc:chgData name="Maroš Pekár" userId="S::mpekar@ohpen.com::91d53fac-dd2d-4ede-8d9a-180e3f9eee94" providerId="AD" clId="Web-{8F49F714-943D-DACA-88B8-725EB217E202}" dt="2026-02-26T13:19:55.201" v="26"/>
        <pc:sldMkLst>
          <pc:docMk/>
          <pc:sldMk cId="3990995660" sldId="846"/>
        </pc:sldMkLst>
      </pc:sldChg>
      <pc:sldChg chg="del">
        <pc:chgData name="Maroš Pekár" userId="S::mpekar@ohpen.com::91d53fac-dd2d-4ede-8d9a-180e3f9eee94" providerId="AD" clId="Web-{8F49F714-943D-DACA-88B8-725EB217E202}" dt="2026-02-26T13:19:56.295" v="27"/>
        <pc:sldMkLst>
          <pc:docMk/>
          <pc:sldMk cId="3974581038" sldId="847"/>
        </pc:sldMkLst>
      </pc:sldChg>
      <pc:sldChg chg="del">
        <pc:chgData name="Maroš Pekár" userId="S::mpekar@ohpen.com::91d53fac-dd2d-4ede-8d9a-180e3f9eee94" providerId="AD" clId="Web-{8F49F714-943D-DACA-88B8-725EB217E202}" dt="2026-02-26T13:19:57.310" v="28"/>
        <pc:sldMkLst>
          <pc:docMk/>
          <pc:sldMk cId="3712225523" sldId="848"/>
        </pc:sldMkLst>
      </pc:sldChg>
      <pc:sldChg chg="del">
        <pc:chgData name="Maroš Pekár" userId="S::mpekar@ohpen.com::91d53fac-dd2d-4ede-8d9a-180e3f9eee94" providerId="AD" clId="Web-{8F49F714-943D-DACA-88B8-725EB217E202}" dt="2026-02-26T13:19:59.592" v="30"/>
        <pc:sldMkLst>
          <pc:docMk/>
          <pc:sldMk cId="3504700551" sldId="851"/>
        </pc:sldMkLst>
      </pc:sldChg>
      <pc:sldChg chg="del">
        <pc:chgData name="Maroš Pekár" userId="S::mpekar@ohpen.com::91d53fac-dd2d-4ede-8d9a-180e3f9eee94" providerId="AD" clId="Web-{8F49F714-943D-DACA-88B8-725EB217E202}" dt="2026-02-26T13:19:58.389" v="29"/>
        <pc:sldMkLst>
          <pc:docMk/>
          <pc:sldMk cId="1369141061" sldId="852"/>
        </pc:sldMkLst>
      </pc:sldChg>
      <pc:sldChg chg="del">
        <pc:chgData name="Maroš Pekár" userId="S::mpekar@ohpen.com::91d53fac-dd2d-4ede-8d9a-180e3f9eee94" providerId="AD" clId="Web-{8F49F714-943D-DACA-88B8-725EB217E202}" dt="2026-02-26T13:08:48.998" v="1"/>
        <pc:sldMkLst>
          <pc:docMk/>
          <pc:sldMk cId="1990425713" sldId="857"/>
        </pc:sldMkLst>
      </pc:sldChg>
      <pc:sldChg chg="del">
        <pc:chgData name="Maroš Pekár" userId="S::mpekar@ohpen.com::91d53fac-dd2d-4ede-8d9a-180e3f9eee94" providerId="AD" clId="Web-{8F49F714-943D-DACA-88B8-725EB217E202}" dt="2026-02-26T13:08:49.998" v="3"/>
        <pc:sldMkLst>
          <pc:docMk/>
          <pc:sldMk cId="1041308019" sldId="858"/>
        </pc:sldMkLst>
      </pc:sldChg>
      <pc:sldChg chg="del">
        <pc:chgData name="Maroš Pekár" userId="S::mpekar@ohpen.com::91d53fac-dd2d-4ede-8d9a-180e3f9eee94" providerId="AD" clId="Web-{8F49F714-943D-DACA-88B8-725EB217E202}" dt="2026-02-26T13:08:50.264" v="4"/>
        <pc:sldMkLst>
          <pc:docMk/>
          <pc:sldMk cId="918106479" sldId="859"/>
        </pc:sldMkLst>
      </pc:sldChg>
      <pc:sldChg chg="del">
        <pc:chgData name="Maroš Pekár" userId="S::mpekar@ohpen.com::91d53fac-dd2d-4ede-8d9a-180e3f9eee94" providerId="AD" clId="Web-{8F49F714-943D-DACA-88B8-725EB217E202}" dt="2026-02-26T13:08:51.264" v="6"/>
        <pc:sldMkLst>
          <pc:docMk/>
          <pc:sldMk cId="1326748077" sldId="860"/>
        </pc:sldMkLst>
      </pc:sldChg>
      <pc:sldChg chg="del">
        <pc:chgData name="Maroš Pekár" userId="S::mpekar@ohpen.com::91d53fac-dd2d-4ede-8d9a-180e3f9eee94" providerId="AD" clId="Web-{8F49F714-943D-DACA-88B8-725EB217E202}" dt="2026-02-26T13:08:51.733" v="7"/>
        <pc:sldMkLst>
          <pc:docMk/>
          <pc:sldMk cId="4038963234" sldId="861"/>
        </pc:sldMkLst>
      </pc:sldChg>
      <pc:sldChg chg="del">
        <pc:chgData name="Maroš Pekár" userId="S::mpekar@ohpen.com::91d53fac-dd2d-4ede-8d9a-180e3f9eee94" providerId="AD" clId="Web-{8F49F714-943D-DACA-88B8-725EB217E202}" dt="2026-02-26T13:19:33.012" v="13"/>
        <pc:sldMkLst>
          <pc:docMk/>
          <pc:sldMk cId="2194238979" sldId="862"/>
        </pc:sldMkLst>
      </pc:sldChg>
      <pc:sldChg chg="del">
        <pc:chgData name="Maroš Pekár" userId="S::mpekar@ohpen.com::91d53fac-dd2d-4ede-8d9a-180e3f9eee94" providerId="AD" clId="Web-{8F49F714-943D-DACA-88B8-725EB217E202}" dt="2026-02-26T13:19:34.137" v="14"/>
        <pc:sldMkLst>
          <pc:docMk/>
          <pc:sldMk cId="297555" sldId="863"/>
        </pc:sldMkLst>
      </pc:sldChg>
      <pc:sldChg chg="del">
        <pc:chgData name="Maroš Pekár" userId="S::mpekar@ohpen.com::91d53fac-dd2d-4ede-8d9a-180e3f9eee94" providerId="AD" clId="Web-{8F49F714-943D-DACA-88B8-725EB217E202}" dt="2026-02-26T13:19:34.559" v="15"/>
        <pc:sldMkLst>
          <pc:docMk/>
          <pc:sldMk cId="3945086655" sldId="864"/>
        </pc:sldMkLst>
      </pc:sldChg>
      <pc:sldChg chg="del">
        <pc:chgData name="Maroš Pekár" userId="S::mpekar@ohpen.com::91d53fac-dd2d-4ede-8d9a-180e3f9eee94" providerId="AD" clId="Web-{8F49F714-943D-DACA-88B8-725EB217E202}" dt="2026-02-26T13:19:35.465" v="16"/>
        <pc:sldMkLst>
          <pc:docMk/>
          <pc:sldMk cId="3642231909" sldId="865"/>
        </pc:sldMkLst>
      </pc:sldChg>
      <pc:sldChg chg="del">
        <pc:chgData name="Maroš Pekár" userId="S::mpekar@ohpen.com::91d53fac-dd2d-4ede-8d9a-180e3f9eee94" providerId="AD" clId="Web-{8F49F714-943D-DACA-88B8-725EB217E202}" dt="2026-02-26T13:20:00.248" v="31"/>
        <pc:sldMkLst>
          <pc:docMk/>
          <pc:sldMk cId="578593502" sldId="869"/>
        </pc:sldMkLst>
      </pc:sldChg>
    </pc:docChg>
  </pc:docChgLst>
  <pc:docChgLst>
    <pc:chgData name="Maroš Pekár" userId="S::mpekar@ohpen.com::91d53fac-dd2d-4ede-8d9a-180e3f9eee94" providerId="AD" clId="Web-{C7242A0A-CE55-2783-9C25-F7C50FDC6269}"/>
    <pc:docChg chg="delSld">
      <pc:chgData name="Maroš Pekár" userId="S::mpekar@ohpen.com::91d53fac-dd2d-4ede-8d9a-180e3f9eee94" providerId="AD" clId="Web-{C7242A0A-CE55-2783-9C25-F7C50FDC6269}" dt="2026-02-26T12:13:58.906" v="1"/>
      <pc:docMkLst>
        <pc:docMk/>
      </pc:docMkLst>
      <pc:sldChg chg="del">
        <pc:chgData name="Maroš Pekár" userId="S::mpekar@ohpen.com::91d53fac-dd2d-4ede-8d9a-180e3f9eee94" providerId="AD" clId="Web-{C7242A0A-CE55-2783-9C25-F7C50FDC6269}" dt="2026-02-26T12:13:43.015" v="0"/>
        <pc:sldMkLst>
          <pc:docMk/>
          <pc:sldMk cId="1121722829" sldId="812"/>
        </pc:sldMkLst>
      </pc:sldChg>
      <pc:sldChg chg="del">
        <pc:chgData name="Maroš Pekár" userId="S::mpekar@ohpen.com::91d53fac-dd2d-4ede-8d9a-180e3f9eee94" providerId="AD" clId="Web-{C7242A0A-CE55-2783-9C25-F7C50FDC6269}" dt="2026-02-26T12:13:58.906" v="1"/>
        <pc:sldMkLst>
          <pc:docMk/>
          <pc:sldMk cId="2208984877" sldId="83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75EDDE-BC86-474A-9D9F-47322A183732}"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US"/>
        </a:p>
      </dgm:t>
    </dgm:pt>
    <dgm:pt modelId="{C798944E-BDEA-4B9B-925E-9A089D3EA87D}">
      <dgm:prSet phldrT="[Text]" custT="1"/>
      <dgm:spPr>
        <a:ln>
          <a:solidFill>
            <a:srgbClr val="FF9900"/>
          </a:solidFill>
          <a:prstDash val="dash"/>
        </a:ln>
      </dgm:spPr>
      <dgm:t>
        <a:bodyPr/>
        <a:lstStyle/>
        <a:p>
          <a:pPr marL="0" indent="0"/>
          <a:r>
            <a:rPr lang="en-US" sz="3200" b="1">
              <a:solidFill>
                <a:schemeClr val="tx2">
                  <a:lumMod val="75000"/>
                </a:schemeClr>
              </a:solidFill>
            </a:rPr>
            <a:t>Scale on demand:</a:t>
          </a:r>
        </a:p>
      </dgm:t>
    </dgm:pt>
    <dgm:pt modelId="{62D57F5C-CD49-45AB-AFDD-B5258A9D194F}" type="parTrans" cxnId="{03A31984-BE27-453B-954C-485EB66CB4DE}">
      <dgm:prSet/>
      <dgm:spPr/>
      <dgm:t>
        <a:bodyPr/>
        <a:lstStyle/>
        <a:p>
          <a:endParaRPr lang="en-US" sz="2400"/>
        </a:p>
      </dgm:t>
    </dgm:pt>
    <dgm:pt modelId="{172B2701-0257-4393-978F-CD23F9FAC2FA}" type="sibTrans" cxnId="{03A31984-BE27-453B-954C-485EB66CB4DE}">
      <dgm:prSet/>
      <dgm:spPr/>
      <dgm:t>
        <a:bodyPr/>
        <a:lstStyle/>
        <a:p>
          <a:endParaRPr lang="en-US" sz="2400"/>
        </a:p>
      </dgm:t>
    </dgm:pt>
    <dgm:pt modelId="{181B2285-BFDB-48EE-A9DE-994A6F62B310}">
      <dgm:prSet custT="1"/>
      <dgm:spPr>
        <a:ln>
          <a:solidFill>
            <a:srgbClr val="FF9900"/>
          </a:solidFill>
          <a:prstDash val="dash"/>
        </a:ln>
      </dgm:spPr>
      <dgm:t>
        <a:bodyPr/>
        <a:lstStyle/>
        <a:p>
          <a:pPr marL="228600" indent="0"/>
          <a:r>
            <a:rPr lang="en-US" sz="2400"/>
            <a:t>Scale out during spikes</a:t>
          </a:r>
        </a:p>
      </dgm:t>
    </dgm:pt>
    <dgm:pt modelId="{37DD618B-9949-4CF1-B4C9-72348C9210E7}" type="parTrans" cxnId="{25CEC970-FD35-48FF-A63D-E818D7EA1F36}">
      <dgm:prSet/>
      <dgm:spPr/>
      <dgm:t>
        <a:bodyPr/>
        <a:lstStyle/>
        <a:p>
          <a:endParaRPr lang="en-US" sz="2400"/>
        </a:p>
      </dgm:t>
    </dgm:pt>
    <dgm:pt modelId="{202B962A-9C74-426D-837C-55F9AA4EE2E7}" type="sibTrans" cxnId="{25CEC970-FD35-48FF-A63D-E818D7EA1F36}">
      <dgm:prSet/>
      <dgm:spPr/>
      <dgm:t>
        <a:bodyPr/>
        <a:lstStyle/>
        <a:p>
          <a:endParaRPr lang="en-US" sz="2400"/>
        </a:p>
      </dgm:t>
    </dgm:pt>
    <dgm:pt modelId="{3295CAFF-8128-48D9-BF0F-4E6DFA855D47}">
      <dgm:prSet custT="1"/>
      <dgm:spPr>
        <a:ln>
          <a:solidFill>
            <a:srgbClr val="FF9900"/>
          </a:solidFill>
          <a:prstDash val="dash"/>
        </a:ln>
      </dgm:spPr>
      <dgm:t>
        <a:bodyPr/>
        <a:lstStyle/>
        <a:p>
          <a:pPr marL="228600" indent="0"/>
          <a:r>
            <a:rPr lang="en-US" sz="2400"/>
            <a:t>Scale in during off-peak</a:t>
          </a:r>
        </a:p>
      </dgm:t>
    </dgm:pt>
    <dgm:pt modelId="{0686E9AD-6E50-4035-8872-AB490694CF87}" type="parTrans" cxnId="{2A653F73-5946-4217-A227-7F72DE650A35}">
      <dgm:prSet/>
      <dgm:spPr/>
      <dgm:t>
        <a:bodyPr/>
        <a:lstStyle/>
        <a:p>
          <a:endParaRPr lang="en-US" sz="2400"/>
        </a:p>
      </dgm:t>
    </dgm:pt>
    <dgm:pt modelId="{0FA21949-3506-41EF-8FE6-EFFA384D562C}" type="sibTrans" cxnId="{2A653F73-5946-4217-A227-7F72DE650A35}">
      <dgm:prSet/>
      <dgm:spPr/>
      <dgm:t>
        <a:bodyPr/>
        <a:lstStyle/>
        <a:p>
          <a:endParaRPr lang="en-US" sz="2400"/>
        </a:p>
      </dgm:t>
    </dgm:pt>
    <dgm:pt modelId="{0DC874F6-10A1-4C5C-8B72-5F2FEE572135}">
      <dgm:prSet custT="1"/>
      <dgm:spPr>
        <a:ln>
          <a:solidFill>
            <a:srgbClr val="FF9900"/>
          </a:solidFill>
          <a:prstDash val="dash"/>
        </a:ln>
      </dgm:spPr>
      <dgm:t>
        <a:bodyPr/>
        <a:lstStyle/>
        <a:p>
          <a:pPr marL="228600" indent="0"/>
          <a:r>
            <a:rPr lang="en-US" sz="2400"/>
            <a:t>Replace unhealthy instances</a:t>
          </a:r>
        </a:p>
      </dgm:t>
    </dgm:pt>
    <dgm:pt modelId="{A7318364-F500-48E1-81B2-3F45B1D91EDD}" type="parTrans" cxnId="{BC576C6A-445B-42B4-85E8-72B5741E00A1}">
      <dgm:prSet/>
      <dgm:spPr/>
      <dgm:t>
        <a:bodyPr/>
        <a:lstStyle/>
        <a:p>
          <a:endParaRPr lang="en-US" sz="2400"/>
        </a:p>
      </dgm:t>
    </dgm:pt>
    <dgm:pt modelId="{FC81E9AD-24DD-4599-9950-E4990515FFD9}" type="sibTrans" cxnId="{BC576C6A-445B-42B4-85E8-72B5741E00A1}">
      <dgm:prSet/>
      <dgm:spPr/>
      <dgm:t>
        <a:bodyPr/>
        <a:lstStyle/>
        <a:p>
          <a:endParaRPr lang="en-US" sz="2400"/>
        </a:p>
      </dgm:t>
    </dgm:pt>
    <dgm:pt modelId="{B32714ED-ACB8-4505-A420-0E9BE11F2D89}">
      <dgm:prSet custT="1"/>
      <dgm:spPr>
        <a:ln>
          <a:solidFill>
            <a:srgbClr val="FF9900"/>
          </a:solidFill>
          <a:prstDash val="dash"/>
        </a:ln>
      </dgm:spPr>
      <dgm:t>
        <a:bodyPr/>
        <a:lstStyle/>
        <a:p>
          <a:pPr marL="228600" indent="0"/>
          <a:r>
            <a:rPr lang="en-US" sz="2400"/>
            <a:t>Pay only for what you use</a:t>
          </a:r>
        </a:p>
      </dgm:t>
    </dgm:pt>
    <dgm:pt modelId="{2826F5A1-A06E-420E-A811-8A0BC10A72E7}" type="parTrans" cxnId="{E8C09173-0F1B-4D32-A1D2-1426E2EF8798}">
      <dgm:prSet/>
      <dgm:spPr/>
      <dgm:t>
        <a:bodyPr/>
        <a:lstStyle/>
        <a:p>
          <a:endParaRPr lang="en-US" sz="2400"/>
        </a:p>
      </dgm:t>
    </dgm:pt>
    <dgm:pt modelId="{6AAA9BD0-6B34-46C4-8F82-9B061CB06636}" type="sibTrans" cxnId="{E8C09173-0F1B-4D32-A1D2-1426E2EF8798}">
      <dgm:prSet/>
      <dgm:spPr/>
      <dgm:t>
        <a:bodyPr/>
        <a:lstStyle/>
        <a:p>
          <a:endParaRPr lang="en-US" sz="2400"/>
        </a:p>
      </dgm:t>
    </dgm:pt>
    <dgm:pt modelId="{5BC9765F-FBE0-4C17-89A4-A08113EB5514}" type="pres">
      <dgm:prSet presAssocID="{A675EDDE-BC86-474A-9D9F-47322A183732}" presName="Name0" presStyleCnt="0">
        <dgm:presLayoutVars>
          <dgm:dir/>
          <dgm:resizeHandles val="exact"/>
        </dgm:presLayoutVars>
      </dgm:prSet>
      <dgm:spPr/>
    </dgm:pt>
    <dgm:pt modelId="{D18CBF84-7857-4257-A53C-4932ED681F39}" type="pres">
      <dgm:prSet presAssocID="{C798944E-BDEA-4B9B-925E-9A089D3EA87D}" presName="composite" presStyleCnt="0"/>
      <dgm:spPr/>
    </dgm:pt>
    <dgm:pt modelId="{127A33F3-EF5E-4C64-ACA1-3593447F7E4B}" type="pres">
      <dgm:prSet presAssocID="{C798944E-BDEA-4B9B-925E-9A089D3EA87D}" presName="rect1" presStyleLbl="trAlignAcc1" presStyleIdx="0" presStyleCnt="1" custScaleY="217620" custLinFactNeighborX="4892" custLinFactNeighborY="-2427">
        <dgm:presLayoutVars>
          <dgm:bulletEnabled val="1"/>
        </dgm:presLayoutVars>
      </dgm:prSet>
      <dgm:spPr/>
    </dgm:pt>
    <dgm:pt modelId="{19853C39-6335-4681-8ACD-ED9A3DEFC0B6}" type="pres">
      <dgm:prSet presAssocID="{C798944E-BDEA-4B9B-925E-9A089D3EA87D}" presName="rect2" presStyleLbl="fgImgPlace1" presStyleIdx="0" presStyleCnt="1" custScaleX="118401" custLinFactNeighborX="-41328" custLinFactNeighborY="996"/>
      <dgm:spPr>
        <a:solidFill>
          <a:schemeClr val="accent1"/>
        </a:solidFill>
        <a:scene3d>
          <a:camera prst="orthographicFront"/>
          <a:lightRig rig="brightRoom" dir="t"/>
        </a:scene3d>
        <a:sp3d contourW="19050" prstMaterial="metal">
          <a:bevelT w="88900" h="203200"/>
          <a:bevelB w="165100" h="254000"/>
        </a:sp3d>
      </dgm:spPr>
    </dgm:pt>
  </dgm:ptLst>
  <dgm:cxnLst>
    <dgm:cxn modelId="{09760502-176E-4549-B015-FB557C46C8F3}" type="presOf" srcId="{B32714ED-ACB8-4505-A420-0E9BE11F2D89}" destId="{127A33F3-EF5E-4C64-ACA1-3593447F7E4B}" srcOrd="0" destOrd="4" presId="urn:microsoft.com/office/officeart/2008/layout/PictureStrips"/>
    <dgm:cxn modelId="{622E2161-FB0E-477F-8965-B0FAADD8E5F5}" type="presOf" srcId="{0DC874F6-10A1-4C5C-8B72-5F2FEE572135}" destId="{127A33F3-EF5E-4C64-ACA1-3593447F7E4B}" srcOrd="0" destOrd="3" presId="urn:microsoft.com/office/officeart/2008/layout/PictureStrips"/>
    <dgm:cxn modelId="{BC576C6A-445B-42B4-85E8-72B5741E00A1}" srcId="{C798944E-BDEA-4B9B-925E-9A089D3EA87D}" destId="{0DC874F6-10A1-4C5C-8B72-5F2FEE572135}" srcOrd="2" destOrd="0" parTransId="{A7318364-F500-48E1-81B2-3F45B1D91EDD}" sibTransId="{FC81E9AD-24DD-4599-9950-E4990515FFD9}"/>
    <dgm:cxn modelId="{25CEC970-FD35-48FF-A63D-E818D7EA1F36}" srcId="{C798944E-BDEA-4B9B-925E-9A089D3EA87D}" destId="{181B2285-BFDB-48EE-A9DE-994A6F62B310}" srcOrd="0" destOrd="0" parTransId="{37DD618B-9949-4CF1-B4C9-72348C9210E7}" sibTransId="{202B962A-9C74-426D-837C-55F9AA4EE2E7}"/>
    <dgm:cxn modelId="{2A653F73-5946-4217-A227-7F72DE650A35}" srcId="{C798944E-BDEA-4B9B-925E-9A089D3EA87D}" destId="{3295CAFF-8128-48D9-BF0F-4E6DFA855D47}" srcOrd="1" destOrd="0" parTransId="{0686E9AD-6E50-4035-8872-AB490694CF87}" sibTransId="{0FA21949-3506-41EF-8FE6-EFFA384D562C}"/>
    <dgm:cxn modelId="{F7586A53-BA24-443A-A139-F07F8B11B558}" type="presOf" srcId="{181B2285-BFDB-48EE-A9DE-994A6F62B310}" destId="{127A33F3-EF5E-4C64-ACA1-3593447F7E4B}" srcOrd="0" destOrd="1" presId="urn:microsoft.com/office/officeart/2008/layout/PictureStrips"/>
    <dgm:cxn modelId="{E8C09173-0F1B-4D32-A1D2-1426E2EF8798}" srcId="{C798944E-BDEA-4B9B-925E-9A089D3EA87D}" destId="{B32714ED-ACB8-4505-A420-0E9BE11F2D89}" srcOrd="3" destOrd="0" parTransId="{2826F5A1-A06E-420E-A811-8A0BC10A72E7}" sibTransId="{6AAA9BD0-6B34-46C4-8F82-9B061CB06636}"/>
    <dgm:cxn modelId="{03A31984-BE27-453B-954C-485EB66CB4DE}" srcId="{A675EDDE-BC86-474A-9D9F-47322A183732}" destId="{C798944E-BDEA-4B9B-925E-9A089D3EA87D}" srcOrd="0" destOrd="0" parTransId="{62D57F5C-CD49-45AB-AFDD-B5258A9D194F}" sibTransId="{172B2701-0257-4393-978F-CD23F9FAC2FA}"/>
    <dgm:cxn modelId="{C7C7E790-4CA7-4BCC-BE25-A31B0123BDF6}" type="presOf" srcId="{C798944E-BDEA-4B9B-925E-9A089D3EA87D}" destId="{127A33F3-EF5E-4C64-ACA1-3593447F7E4B}" srcOrd="0" destOrd="0" presId="urn:microsoft.com/office/officeart/2008/layout/PictureStrips"/>
    <dgm:cxn modelId="{A86986C3-5004-4F0D-9571-EE9251E757ED}" type="presOf" srcId="{A675EDDE-BC86-474A-9D9F-47322A183732}" destId="{5BC9765F-FBE0-4C17-89A4-A08113EB5514}" srcOrd="0" destOrd="0" presId="urn:microsoft.com/office/officeart/2008/layout/PictureStrips"/>
    <dgm:cxn modelId="{666C58C9-0625-4CF1-847D-8CD95CFE6B96}" type="presOf" srcId="{3295CAFF-8128-48D9-BF0F-4E6DFA855D47}" destId="{127A33F3-EF5E-4C64-ACA1-3593447F7E4B}" srcOrd="0" destOrd="2" presId="urn:microsoft.com/office/officeart/2008/layout/PictureStrips"/>
    <dgm:cxn modelId="{59CDC48E-9840-4FE8-9A20-453286F708B8}" type="presParOf" srcId="{5BC9765F-FBE0-4C17-89A4-A08113EB5514}" destId="{D18CBF84-7857-4257-A53C-4932ED681F39}" srcOrd="0" destOrd="0" presId="urn:microsoft.com/office/officeart/2008/layout/PictureStrips"/>
    <dgm:cxn modelId="{276E7D71-C5A2-4B0C-8738-C1042EA48E0A}" type="presParOf" srcId="{D18CBF84-7857-4257-A53C-4932ED681F39}" destId="{127A33F3-EF5E-4C64-ACA1-3593447F7E4B}" srcOrd="0" destOrd="0" presId="urn:microsoft.com/office/officeart/2008/layout/PictureStrips"/>
    <dgm:cxn modelId="{33FE9A0F-85CA-45D7-B923-1C09672BD15A}" type="presParOf" srcId="{D18CBF84-7857-4257-A53C-4932ED681F39}" destId="{19853C39-6335-4681-8ACD-ED9A3DEFC0B6}" srcOrd="1" destOrd="0" presId="urn:microsoft.com/office/officeart/2008/layout/PictureStrip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240B3E-306B-4CCB-AD2B-90C15E72F127}" type="doc">
      <dgm:prSet loTypeId="urn:microsoft.com/office/officeart/2005/8/layout/pyramid2" loCatId="pyramid" qsTypeId="urn:microsoft.com/office/officeart/2005/8/quickstyle/3d3" qsCatId="3D" csTypeId="urn:microsoft.com/office/officeart/2005/8/colors/colorful5" csCatId="colorful" phldr="1"/>
      <dgm:spPr/>
    </dgm:pt>
    <dgm:pt modelId="{85E8A78F-CC9B-4489-A97F-A366E92EA3D8}">
      <dgm:prSet phldrT="[Text]" custT="1"/>
      <dgm:spPr>
        <a:ln>
          <a:solidFill>
            <a:schemeClr val="accent5"/>
          </a:solidFill>
        </a:ln>
      </dgm:spPr>
      <dgm:t>
        <a:bodyPr/>
        <a:lstStyle/>
        <a:p>
          <a:r>
            <a:rPr lang="en-US" sz="1800" b="1"/>
            <a:t>High availability (HA)</a:t>
          </a:r>
        </a:p>
      </dgm:t>
    </dgm:pt>
    <dgm:pt modelId="{A74F8F4D-D419-4918-A1CF-2C5D8EBDF670}" type="parTrans" cxnId="{68D1209C-C3A1-4A5C-8B6E-117C6D6357FC}">
      <dgm:prSet/>
      <dgm:spPr/>
      <dgm:t>
        <a:bodyPr/>
        <a:lstStyle/>
        <a:p>
          <a:endParaRPr lang="en-US"/>
        </a:p>
      </dgm:t>
    </dgm:pt>
    <dgm:pt modelId="{A5174D45-BA6D-4135-96DE-642BA793E27E}" type="sibTrans" cxnId="{68D1209C-C3A1-4A5C-8B6E-117C6D6357FC}">
      <dgm:prSet/>
      <dgm:spPr/>
      <dgm:t>
        <a:bodyPr/>
        <a:lstStyle/>
        <a:p>
          <a:endParaRPr lang="en-US"/>
        </a:p>
      </dgm:t>
    </dgm:pt>
    <dgm:pt modelId="{3949586E-EF9C-4E73-88EE-52AF9205618E}">
      <dgm:prSet custT="1"/>
      <dgm:spPr>
        <a:ln>
          <a:solidFill>
            <a:schemeClr val="accent5"/>
          </a:solidFill>
        </a:ln>
      </dgm:spPr>
      <dgm:t>
        <a:bodyPr/>
        <a:lstStyle/>
        <a:p>
          <a:r>
            <a:rPr lang="en-US" sz="1800" b="1"/>
            <a:t>Health checks</a:t>
          </a:r>
        </a:p>
      </dgm:t>
    </dgm:pt>
    <dgm:pt modelId="{B41D201F-895E-4B07-B821-5BDDFA2D8FE9}" type="parTrans" cxnId="{22F21F13-A924-418D-8AA6-8368032007F4}">
      <dgm:prSet/>
      <dgm:spPr/>
      <dgm:t>
        <a:bodyPr/>
        <a:lstStyle/>
        <a:p>
          <a:endParaRPr lang="en-US"/>
        </a:p>
      </dgm:t>
    </dgm:pt>
    <dgm:pt modelId="{15297E5C-7775-4ACA-A5FC-24160184229F}" type="sibTrans" cxnId="{22F21F13-A924-418D-8AA6-8368032007F4}">
      <dgm:prSet/>
      <dgm:spPr/>
      <dgm:t>
        <a:bodyPr/>
        <a:lstStyle/>
        <a:p>
          <a:endParaRPr lang="en-US"/>
        </a:p>
      </dgm:t>
    </dgm:pt>
    <dgm:pt modelId="{CD3BF09E-ED25-4A70-9F15-01334FE35769}">
      <dgm:prSet custT="1"/>
      <dgm:spPr>
        <a:ln>
          <a:solidFill>
            <a:schemeClr val="accent5"/>
          </a:solidFill>
        </a:ln>
      </dgm:spPr>
      <dgm:t>
        <a:bodyPr/>
        <a:lstStyle/>
        <a:p>
          <a:r>
            <a:rPr lang="en-US" sz="1800" b="1"/>
            <a:t>Security features</a:t>
          </a:r>
        </a:p>
      </dgm:t>
    </dgm:pt>
    <dgm:pt modelId="{7B51ACA7-0500-4B5C-9B2D-0B902EC8D6E6}" type="parTrans" cxnId="{7F8952EA-F849-4743-8FFA-924ED1687134}">
      <dgm:prSet/>
      <dgm:spPr/>
      <dgm:t>
        <a:bodyPr/>
        <a:lstStyle/>
        <a:p>
          <a:endParaRPr lang="en-US"/>
        </a:p>
      </dgm:t>
    </dgm:pt>
    <dgm:pt modelId="{4F89AA1C-5442-4E6B-83FE-D4C4349A9712}" type="sibTrans" cxnId="{7F8952EA-F849-4743-8FFA-924ED1687134}">
      <dgm:prSet/>
      <dgm:spPr/>
      <dgm:t>
        <a:bodyPr/>
        <a:lstStyle/>
        <a:p>
          <a:endParaRPr lang="en-US"/>
        </a:p>
      </dgm:t>
    </dgm:pt>
    <dgm:pt modelId="{CF248D7B-D482-4224-A1C0-1879CC995C9A}">
      <dgm:prSet custT="1"/>
      <dgm:spPr>
        <a:ln>
          <a:solidFill>
            <a:schemeClr val="accent5"/>
          </a:solidFill>
        </a:ln>
      </dgm:spPr>
      <dgm:t>
        <a:bodyPr/>
        <a:lstStyle/>
        <a:p>
          <a:r>
            <a:rPr lang="en-US" sz="1800" b="1"/>
            <a:t>Transport Layer Security (TLS) termination</a:t>
          </a:r>
        </a:p>
      </dgm:t>
    </dgm:pt>
    <dgm:pt modelId="{53A27CE4-EC03-462E-822A-02902A15111C}" type="parTrans" cxnId="{0F2E60C1-8A03-4442-BFA1-9F51C872954B}">
      <dgm:prSet/>
      <dgm:spPr/>
      <dgm:t>
        <a:bodyPr/>
        <a:lstStyle/>
        <a:p>
          <a:endParaRPr lang="en-US"/>
        </a:p>
      </dgm:t>
    </dgm:pt>
    <dgm:pt modelId="{6A776C7C-673D-410F-B882-6096F1C5703C}" type="sibTrans" cxnId="{0F2E60C1-8A03-4442-BFA1-9F51C872954B}">
      <dgm:prSet/>
      <dgm:spPr/>
      <dgm:t>
        <a:bodyPr/>
        <a:lstStyle/>
        <a:p>
          <a:endParaRPr lang="en-US"/>
        </a:p>
      </dgm:t>
    </dgm:pt>
    <dgm:pt modelId="{4C7E9BC0-6C27-488D-A138-BD4649DF58B6}">
      <dgm:prSet custT="1"/>
      <dgm:spPr>
        <a:ln>
          <a:solidFill>
            <a:schemeClr val="accent5"/>
          </a:solidFill>
        </a:ln>
      </dgm:spPr>
      <dgm:t>
        <a:bodyPr/>
        <a:lstStyle/>
        <a:p>
          <a:r>
            <a:rPr lang="en-US" sz="1800" b="1"/>
            <a:t>Layer 4 or layer 7 load balancing</a:t>
          </a:r>
        </a:p>
      </dgm:t>
    </dgm:pt>
    <dgm:pt modelId="{059262A8-3E44-4CED-AEF9-1A5E0B39B32A}" type="parTrans" cxnId="{CCB555CA-FA1C-4BA6-B873-FE434479475D}">
      <dgm:prSet/>
      <dgm:spPr/>
      <dgm:t>
        <a:bodyPr/>
        <a:lstStyle/>
        <a:p>
          <a:endParaRPr lang="en-US"/>
        </a:p>
      </dgm:t>
    </dgm:pt>
    <dgm:pt modelId="{9A704245-48C9-441A-88E6-92DD58F65469}" type="sibTrans" cxnId="{CCB555CA-FA1C-4BA6-B873-FE434479475D}">
      <dgm:prSet/>
      <dgm:spPr/>
      <dgm:t>
        <a:bodyPr/>
        <a:lstStyle/>
        <a:p>
          <a:endParaRPr lang="en-US"/>
        </a:p>
      </dgm:t>
    </dgm:pt>
    <dgm:pt modelId="{2010B11A-C56B-4447-AC13-78EC0F7B158E}">
      <dgm:prSet custT="1"/>
      <dgm:spPr>
        <a:ln>
          <a:solidFill>
            <a:schemeClr val="accent5"/>
          </a:solidFill>
        </a:ln>
      </dgm:spPr>
      <dgm:t>
        <a:bodyPr/>
        <a:lstStyle/>
        <a:p>
          <a:r>
            <a:rPr lang="en-US" sz="1800" b="1"/>
            <a:t>Operational monitoring</a:t>
          </a:r>
        </a:p>
      </dgm:t>
    </dgm:pt>
    <dgm:pt modelId="{67E389E2-AD02-49B3-AC15-C306EC9EB61C}" type="parTrans" cxnId="{2ECFF868-483A-411F-886F-73F04D8F1E18}">
      <dgm:prSet/>
      <dgm:spPr/>
      <dgm:t>
        <a:bodyPr/>
        <a:lstStyle/>
        <a:p>
          <a:endParaRPr lang="en-US"/>
        </a:p>
      </dgm:t>
    </dgm:pt>
    <dgm:pt modelId="{BDC2F96F-833C-42FE-B8DC-6BA2952EC63F}" type="sibTrans" cxnId="{2ECFF868-483A-411F-886F-73F04D8F1E18}">
      <dgm:prSet/>
      <dgm:spPr/>
      <dgm:t>
        <a:bodyPr/>
        <a:lstStyle/>
        <a:p>
          <a:endParaRPr lang="en-US"/>
        </a:p>
      </dgm:t>
    </dgm:pt>
    <dgm:pt modelId="{6C3C80F4-B743-4597-BA47-91496B0842F2}" type="pres">
      <dgm:prSet presAssocID="{B2240B3E-306B-4CCB-AD2B-90C15E72F127}" presName="compositeShape" presStyleCnt="0">
        <dgm:presLayoutVars>
          <dgm:dir/>
          <dgm:resizeHandles/>
        </dgm:presLayoutVars>
      </dgm:prSet>
      <dgm:spPr/>
    </dgm:pt>
    <dgm:pt modelId="{CE10736A-ACFE-4A33-84E2-88517F90D6C1}" type="pres">
      <dgm:prSet presAssocID="{B2240B3E-306B-4CCB-AD2B-90C15E72F127}" presName="pyramid" presStyleLbl="node1" presStyleIdx="0" presStyleCnt="1"/>
      <dgm:spPr/>
    </dgm:pt>
    <dgm:pt modelId="{497B2691-A507-46A1-ABEB-35D0715565E7}" type="pres">
      <dgm:prSet presAssocID="{B2240B3E-306B-4CCB-AD2B-90C15E72F127}" presName="theList" presStyleCnt="0"/>
      <dgm:spPr/>
    </dgm:pt>
    <dgm:pt modelId="{0AC6955F-F97B-42AA-9AB7-2F04EF2A0F99}" type="pres">
      <dgm:prSet presAssocID="{85E8A78F-CC9B-4489-A97F-A366E92EA3D8}" presName="aNode" presStyleLbl="fgAcc1" presStyleIdx="0" presStyleCnt="6">
        <dgm:presLayoutVars>
          <dgm:bulletEnabled val="1"/>
        </dgm:presLayoutVars>
      </dgm:prSet>
      <dgm:spPr/>
    </dgm:pt>
    <dgm:pt modelId="{4B687FB8-C572-43A2-A409-C6A127314368}" type="pres">
      <dgm:prSet presAssocID="{85E8A78F-CC9B-4489-A97F-A366E92EA3D8}" presName="aSpace" presStyleCnt="0"/>
      <dgm:spPr/>
    </dgm:pt>
    <dgm:pt modelId="{B1702810-7859-4FCE-B4A9-3050A6CF92B5}" type="pres">
      <dgm:prSet presAssocID="{3949586E-EF9C-4E73-88EE-52AF9205618E}" presName="aNode" presStyleLbl="fgAcc1" presStyleIdx="1" presStyleCnt="6">
        <dgm:presLayoutVars>
          <dgm:bulletEnabled val="1"/>
        </dgm:presLayoutVars>
      </dgm:prSet>
      <dgm:spPr/>
    </dgm:pt>
    <dgm:pt modelId="{E81FDC28-3A7B-4E51-A0CF-5D8BFF971A89}" type="pres">
      <dgm:prSet presAssocID="{3949586E-EF9C-4E73-88EE-52AF9205618E}" presName="aSpace" presStyleCnt="0"/>
      <dgm:spPr/>
    </dgm:pt>
    <dgm:pt modelId="{D329E078-43CD-4839-B77C-5CA999F0A41E}" type="pres">
      <dgm:prSet presAssocID="{CD3BF09E-ED25-4A70-9F15-01334FE35769}" presName="aNode" presStyleLbl="fgAcc1" presStyleIdx="2" presStyleCnt="6">
        <dgm:presLayoutVars>
          <dgm:bulletEnabled val="1"/>
        </dgm:presLayoutVars>
      </dgm:prSet>
      <dgm:spPr/>
    </dgm:pt>
    <dgm:pt modelId="{999B7BF3-8000-448A-933C-D8A2094D9B2D}" type="pres">
      <dgm:prSet presAssocID="{CD3BF09E-ED25-4A70-9F15-01334FE35769}" presName="aSpace" presStyleCnt="0"/>
      <dgm:spPr/>
    </dgm:pt>
    <dgm:pt modelId="{743921FF-5F9F-4372-BDBF-15081F8D936E}" type="pres">
      <dgm:prSet presAssocID="{CF248D7B-D482-4224-A1C0-1879CC995C9A}" presName="aNode" presStyleLbl="fgAcc1" presStyleIdx="3" presStyleCnt="6">
        <dgm:presLayoutVars>
          <dgm:bulletEnabled val="1"/>
        </dgm:presLayoutVars>
      </dgm:prSet>
      <dgm:spPr/>
    </dgm:pt>
    <dgm:pt modelId="{A6DF65F8-B826-417E-824A-A796980F1FDC}" type="pres">
      <dgm:prSet presAssocID="{CF248D7B-D482-4224-A1C0-1879CC995C9A}" presName="aSpace" presStyleCnt="0"/>
      <dgm:spPr/>
    </dgm:pt>
    <dgm:pt modelId="{81B681A7-7069-4537-86DA-E2B64A5AB9BD}" type="pres">
      <dgm:prSet presAssocID="{4C7E9BC0-6C27-488D-A138-BD4649DF58B6}" presName="aNode" presStyleLbl="fgAcc1" presStyleIdx="4" presStyleCnt="6">
        <dgm:presLayoutVars>
          <dgm:bulletEnabled val="1"/>
        </dgm:presLayoutVars>
      </dgm:prSet>
      <dgm:spPr/>
    </dgm:pt>
    <dgm:pt modelId="{5221C177-1353-47E8-A385-EE9A373B2DA6}" type="pres">
      <dgm:prSet presAssocID="{4C7E9BC0-6C27-488D-A138-BD4649DF58B6}" presName="aSpace" presStyleCnt="0"/>
      <dgm:spPr/>
    </dgm:pt>
    <dgm:pt modelId="{9309A459-C41E-44E9-A04E-446C86208EEA}" type="pres">
      <dgm:prSet presAssocID="{2010B11A-C56B-4447-AC13-78EC0F7B158E}" presName="aNode" presStyleLbl="fgAcc1" presStyleIdx="5" presStyleCnt="6">
        <dgm:presLayoutVars>
          <dgm:bulletEnabled val="1"/>
        </dgm:presLayoutVars>
      </dgm:prSet>
      <dgm:spPr/>
    </dgm:pt>
    <dgm:pt modelId="{BF9C68D1-29D6-460A-BC7A-C41960AA6272}" type="pres">
      <dgm:prSet presAssocID="{2010B11A-C56B-4447-AC13-78EC0F7B158E}" presName="aSpace" presStyleCnt="0"/>
      <dgm:spPr/>
    </dgm:pt>
  </dgm:ptLst>
  <dgm:cxnLst>
    <dgm:cxn modelId="{22F21F13-A924-418D-8AA6-8368032007F4}" srcId="{B2240B3E-306B-4CCB-AD2B-90C15E72F127}" destId="{3949586E-EF9C-4E73-88EE-52AF9205618E}" srcOrd="1" destOrd="0" parTransId="{B41D201F-895E-4B07-B821-5BDDFA2D8FE9}" sibTransId="{15297E5C-7775-4ACA-A5FC-24160184229F}"/>
    <dgm:cxn modelId="{2ECFF868-483A-411F-886F-73F04D8F1E18}" srcId="{B2240B3E-306B-4CCB-AD2B-90C15E72F127}" destId="{2010B11A-C56B-4447-AC13-78EC0F7B158E}" srcOrd="5" destOrd="0" parTransId="{67E389E2-AD02-49B3-AC15-C306EC9EB61C}" sibTransId="{BDC2F96F-833C-42FE-B8DC-6BA2952EC63F}"/>
    <dgm:cxn modelId="{0EA68D4C-2C46-4D00-A2B5-73C22DB73E54}" type="presOf" srcId="{B2240B3E-306B-4CCB-AD2B-90C15E72F127}" destId="{6C3C80F4-B743-4597-BA47-91496B0842F2}" srcOrd="0" destOrd="0" presId="urn:microsoft.com/office/officeart/2005/8/layout/pyramid2"/>
    <dgm:cxn modelId="{6920267A-892C-4AC1-8487-F4FEF6F1EB60}" type="presOf" srcId="{4C7E9BC0-6C27-488D-A138-BD4649DF58B6}" destId="{81B681A7-7069-4537-86DA-E2B64A5AB9BD}" srcOrd="0" destOrd="0" presId="urn:microsoft.com/office/officeart/2005/8/layout/pyramid2"/>
    <dgm:cxn modelId="{53DD395A-B032-4EC4-AB0E-6D400177EF63}" type="presOf" srcId="{CD3BF09E-ED25-4A70-9F15-01334FE35769}" destId="{D329E078-43CD-4839-B77C-5CA999F0A41E}" srcOrd="0" destOrd="0" presId="urn:microsoft.com/office/officeart/2005/8/layout/pyramid2"/>
    <dgm:cxn modelId="{4FE09E7B-7A48-4FFF-8AD9-BB278CF4B15A}" type="presOf" srcId="{3949586E-EF9C-4E73-88EE-52AF9205618E}" destId="{B1702810-7859-4FCE-B4A9-3050A6CF92B5}" srcOrd="0" destOrd="0" presId="urn:microsoft.com/office/officeart/2005/8/layout/pyramid2"/>
    <dgm:cxn modelId="{93BF367C-B319-462D-9E0B-580811E3EEA4}" type="presOf" srcId="{2010B11A-C56B-4447-AC13-78EC0F7B158E}" destId="{9309A459-C41E-44E9-A04E-446C86208EEA}" srcOrd="0" destOrd="0" presId="urn:microsoft.com/office/officeart/2005/8/layout/pyramid2"/>
    <dgm:cxn modelId="{43509984-C5E9-4CCA-8B94-598FC2DAA2C1}" type="presOf" srcId="{CF248D7B-D482-4224-A1C0-1879CC995C9A}" destId="{743921FF-5F9F-4372-BDBF-15081F8D936E}" srcOrd="0" destOrd="0" presId="urn:microsoft.com/office/officeart/2005/8/layout/pyramid2"/>
    <dgm:cxn modelId="{68D1209C-C3A1-4A5C-8B6E-117C6D6357FC}" srcId="{B2240B3E-306B-4CCB-AD2B-90C15E72F127}" destId="{85E8A78F-CC9B-4489-A97F-A366E92EA3D8}" srcOrd="0" destOrd="0" parTransId="{A74F8F4D-D419-4918-A1CF-2C5D8EBDF670}" sibTransId="{A5174D45-BA6D-4135-96DE-642BA793E27E}"/>
    <dgm:cxn modelId="{0F2E60C1-8A03-4442-BFA1-9F51C872954B}" srcId="{B2240B3E-306B-4CCB-AD2B-90C15E72F127}" destId="{CF248D7B-D482-4224-A1C0-1879CC995C9A}" srcOrd="3" destOrd="0" parTransId="{53A27CE4-EC03-462E-822A-02902A15111C}" sibTransId="{6A776C7C-673D-410F-B882-6096F1C5703C}"/>
    <dgm:cxn modelId="{CCB555CA-FA1C-4BA6-B873-FE434479475D}" srcId="{B2240B3E-306B-4CCB-AD2B-90C15E72F127}" destId="{4C7E9BC0-6C27-488D-A138-BD4649DF58B6}" srcOrd="4" destOrd="0" parTransId="{059262A8-3E44-4CED-AEF9-1A5E0B39B32A}" sibTransId="{9A704245-48C9-441A-88E6-92DD58F65469}"/>
    <dgm:cxn modelId="{B145F3DA-9FA4-46DF-BA8A-1CD3E78060B9}" type="presOf" srcId="{85E8A78F-CC9B-4489-A97F-A366E92EA3D8}" destId="{0AC6955F-F97B-42AA-9AB7-2F04EF2A0F99}" srcOrd="0" destOrd="0" presId="urn:microsoft.com/office/officeart/2005/8/layout/pyramid2"/>
    <dgm:cxn modelId="{7F8952EA-F849-4743-8FFA-924ED1687134}" srcId="{B2240B3E-306B-4CCB-AD2B-90C15E72F127}" destId="{CD3BF09E-ED25-4A70-9F15-01334FE35769}" srcOrd="2" destOrd="0" parTransId="{7B51ACA7-0500-4B5C-9B2D-0B902EC8D6E6}" sibTransId="{4F89AA1C-5442-4E6B-83FE-D4C4349A9712}"/>
    <dgm:cxn modelId="{6B22086F-04BA-499C-A14E-D3238B4A5715}" type="presParOf" srcId="{6C3C80F4-B743-4597-BA47-91496B0842F2}" destId="{CE10736A-ACFE-4A33-84E2-88517F90D6C1}" srcOrd="0" destOrd="0" presId="urn:microsoft.com/office/officeart/2005/8/layout/pyramid2"/>
    <dgm:cxn modelId="{4CAD02BB-7A6F-420E-917C-BDEC5E5A5730}" type="presParOf" srcId="{6C3C80F4-B743-4597-BA47-91496B0842F2}" destId="{497B2691-A507-46A1-ABEB-35D0715565E7}" srcOrd="1" destOrd="0" presId="urn:microsoft.com/office/officeart/2005/8/layout/pyramid2"/>
    <dgm:cxn modelId="{6A330F77-5C45-4CDB-8882-F1C5C842FDD8}" type="presParOf" srcId="{497B2691-A507-46A1-ABEB-35D0715565E7}" destId="{0AC6955F-F97B-42AA-9AB7-2F04EF2A0F99}" srcOrd="0" destOrd="0" presId="urn:microsoft.com/office/officeart/2005/8/layout/pyramid2"/>
    <dgm:cxn modelId="{F721BC65-360A-4073-8008-00FBD62CB3AC}" type="presParOf" srcId="{497B2691-A507-46A1-ABEB-35D0715565E7}" destId="{4B687FB8-C572-43A2-A409-C6A127314368}" srcOrd="1" destOrd="0" presId="urn:microsoft.com/office/officeart/2005/8/layout/pyramid2"/>
    <dgm:cxn modelId="{69393A96-CEA4-4771-AC6F-0398808B19DF}" type="presParOf" srcId="{497B2691-A507-46A1-ABEB-35D0715565E7}" destId="{B1702810-7859-4FCE-B4A9-3050A6CF92B5}" srcOrd="2" destOrd="0" presId="urn:microsoft.com/office/officeart/2005/8/layout/pyramid2"/>
    <dgm:cxn modelId="{587E9B09-FAE5-49E4-BAEF-D4218320400D}" type="presParOf" srcId="{497B2691-A507-46A1-ABEB-35D0715565E7}" destId="{E81FDC28-3A7B-4E51-A0CF-5D8BFF971A89}" srcOrd="3" destOrd="0" presId="urn:microsoft.com/office/officeart/2005/8/layout/pyramid2"/>
    <dgm:cxn modelId="{2B3B78F1-E69E-4FC4-AF8A-1968A380E3D5}" type="presParOf" srcId="{497B2691-A507-46A1-ABEB-35D0715565E7}" destId="{D329E078-43CD-4839-B77C-5CA999F0A41E}" srcOrd="4" destOrd="0" presId="urn:microsoft.com/office/officeart/2005/8/layout/pyramid2"/>
    <dgm:cxn modelId="{3D1AF13F-EAB9-4AAC-BB78-C4F848D8CF34}" type="presParOf" srcId="{497B2691-A507-46A1-ABEB-35D0715565E7}" destId="{999B7BF3-8000-448A-933C-D8A2094D9B2D}" srcOrd="5" destOrd="0" presId="urn:microsoft.com/office/officeart/2005/8/layout/pyramid2"/>
    <dgm:cxn modelId="{EACED594-D863-4F1D-B32A-07F676C3A33D}" type="presParOf" srcId="{497B2691-A507-46A1-ABEB-35D0715565E7}" destId="{743921FF-5F9F-4372-BDBF-15081F8D936E}" srcOrd="6" destOrd="0" presId="urn:microsoft.com/office/officeart/2005/8/layout/pyramid2"/>
    <dgm:cxn modelId="{A70FE258-B24E-48BB-A2D1-A399BD64ECC6}" type="presParOf" srcId="{497B2691-A507-46A1-ABEB-35D0715565E7}" destId="{A6DF65F8-B826-417E-824A-A796980F1FDC}" srcOrd="7" destOrd="0" presId="urn:microsoft.com/office/officeart/2005/8/layout/pyramid2"/>
    <dgm:cxn modelId="{AD569FFC-7682-4699-AFBC-829EE49B5BB0}" type="presParOf" srcId="{497B2691-A507-46A1-ABEB-35D0715565E7}" destId="{81B681A7-7069-4537-86DA-E2B64A5AB9BD}" srcOrd="8" destOrd="0" presId="urn:microsoft.com/office/officeart/2005/8/layout/pyramid2"/>
    <dgm:cxn modelId="{66216016-57F1-4B8E-837A-D35FDBF39163}" type="presParOf" srcId="{497B2691-A507-46A1-ABEB-35D0715565E7}" destId="{5221C177-1353-47E8-A385-EE9A373B2DA6}" srcOrd="9" destOrd="0" presId="urn:microsoft.com/office/officeart/2005/8/layout/pyramid2"/>
    <dgm:cxn modelId="{4EB7A8A5-714B-4188-9637-B4EC4537A58D}" type="presParOf" srcId="{497B2691-A507-46A1-ABEB-35D0715565E7}" destId="{9309A459-C41E-44E9-A04E-446C86208EEA}" srcOrd="10" destOrd="0" presId="urn:microsoft.com/office/officeart/2005/8/layout/pyramid2"/>
    <dgm:cxn modelId="{23BE5F2C-CF8C-49D7-99F8-3198806342CD}" type="presParOf" srcId="{497B2691-A507-46A1-ABEB-35D0715565E7}" destId="{BF9C68D1-29D6-460A-BC7A-C41960AA6272}" srcOrd="11"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426DBB-ECE6-42D5-B2DE-C8009A108462}" type="doc">
      <dgm:prSet loTypeId="urn:microsoft.com/office/officeart/2009/3/layout/BlockDescendingList" loCatId="list" qsTypeId="urn:microsoft.com/office/officeart/2005/8/quickstyle/simple1" qsCatId="simple" csTypeId="urn:microsoft.com/office/officeart/2005/8/colors/colorful4" csCatId="colorful" phldr="1"/>
      <dgm:spPr/>
    </dgm:pt>
    <dgm:pt modelId="{8CF7618D-E8A8-404E-A9D1-03DE9F2AA250}">
      <dgm:prSet phldrT="[Text]" custT="1"/>
      <dgm:spPr>
        <a:solidFill>
          <a:schemeClr val="accent6">
            <a:lumMod val="75000"/>
          </a:schemeClr>
        </a:solidFill>
      </dgm:spPr>
      <dgm:t>
        <a:bodyPr/>
        <a:lstStyle/>
        <a:p>
          <a:r>
            <a:rPr lang="en-US" sz="3200" b="1">
              <a:latin typeface="Amazon Ember" panose="02000000000000000000" pitchFamily="2" charset="0"/>
              <a:ea typeface="Amazon Ember" panose="02000000000000000000" pitchFamily="2" charset="0"/>
            </a:rPr>
            <a:t>Target Tracking Scaling</a:t>
          </a:r>
        </a:p>
      </dgm:t>
    </dgm:pt>
    <dgm:pt modelId="{DFFB7FFD-08D8-4596-A467-78023E7DCD14}" type="parTrans" cxnId="{62D8B5E0-7F8F-4FA0-A544-0E8BE3191D81}">
      <dgm:prSet/>
      <dgm:spPr/>
      <dgm:t>
        <a:bodyPr/>
        <a:lstStyle/>
        <a:p>
          <a:endParaRPr lang="en-US" sz="1800"/>
        </a:p>
      </dgm:t>
    </dgm:pt>
    <dgm:pt modelId="{811CC3F1-6BD0-4775-8189-CB620949E75C}" type="sibTrans" cxnId="{62D8B5E0-7F8F-4FA0-A544-0E8BE3191D81}">
      <dgm:prSet/>
      <dgm:spPr/>
      <dgm:t>
        <a:bodyPr/>
        <a:lstStyle/>
        <a:p>
          <a:endParaRPr lang="en-US" sz="1800"/>
        </a:p>
      </dgm:t>
    </dgm:pt>
    <dgm:pt modelId="{A75644EF-D66B-4C08-898C-D80F534745C7}">
      <dgm:prSet custT="1"/>
      <dgm:spPr/>
      <dgm:t>
        <a:bodyPr/>
        <a:lstStyle/>
        <a:p>
          <a:r>
            <a:rPr lang="en-US" sz="3200" b="1">
              <a:latin typeface="Amazon Ember" panose="02000000000000000000" pitchFamily="2" charset="0"/>
              <a:ea typeface="Amazon Ember" panose="02000000000000000000" pitchFamily="2" charset="0"/>
            </a:rPr>
            <a:t>Step Scaling</a:t>
          </a:r>
        </a:p>
      </dgm:t>
    </dgm:pt>
    <dgm:pt modelId="{B21B3F7C-DDFC-4F5A-8C9D-2EA0CA7F6134}" type="parTrans" cxnId="{0092E9B8-8486-47C8-81BA-39AB818B5866}">
      <dgm:prSet/>
      <dgm:spPr/>
      <dgm:t>
        <a:bodyPr/>
        <a:lstStyle/>
        <a:p>
          <a:endParaRPr lang="en-US" sz="1800"/>
        </a:p>
      </dgm:t>
    </dgm:pt>
    <dgm:pt modelId="{234071D5-8386-48D3-8628-E9F93F29B2AD}" type="sibTrans" cxnId="{0092E9B8-8486-47C8-81BA-39AB818B5866}">
      <dgm:prSet/>
      <dgm:spPr/>
      <dgm:t>
        <a:bodyPr/>
        <a:lstStyle/>
        <a:p>
          <a:endParaRPr lang="en-US" sz="1800"/>
        </a:p>
      </dgm:t>
    </dgm:pt>
    <dgm:pt modelId="{B87A7FC0-AF63-4CD0-A0BF-5546C762CC91}">
      <dgm:prSet custT="1"/>
      <dgm:spPr/>
      <dgm:t>
        <a:bodyPr/>
        <a:lstStyle/>
        <a:p>
          <a:r>
            <a:rPr lang="en-US" sz="3200" b="1">
              <a:latin typeface="Amazon Ember" panose="02000000000000000000" pitchFamily="2" charset="0"/>
              <a:ea typeface="Amazon Ember" panose="02000000000000000000" pitchFamily="2" charset="0"/>
            </a:rPr>
            <a:t>Simple Scaling</a:t>
          </a:r>
        </a:p>
      </dgm:t>
    </dgm:pt>
    <dgm:pt modelId="{B575C689-F22C-4D98-A9D3-5D3809770B23}" type="parTrans" cxnId="{84239928-D270-4BEC-A946-D765CDB87144}">
      <dgm:prSet/>
      <dgm:spPr/>
      <dgm:t>
        <a:bodyPr/>
        <a:lstStyle/>
        <a:p>
          <a:endParaRPr lang="en-US" sz="1800"/>
        </a:p>
      </dgm:t>
    </dgm:pt>
    <dgm:pt modelId="{A1D2623D-996F-4469-8FCA-6340C30C5E36}" type="sibTrans" cxnId="{84239928-D270-4BEC-A946-D765CDB87144}">
      <dgm:prSet/>
      <dgm:spPr/>
      <dgm:t>
        <a:bodyPr/>
        <a:lstStyle/>
        <a:p>
          <a:endParaRPr lang="en-US" sz="1800"/>
        </a:p>
      </dgm:t>
    </dgm:pt>
    <dgm:pt modelId="{6369A456-97B2-48B4-97D0-A244AD7CE5D1}">
      <dgm:prSet phldrT="[Text]" custT="1"/>
      <dgm:spPr/>
      <dgm:t>
        <a:bodyPr/>
        <a:lstStyle/>
        <a:p>
          <a:r>
            <a:rPr lang="en-US" sz="24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target value for a specific metric. </a:t>
          </a:r>
        </a:p>
      </dgm:t>
    </dgm:pt>
    <dgm:pt modelId="{802A4ED2-3E4B-41A6-8E74-8C485561E417}" type="parTrans" cxnId="{6E550432-B8F1-488F-9B73-526218074320}">
      <dgm:prSet/>
      <dgm:spPr/>
      <dgm:t>
        <a:bodyPr/>
        <a:lstStyle/>
        <a:p>
          <a:endParaRPr lang="en-US" sz="1800"/>
        </a:p>
      </dgm:t>
    </dgm:pt>
    <dgm:pt modelId="{048F78B7-41E3-419F-927F-CDC2FFD99E4E}" type="sibTrans" cxnId="{6E550432-B8F1-488F-9B73-526218074320}">
      <dgm:prSet/>
      <dgm:spPr/>
      <dgm:t>
        <a:bodyPr/>
        <a:lstStyle/>
        <a:p>
          <a:endParaRPr lang="en-US" sz="1800"/>
        </a:p>
      </dgm:t>
    </dgm:pt>
    <dgm:pt modelId="{7B51BEED-92AB-4B23-9E78-96147985A43A}">
      <dgm:prSet custT="1"/>
      <dgm:spPr/>
      <dgm:t>
        <a:bodyPr/>
        <a:lstStyle/>
        <a:p>
          <a:r>
            <a:rPr lang="en-US" sz="24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set of scaling adjustments, based on size of the alarm breach. </a:t>
          </a:r>
        </a:p>
      </dgm:t>
    </dgm:pt>
    <dgm:pt modelId="{FFE50E58-B9C9-4C86-A5FD-241A821ABF4A}" type="parTrans" cxnId="{F521756D-3744-4827-8CE1-1F4251BD3C0C}">
      <dgm:prSet/>
      <dgm:spPr/>
      <dgm:t>
        <a:bodyPr/>
        <a:lstStyle/>
        <a:p>
          <a:endParaRPr lang="en-US" sz="1800"/>
        </a:p>
      </dgm:t>
    </dgm:pt>
    <dgm:pt modelId="{14125E2B-CF3D-4854-9C83-32BB02BB4677}" type="sibTrans" cxnId="{F521756D-3744-4827-8CE1-1F4251BD3C0C}">
      <dgm:prSet/>
      <dgm:spPr/>
      <dgm:t>
        <a:bodyPr/>
        <a:lstStyle/>
        <a:p>
          <a:endParaRPr lang="en-US" sz="1800"/>
        </a:p>
      </dgm:t>
    </dgm:pt>
    <dgm:pt modelId="{B5E37043-4AD4-4FB3-8E17-18AB278962FA}">
      <dgm:prSet custT="1"/>
      <dgm:spPr/>
      <dgm:t>
        <a:bodyPr/>
        <a:lstStyle/>
        <a:p>
          <a:r>
            <a:rPr lang="en-US" sz="24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single scaling adjustment.</a:t>
          </a:r>
        </a:p>
      </dgm:t>
    </dgm:pt>
    <dgm:pt modelId="{8C3C7310-98CA-440A-8EB3-F78FEB4F0E8B}" type="parTrans" cxnId="{685FB911-1B4E-4C7E-9BEA-14E18154EE98}">
      <dgm:prSet/>
      <dgm:spPr/>
      <dgm:t>
        <a:bodyPr/>
        <a:lstStyle/>
        <a:p>
          <a:endParaRPr lang="en-US" sz="1800"/>
        </a:p>
      </dgm:t>
    </dgm:pt>
    <dgm:pt modelId="{BF4AF1B2-E942-4D84-A30A-5A4B6DEB8500}" type="sibTrans" cxnId="{685FB911-1B4E-4C7E-9BEA-14E18154EE98}">
      <dgm:prSet/>
      <dgm:spPr/>
      <dgm:t>
        <a:bodyPr/>
        <a:lstStyle/>
        <a:p>
          <a:endParaRPr lang="en-US" sz="1800"/>
        </a:p>
      </dgm:t>
    </dgm:pt>
    <dgm:pt modelId="{7AAEB8F7-FAFC-48B2-9139-60016AEEBDF0}" type="pres">
      <dgm:prSet presAssocID="{55426DBB-ECE6-42D5-B2DE-C8009A108462}" presName="Name0" presStyleCnt="0">
        <dgm:presLayoutVars>
          <dgm:chMax val="7"/>
          <dgm:chPref val="7"/>
          <dgm:dir/>
          <dgm:animLvl val="lvl"/>
        </dgm:presLayoutVars>
      </dgm:prSet>
      <dgm:spPr/>
    </dgm:pt>
    <dgm:pt modelId="{5E9FAACE-5632-46F9-8FCC-FD892A1EDF11}" type="pres">
      <dgm:prSet presAssocID="{8CF7618D-E8A8-404E-A9D1-03DE9F2AA250}" presName="parentText_1" presStyleLbl="node1" presStyleIdx="0" presStyleCnt="3">
        <dgm:presLayoutVars>
          <dgm:chMax val="1"/>
          <dgm:chPref val="1"/>
          <dgm:bulletEnabled val="1"/>
        </dgm:presLayoutVars>
      </dgm:prSet>
      <dgm:spPr/>
    </dgm:pt>
    <dgm:pt modelId="{DBEE7474-2185-4CED-91A1-8790F91452FB}" type="pres">
      <dgm:prSet presAssocID="{8CF7618D-E8A8-404E-A9D1-03DE9F2AA250}" presName="childText_1" presStyleLbl="node1" presStyleIdx="0" presStyleCnt="3" custScaleX="140113" custLinFactNeighborX="-81606">
        <dgm:presLayoutVars>
          <dgm:chMax val="0"/>
          <dgm:chPref val="0"/>
          <dgm:bulletEnabled val="1"/>
        </dgm:presLayoutVars>
      </dgm:prSet>
      <dgm:spPr/>
    </dgm:pt>
    <dgm:pt modelId="{8999E803-87B6-4E2D-A42B-EA6C858A0100}" type="pres">
      <dgm:prSet presAssocID="{8CF7618D-E8A8-404E-A9D1-03DE9F2AA250}" presName="accentShape_1" presStyleCnt="0"/>
      <dgm:spPr/>
    </dgm:pt>
    <dgm:pt modelId="{EBAF1189-C2A0-451C-937F-DB0F9C892378}" type="pres">
      <dgm:prSet presAssocID="{8CF7618D-E8A8-404E-A9D1-03DE9F2AA250}" presName="imageRepeatNode" presStyleLbl="node1" presStyleIdx="0" presStyleCnt="3" custScaleX="151486" custLinFactNeighborX="-57941"/>
      <dgm:spPr/>
    </dgm:pt>
    <dgm:pt modelId="{540446E2-086D-4EC5-B6BB-BD73173D4972}" type="pres">
      <dgm:prSet presAssocID="{A75644EF-D66B-4C08-898C-D80F534745C7}" presName="parentText_2" presStyleLbl="node1" presStyleIdx="0" presStyleCnt="3">
        <dgm:presLayoutVars>
          <dgm:chMax val="1"/>
          <dgm:chPref val="1"/>
          <dgm:bulletEnabled val="1"/>
        </dgm:presLayoutVars>
      </dgm:prSet>
      <dgm:spPr/>
    </dgm:pt>
    <dgm:pt modelId="{47DD6812-51E6-4E1E-AA6C-D985B283EA17}" type="pres">
      <dgm:prSet presAssocID="{A75644EF-D66B-4C08-898C-D80F534745C7}" presName="childText_2" presStyleLbl="node2" presStyleIdx="0" presStyleCnt="0" custScaleX="142075" custLinFactNeighborX="19784" custLinFactNeighborY="0">
        <dgm:presLayoutVars>
          <dgm:chMax val="0"/>
          <dgm:chPref val="0"/>
          <dgm:bulletEnabled val="1"/>
        </dgm:presLayoutVars>
      </dgm:prSet>
      <dgm:spPr/>
    </dgm:pt>
    <dgm:pt modelId="{21A655E0-1103-4FB5-888A-0749E4122155}" type="pres">
      <dgm:prSet presAssocID="{A75644EF-D66B-4C08-898C-D80F534745C7}" presName="accentShape_2" presStyleCnt="0"/>
      <dgm:spPr/>
    </dgm:pt>
    <dgm:pt modelId="{207DEF64-3BE4-4CB7-8AFD-69953FD3549D}" type="pres">
      <dgm:prSet presAssocID="{A75644EF-D66B-4C08-898C-D80F534745C7}" presName="imageRepeatNode" presStyleLbl="node1" presStyleIdx="1" presStyleCnt="3" custScaleX="156675" custLinFactNeighborX="17558" custLinFactNeighborY="548"/>
      <dgm:spPr/>
    </dgm:pt>
    <dgm:pt modelId="{69995493-A8F0-4C66-BFEF-3EEB998C6A0B}" type="pres">
      <dgm:prSet presAssocID="{B87A7FC0-AF63-4CD0-A0BF-5546C762CC91}" presName="parentText_3" presStyleLbl="node1" presStyleIdx="1" presStyleCnt="3">
        <dgm:presLayoutVars>
          <dgm:chMax val="1"/>
          <dgm:chPref val="1"/>
          <dgm:bulletEnabled val="1"/>
        </dgm:presLayoutVars>
      </dgm:prSet>
      <dgm:spPr/>
    </dgm:pt>
    <dgm:pt modelId="{1475D48A-B969-46FD-8C81-2AFB8F79994E}" type="pres">
      <dgm:prSet presAssocID="{B87A7FC0-AF63-4CD0-A0BF-5546C762CC91}" presName="childText_3" presStyleLbl="node2" presStyleIdx="0" presStyleCnt="0" custScaleX="124582" custLinFactX="43430" custLinFactNeighborX="100000" custLinFactNeighborY="0">
        <dgm:presLayoutVars>
          <dgm:chMax val="0"/>
          <dgm:chPref val="0"/>
          <dgm:bulletEnabled val="1"/>
        </dgm:presLayoutVars>
      </dgm:prSet>
      <dgm:spPr/>
    </dgm:pt>
    <dgm:pt modelId="{000FF57F-91D4-4A3B-B9EF-A3C7B048117C}" type="pres">
      <dgm:prSet presAssocID="{B87A7FC0-AF63-4CD0-A0BF-5546C762CC91}" presName="accentShape_3" presStyleCnt="0"/>
      <dgm:spPr/>
    </dgm:pt>
    <dgm:pt modelId="{3F70DC3B-5C47-4413-A948-7D7DB1BE37DF}" type="pres">
      <dgm:prSet presAssocID="{B87A7FC0-AF63-4CD0-A0BF-5546C762CC91}" presName="imageRepeatNode" presStyleLbl="node1" presStyleIdx="2" presStyleCnt="3" custScaleX="142416" custLinFactX="2712" custLinFactNeighborX="100000" custLinFactNeighborY="587"/>
      <dgm:spPr/>
    </dgm:pt>
  </dgm:ptLst>
  <dgm:cxnLst>
    <dgm:cxn modelId="{27588408-22FF-4729-9918-3F640EC75281}" type="presOf" srcId="{8CF7618D-E8A8-404E-A9D1-03DE9F2AA250}" destId="{EBAF1189-C2A0-451C-937F-DB0F9C892378}" srcOrd="1" destOrd="0" presId="urn:microsoft.com/office/officeart/2009/3/layout/BlockDescendingList"/>
    <dgm:cxn modelId="{685FB911-1B4E-4C7E-9BEA-14E18154EE98}" srcId="{B87A7FC0-AF63-4CD0-A0BF-5546C762CC91}" destId="{B5E37043-4AD4-4FB3-8E17-18AB278962FA}" srcOrd="0" destOrd="0" parTransId="{8C3C7310-98CA-440A-8EB3-F78FEB4F0E8B}" sibTransId="{BF4AF1B2-E942-4D84-A30A-5A4B6DEB8500}"/>
    <dgm:cxn modelId="{ED334919-CADD-4645-9E35-72B23E3D3E1B}" type="presOf" srcId="{7B51BEED-92AB-4B23-9E78-96147985A43A}" destId="{47DD6812-51E6-4E1E-AA6C-D985B283EA17}" srcOrd="0" destOrd="0" presId="urn:microsoft.com/office/officeart/2009/3/layout/BlockDescendingList"/>
    <dgm:cxn modelId="{84239928-D270-4BEC-A946-D765CDB87144}" srcId="{55426DBB-ECE6-42D5-B2DE-C8009A108462}" destId="{B87A7FC0-AF63-4CD0-A0BF-5546C762CC91}" srcOrd="2" destOrd="0" parTransId="{B575C689-F22C-4D98-A9D3-5D3809770B23}" sibTransId="{A1D2623D-996F-4469-8FCA-6340C30C5E36}"/>
    <dgm:cxn modelId="{6E550432-B8F1-488F-9B73-526218074320}" srcId="{8CF7618D-E8A8-404E-A9D1-03DE9F2AA250}" destId="{6369A456-97B2-48B4-97D0-A244AD7CE5D1}" srcOrd="0" destOrd="0" parTransId="{802A4ED2-3E4B-41A6-8E74-8C485561E417}" sibTransId="{048F78B7-41E3-419F-927F-CDC2FFD99E4E}"/>
    <dgm:cxn modelId="{CF927C65-B883-4C3B-9B82-C9FC26B72C00}" type="presOf" srcId="{A75644EF-D66B-4C08-898C-D80F534745C7}" destId="{540446E2-086D-4EC5-B6BB-BD73173D4972}" srcOrd="0" destOrd="0" presId="urn:microsoft.com/office/officeart/2009/3/layout/BlockDescendingList"/>
    <dgm:cxn modelId="{F521756D-3744-4827-8CE1-1F4251BD3C0C}" srcId="{A75644EF-D66B-4C08-898C-D80F534745C7}" destId="{7B51BEED-92AB-4B23-9E78-96147985A43A}" srcOrd="0" destOrd="0" parTransId="{FFE50E58-B9C9-4C86-A5FD-241A821ABF4A}" sibTransId="{14125E2B-CF3D-4854-9C83-32BB02BB4677}"/>
    <dgm:cxn modelId="{E7577852-AE52-45B7-A4D8-3C20D01ADEE0}" type="presOf" srcId="{B5E37043-4AD4-4FB3-8E17-18AB278962FA}" destId="{1475D48A-B969-46FD-8C81-2AFB8F79994E}" srcOrd="0" destOrd="0" presId="urn:microsoft.com/office/officeart/2009/3/layout/BlockDescendingList"/>
    <dgm:cxn modelId="{C5E94087-B96A-4A19-BB32-4FB16548A82F}" type="presOf" srcId="{B87A7FC0-AF63-4CD0-A0BF-5546C762CC91}" destId="{3F70DC3B-5C47-4413-A948-7D7DB1BE37DF}" srcOrd="1" destOrd="0" presId="urn:microsoft.com/office/officeart/2009/3/layout/BlockDescendingList"/>
    <dgm:cxn modelId="{5FED6187-DDBC-4E56-970B-1008D67EAFAA}" type="presOf" srcId="{55426DBB-ECE6-42D5-B2DE-C8009A108462}" destId="{7AAEB8F7-FAFC-48B2-9139-60016AEEBDF0}" srcOrd="0" destOrd="0" presId="urn:microsoft.com/office/officeart/2009/3/layout/BlockDescendingList"/>
    <dgm:cxn modelId="{BDD06F93-5E6F-4F9D-9C85-262109EFED2D}" type="presOf" srcId="{A75644EF-D66B-4C08-898C-D80F534745C7}" destId="{207DEF64-3BE4-4CB7-8AFD-69953FD3549D}" srcOrd="1" destOrd="0" presId="urn:microsoft.com/office/officeart/2009/3/layout/BlockDescendingList"/>
    <dgm:cxn modelId="{0092E9B8-8486-47C8-81BA-39AB818B5866}" srcId="{55426DBB-ECE6-42D5-B2DE-C8009A108462}" destId="{A75644EF-D66B-4C08-898C-D80F534745C7}" srcOrd="1" destOrd="0" parTransId="{B21B3F7C-DDFC-4F5A-8C9D-2EA0CA7F6134}" sibTransId="{234071D5-8386-48D3-8628-E9F93F29B2AD}"/>
    <dgm:cxn modelId="{CB843CDF-0A39-453E-A794-49E3E0DE65F5}" type="presOf" srcId="{B87A7FC0-AF63-4CD0-A0BF-5546C762CC91}" destId="{69995493-A8F0-4C66-BFEF-3EEB998C6A0B}" srcOrd="0" destOrd="0" presId="urn:microsoft.com/office/officeart/2009/3/layout/BlockDescendingList"/>
    <dgm:cxn modelId="{62D8B5E0-7F8F-4FA0-A544-0E8BE3191D81}" srcId="{55426DBB-ECE6-42D5-B2DE-C8009A108462}" destId="{8CF7618D-E8A8-404E-A9D1-03DE9F2AA250}" srcOrd="0" destOrd="0" parTransId="{DFFB7FFD-08D8-4596-A467-78023E7DCD14}" sibTransId="{811CC3F1-6BD0-4775-8189-CB620949E75C}"/>
    <dgm:cxn modelId="{7A8177E6-DD4A-4ADA-9F6C-0AFAD66F5D6E}" type="presOf" srcId="{8CF7618D-E8A8-404E-A9D1-03DE9F2AA250}" destId="{5E9FAACE-5632-46F9-8FCC-FD892A1EDF11}" srcOrd="0" destOrd="0" presId="urn:microsoft.com/office/officeart/2009/3/layout/BlockDescendingList"/>
    <dgm:cxn modelId="{2FAD44EE-AB47-4DD8-84DD-3E5342925FA9}" type="presOf" srcId="{6369A456-97B2-48B4-97D0-A244AD7CE5D1}" destId="{DBEE7474-2185-4CED-91A1-8790F91452FB}" srcOrd="0" destOrd="0" presId="urn:microsoft.com/office/officeart/2009/3/layout/BlockDescendingList"/>
    <dgm:cxn modelId="{4FEA480F-C118-4388-AFE1-7C403C85C988}" type="presParOf" srcId="{7AAEB8F7-FAFC-48B2-9139-60016AEEBDF0}" destId="{5E9FAACE-5632-46F9-8FCC-FD892A1EDF11}" srcOrd="0" destOrd="0" presId="urn:microsoft.com/office/officeart/2009/3/layout/BlockDescendingList"/>
    <dgm:cxn modelId="{35BFBD23-F93D-4226-855C-25EF0BDD10C0}" type="presParOf" srcId="{7AAEB8F7-FAFC-48B2-9139-60016AEEBDF0}" destId="{DBEE7474-2185-4CED-91A1-8790F91452FB}" srcOrd="1" destOrd="0" presId="urn:microsoft.com/office/officeart/2009/3/layout/BlockDescendingList"/>
    <dgm:cxn modelId="{D3D6C959-5C4A-4B7E-A8F0-753D17201092}" type="presParOf" srcId="{7AAEB8F7-FAFC-48B2-9139-60016AEEBDF0}" destId="{8999E803-87B6-4E2D-A42B-EA6C858A0100}" srcOrd="2" destOrd="0" presId="urn:microsoft.com/office/officeart/2009/3/layout/BlockDescendingList"/>
    <dgm:cxn modelId="{31EBEBBB-A89B-440F-9DFA-B58F61E797E0}" type="presParOf" srcId="{8999E803-87B6-4E2D-A42B-EA6C858A0100}" destId="{EBAF1189-C2A0-451C-937F-DB0F9C892378}" srcOrd="0" destOrd="0" presId="urn:microsoft.com/office/officeart/2009/3/layout/BlockDescendingList"/>
    <dgm:cxn modelId="{13DB250B-4FE0-4441-80AA-EAA7A7962EEF}" type="presParOf" srcId="{7AAEB8F7-FAFC-48B2-9139-60016AEEBDF0}" destId="{540446E2-086D-4EC5-B6BB-BD73173D4972}" srcOrd="3" destOrd="0" presId="urn:microsoft.com/office/officeart/2009/3/layout/BlockDescendingList"/>
    <dgm:cxn modelId="{1C24C877-E1F4-413C-A4A1-A8FBE9EAE258}" type="presParOf" srcId="{7AAEB8F7-FAFC-48B2-9139-60016AEEBDF0}" destId="{47DD6812-51E6-4E1E-AA6C-D985B283EA17}" srcOrd="4" destOrd="0" presId="urn:microsoft.com/office/officeart/2009/3/layout/BlockDescendingList"/>
    <dgm:cxn modelId="{0402F464-82E4-4ED5-AA64-F0E7E5E4B0B2}" type="presParOf" srcId="{7AAEB8F7-FAFC-48B2-9139-60016AEEBDF0}" destId="{21A655E0-1103-4FB5-888A-0749E4122155}" srcOrd="5" destOrd="0" presId="urn:microsoft.com/office/officeart/2009/3/layout/BlockDescendingList"/>
    <dgm:cxn modelId="{45EC9FFF-C69E-4E43-9E06-F5C18D376BA7}" type="presParOf" srcId="{21A655E0-1103-4FB5-888A-0749E4122155}" destId="{207DEF64-3BE4-4CB7-8AFD-69953FD3549D}" srcOrd="0" destOrd="0" presId="urn:microsoft.com/office/officeart/2009/3/layout/BlockDescendingList"/>
    <dgm:cxn modelId="{CF35F935-33BA-4286-8284-370C696F141A}" type="presParOf" srcId="{7AAEB8F7-FAFC-48B2-9139-60016AEEBDF0}" destId="{69995493-A8F0-4C66-BFEF-3EEB998C6A0B}" srcOrd="6" destOrd="0" presId="urn:microsoft.com/office/officeart/2009/3/layout/BlockDescendingList"/>
    <dgm:cxn modelId="{B70970C0-8137-4037-8303-6E0D70777287}" type="presParOf" srcId="{7AAEB8F7-FAFC-48B2-9139-60016AEEBDF0}" destId="{1475D48A-B969-46FD-8C81-2AFB8F79994E}" srcOrd="7" destOrd="0" presId="urn:microsoft.com/office/officeart/2009/3/layout/BlockDescendingList"/>
    <dgm:cxn modelId="{1D347629-3095-472F-A33E-C227A434190C}" type="presParOf" srcId="{7AAEB8F7-FAFC-48B2-9139-60016AEEBDF0}" destId="{000FF57F-91D4-4A3B-B9EF-A3C7B048117C}" srcOrd="8" destOrd="0" presId="urn:microsoft.com/office/officeart/2009/3/layout/BlockDescendingList"/>
    <dgm:cxn modelId="{EAAB9BD8-5424-40D2-9C8F-E4FD9FE85B24}" type="presParOf" srcId="{000FF57F-91D4-4A3B-B9EF-A3C7B048117C}" destId="{3F70DC3B-5C47-4413-A948-7D7DB1BE37DF}" srcOrd="0" destOrd="0" presId="urn:microsoft.com/office/officeart/2009/3/layout/BlockDescending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7A33F3-EF5E-4C64-ACA1-3593447F7E4B}">
      <dsp:nvSpPr>
        <dsp:cNvPr id="0" name=""/>
        <dsp:cNvSpPr/>
      </dsp:nvSpPr>
      <dsp:spPr>
        <a:xfrm>
          <a:off x="387512" y="518365"/>
          <a:ext cx="6208441" cy="4222128"/>
        </a:xfrm>
        <a:prstGeom prst="rect">
          <a:avLst/>
        </a:prstGeom>
        <a:solidFill>
          <a:schemeClr val="lt1">
            <a:alpha val="40000"/>
            <a:hueOff val="0"/>
            <a:satOff val="0"/>
            <a:lumOff val="0"/>
            <a:alphaOff val="0"/>
          </a:schemeClr>
        </a:solidFill>
        <a:ln w="6350" cap="flat" cmpd="sng" algn="ctr">
          <a:solidFill>
            <a:srgbClr val="FF9900"/>
          </a:solidFill>
          <a:prstDash val="dash"/>
          <a:miter lim="800000"/>
        </a:ln>
        <a:effectLst/>
      </dsp:spPr>
      <dsp:style>
        <a:lnRef idx="1">
          <a:scrgbClr r="0" g="0" b="0"/>
        </a:lnRef>
        <a:fillRef idx="1">
          <a:scrgbClr r="0" g="0" b="0"/>
        </a:fillRef>
        <a:effectRef idx="0">
          <a:scrgbClr r="0" g="0" b="0"/>
        </a:effectRef>
        <a:fontRef idx="minor"/>
      </dsp:style>
      <dsp:txBody>
        <a:bodyPr spcFirstLastPara="0" vert="horz" wrap="square" lIns="13141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solidFill>
                <a:schemeClr val="tx2">
                  <a:lumMod val="75000"/>
                </a:schemeClr>
              </a:solidFill>
            </a:rPr>
            <a:t>Scale on demand:</a:t>
          </a:r>
        </a:p>
        <a:p>
          <a:pPr marL="228600" lvl="1" indent="0" algn="l" defTabSz="1066800">
            <a:lnSpc>
              <a:spcPct val="90000"/>
            </a:lnSpc>
            <a:spcBef>
              <a:spcPct val="0"/>
            </a:spcBef>
            <a:spcAft>
              <a:spcPct val="15000"/>
            </a:spcAft>
            <a:buChar char="•"/>
          </a:pPr>
          <a:r>
            <a:rPr lang="en-US" sz="2400" kern="1200"/>
            <a:t>Scale out during spikes</a:t>
          </a:r>
        </a:p>
        <a:p>
          <a:pPr marL="228600" lvl="1" indent="0" algn="l" defTabSz="1066800">
            <a:lnSpc>
              <a:spcPct val="90000"/>
            </a:lnSpc>
            <a:spcBef>
              <a:spcPct val="0"/>
            </a:spcBef>
            <a:spcAft>
              <a:spcPct val="15000"/>
            </a:spcAft>
            <a:buChar char="•"/>
          </a:pPr>
          <a:r>
            <a:rPr lang="en-US" sz="2400" kern="1200"/>
            <a:t>Scale in during off-peak</a:t>
          </a:r>
        </a:p>
        <a:p>
          <a:pPr marL="228600" lvl="1" indent="0" algn="l" defTabSz="1066800">
            <a:lnSpc>
              <a:spcPct val="90000"/>
            </a:lnSpc>
            <a:spcBef>
              <a:spcPct val="0"/>
            </a:spcBef>
            <a:spcAft>
              <a:spcPct val="15000"/>
            </a:spcAft>
            <a:buChar char="•"/>
          </a:pPr>
          <a:r>
            <a:rPr lang="en-US" sz="2400" kern="1200"/>
            <a:t>Replace unhealthy instances</a:t>
          </a:r>
        </a:p>
        <a:p>
          <a:pPr marL="228600" lvl="1" indent="0" algn="l" defTabSz="1066800">
            <a:lnSpc>
              <a:spcPct val="90000"/>
            </a:lnSpc>
            <a:spcBef>
              <a:spcPct val="0"/>
            </a:spcBef>
            <a:spcAft>
              <a:spcPct val="15000"/>
            </a:spcAft>
            <a:buChar char="•"/>
          </a:pPr>
          <a:r>
            <a:rPr lang="en-US" sz="2400" kern="1200"/>
            <a:t>Pay only for what you use</a:t>
          </a:r>
        </a:p>
      </dsp:txBody>
      <dsp:txXfrm>
        <a:off x="387512" y="518365"/>
        <a:ext cx="6208441" cy="4222128"/>
      </dsp:txXfrm>
    </dsp:sp>
    <dsp:sp modelId="{19853C39-6335-4681-8ACD-ED9A3DEFC0B6}">
      <dsp:nvSpPr>
        <dsp:cNvPr id="0" name=""/>
        <dsp:cNvSpPr/>
      </dsp:nvSpPr>
      <dsp:spPr>
        <a:xfrm>
          <a:off x="0" y="1446495"/>
          <a:ext cx="1607999" cy="2037144"/>
        </a:xfrm>
        <a:prstGeom prst="rect">
          <a:avLst/>
        </a:prstGeom>
        <a:solidFill>
          <a:schemeClr val="accent1"/>
        </a:solidFill>
        <a:ln w="12700" cap="flat" cmpd="sng" algn="ctr">
          <a:solidFill>
            <a:schemeClr val="lt1">
              <a:hueOff val="0"/>
              <a:satOff val="0"/>
              <a:lumOff val="0"/>
              <a:alphaOff val="0"/>
            </a:schemeClr>
          </a:solidFill>
          <a:prstDash val="solid"/>
          <a:miter lim="800000"/>
        </a:ln>
        <a:effectLst/>
        <a:scene3d>
          <a:camera prst="orthographicFront"/>
          <a:lightRig rig="brightRoom" dir="t"/>
        </a:scene3d>
        <a:sp3d contourW="19050" prstMaterial="metal">
          <a:bevelT w="88900" h="203200"/>
          <a:bevelB w="165100" h="254000"/>
        </a:sp3d>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10736A-ACFE-4A33-84E2-88517F90D6C1}">
      <dsp:nvSpPr>
        <dsp:cNvPr id="0" name=""/>
        <dsp:cNvSpPr/>
      </dsp:nvSpPr>
      <dsp:spPr>
        <a:xfrm>
          <a:off x="948266" y="0"/>
          <a:ext cx="5418667" cy="5418667"/>
        </a:xfrm>
        <a:prstGeom prst="triangle">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AC6955F-F97B-42AA-9AB7-2F04EF2A0F99}">
      <dsp:nvSpPr>
        <dsp:cNvPr id="0" name=""/>
        <dsp:cNvSpPr/>
      </dsp:nvSpPr>
      <dsp:spPr>
        <a:xfrm>
          <a:off x="3657599" y="544777"/>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High availability (HA)</a:t>
          </a:r>
        </a:p>
      </dsp:txBody>
      <dsp:txXfrm>
        <a:off x="3688907" y="576085"/>
        <a:ext cx="3459517" cy="578734"/>
      </dsp:txXfrm>
    </dsp:sp>
    <dsp:sp modelId="{B1702810-7859-4FCE-B4A9-3050A6CF92B5}">
      <dsp:nvSpPr>
        <dsp:cNvPr id="0" name=""/>
        <dsp:cNvSpPr/>
      </dsp:nvSpPr>
      <dsp:spPr>
        <a:xfrm>
          <a:off x="3657599" y="1266295"/>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Health checks</a:t>
          </a:r>
        </a:p>
      </dsp:txBody>
      <dsp:txXfrm>
        <a:off x="3688907" y="1297603"/>
        <a:ext cx="3459517" cy="578734"/>
      </dsp:txXfrm>
    </dsp:sp>
    <dsp:sp modelId="{D329E078-43CD-4839-B77C-5CA999F0A41E}">
      <dsp:nvSpPr>
        <dsp:cNvPr id="0" name=""/>
        <dsp:cNvSpPr/>
      </dsp:nvSpPr>
      <dsp:spPr>
        <a:xfrm>
          <a:off x="3657599" y="1987814"/>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Security features</a:t>
          </a:r>
        </a:p>
      </dsp:txBody>
      <dsp:txXfrm>
        <a:off x="3688907" y="2019122"/>
        <a:ext cx="3459517" cy="578734"/>
      </dsp:txXfrm>
    </dsp:sp>
    <dsp:sp modelId="{743921FF-5F9F-4372-BDBF-15081F8D936E}">
      <dsp:nvSpPr>
        <dsp:cNvPr id="0" name=""/>
        <dsp:cNvSpPr/>
      </dsp:nvSpPr>
      <dsp:spPr>
        <a:xfrm>
          <a:off x="3657599" y="2709333"/>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Transport Layer Security (TLS) termination</a:t>
          </a:r>
        </a:p>
      </dsp:txBody>
      <dsp:txXfrm>
        <a:off x="3688907" y="2740641"/>
        <a:ext cx="3459517" cy="578734"/>
      </dsp:txXfrm>
    </dsp:sp>
    <dsp:sp modelId="{81B681A7-7069-4537-86DA-E2B64A5AB9BD}">
      <dsp:nvSpPr>
        <dsp:cNvPr id="0" name=""/>
        <dsp:cNvSpPr/>
      </dsp:nvSpPr>
      <dsp:spPr>
        <a:xfrm>
          <a:off x="3657599" y="3430852"/>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Layer 4 or layer 7 load balancing</a:t>
          </a:r>
        </a:p>
      </dsp:txBody>
      <dsp:txXfrm>
        <a:off x="3688907" y="3462160"/>
        <a:ext cx="3459517" cy="578734"/>
      </dsp:txXfrm>
    </dsp:sp>
    <dsp:sp modelId="{9309A459-C41E-44E9-A04E-446C86208EEA}">
      <dsp:nvSpPr>
        <dsp:cNvPr id="0" name=""/>
        <dsp:cNvSpPr/>
      </dsp:nvSpPr>
      <dsp:spPr>
        <a:xfrm>
          <a:off x="3657599" y="4152371"/>
          <a:ext cx="3522133" cy="641350"/>
        </a:xfrm>
        <a:prstGeom prst="roundRect">
          <a:avLst/>
        </a:prstGeom>
        <a:solidFill>
          <a:schemeClr val="lt1">
            <a:alpha val="90000"/>
            <a:hueOff val="0"/>
            <a:satOff val="0"/>
            <a:lumOff val="0"/>
            <a:alphaOff val="0"/>
          </a:schemeClr>
        </a:solidFill>
        <a:ln>
          <a:solidFill>
            <a:schemeClr val="accent5"/>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Operational monitoring</a:t>
          </a:r>
        </a:p>
      </dsp:txBody>
      <dsp:txXfrm>
        <a:off x="3688907" y="4183679"/>
        <a:ext cx="3459517" cy="578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70DC3B-5C47-4413-A948-7D7DB1BE37DF}">
      <dsp:nvSpPr>
        <dsp:cNvPr id="0" name=""/>
        <dsp:cNvSpPr/>
      </dsp:nvSpPr>
      <dsp:spPr>
        <a:xfrm>
          <a:off x="8870530" y="1295917"/>
          <a:ext cx="2908616" cy="3885681"/>
        </a:xfrm>
        <a:prstGeom prst="rect">
          <a:avLst/>
        </a:prstGeom>
        <a:solidFill>
          <a:schemeClr val="accent4">
            <a:hueOff val="3888044"/>
            <a:satOff val="-30513"/>
            <a:lumOff val="-129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0" rIns="182880" bIns="40640" numCol="1" spcCol="1270" anchor="ctr" anchorCtr="0">
          <a:noAutofit/>
        </a:bodyPr>
        <a:lstStyle/>
        <a:p>
          <a:pPr marL="0" lvl="0" indent="0" algn="r" defTabSz="1422400">
            <a:lnSpc>
              <a:spcPct val="90000"/>
            </a:lnSpc>
            <a:spcBef>
              <a:spcPct val="0"/>
            </a:spcBef>
            <a:spcAft>
              <a:spcPct val="35000"/>
            </a:spcAft>
            <a:buNone/>
          </a:pPr>
          <a:r>
            <a:rPr lang="en-US" sz="3200" b="1" kern="1200">
              <a:latin typeface="Amazon Ember" panose="02000000000000000000" pitchFamily="2" charset="0"/>
              <a:ea typeface="Amazon Ember" panose="02000000000000000000" pitchFamily="2" charset="0"/>
            </a:rPr>
            <a:t>Simple Scaling</a:t>
          </a:r>
        </a:p>
      </dsp:txBody>
      <dsp:txXfrm rot="16200000">
        <a:off x="9580649" y="2666354"/>
        <a:ext cx="3497112" cy="756240"/>
      </dsp:txXfrm>
    </dsp:sp>
    <dsp:sp modelId="{207DEF64-3BE4-4CB7-8AFD-69953FD3549D}">
      <dsp:nvSpPr>
        <dsp:cNvPr id="0" name=""/>
        <dsp:cNvSpPr/>
      </dsp:nvSpPr>
      <dsp:spPr>
        <a:xfrm>
          <a:off x="4760838" y="642518"/>
          <a:ext cx="3199833" cy="4539080"/>
        </a:xfrm>
        <a:prstGeom prst="rect">
          <a:avLst/>
        </a:prstGeom>
        <a:solidFill>
          <a:schemeClr val="accent4">
            <a:hueOff val="1944022"/>
            <a:satOff val="-15257"/>
            <a:lumOff val="-64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0" rIns="182880" bIns="40640" numCol="1" spcCol="1270" anchor="ctr" anchorCtr="0">
          <a:noAutofit/>
        </a:bodyPr>
        <a:lstStyle/>
        <a:p>
          <a:pPr marL="0" lvl="0" indent="0" algn="r" defTabSz="1422400">
            <a:lnSpc>
              <a:spcPct val="90000"/>
            </a:lnSpc>
            <a:spcBef>
              <a:spcPct val="0"/>
            </a:spcBef>
            <a:spcAft>
              <a:spcPct val="35000"/>
            </a:spcAft>
            <a:buNone/>
          </a:pPr>
          <a:r>
            <a:rPr lang="en-US" sz="3200" b="1" kern="1200">
              <a:latin typeface="Amazon Ember" panose="02000000000000000000" pitchFamily="2" charset="0"/>
              <a:ea typeface="Amazon Ember" panose="02000000000000000000" pitchFamily="2" charset="0"/>
            </a:rPr>
            <a:t>Step Scaling</a:t>
          </a:r>
        </a:p>
      </dsp:txBody>
      <dsp:txXfrm rot="16200000">
        <a:off x="5423095" y="2269126"/>
        <a:ext cx="4085172" cy="831956"/>
      </dsp:txXfrm>
    </dsp:sp>
    <dsp:sp modelId="{EBAF1189-C2A0-451C-937F-DB0F9C892378}">
      <dsp:nvSpPr>
        <dsp:cNvPr id="0" name=""/>
        <dsp:cNvSpPr/>
      </dsp:nvSpPr>
      <dsp:spPr>
        <a:xfrm>
          <a:off x="1040357" y="0"/>
          <a:ext cx="3093856" cy="5156727"/>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0" rIns="182880" bIns="40640" numCol="1" spcCol="1270" anchor="ctr" anchorCtr="0">
          <a:noAutofit/>
        </a:bodyPr>
        <a:lstStyle/>
        <a:p>
          <a:pPr marL="0" lvl="0" indent="0" algn="r" defTabSz="1422400">
            <a:lnSpc>
              <a:spcPct val="90000"/>
            </a:lnSpc>
            <a:spcBef>
              <a:spcPct val="0"/>
            </a:spcBef>
            <a:spcAft>
              <a:spcPct val="35000"/>
            </a:spcAft>
            <a:buNone/>
          </a:pPr>
          <a:r>
            <a:rPr lang="en-US" sz="3200" b="1" kern="1200">
              <a:latin typeface="Amazon Ember" panose="02000000000000000000" pitchFamily="2" charset="0"/>
              <a:ea typeface="Amazon Ember" panose="02000000000000000000" pitchFamily="2" charset="0"/>
            </a:rPr>
            <a:t>Target Tracking Scaling</a:t>
          </a:r>
        </a:p>
      </dsp:txBody>
      <dsp:txXfrm rot="16200000">
        <a:off x="1335090" y="1918325"/>
        <a:ext cx="4641054" cy="804402"/>
      </dsp:txXfrm>
    </dsp:sp>
    <dsp:sp modelId="{DBEE7474-2185-4CED-91A1-8790F91452FB}">
      <dsp:nvSpPr>
        <dsp:cNvPr id="0" name=""/>
        <dsp:cNvSpPr/>
      </dsp:nvSpPr>
      <dsp:spPr>
        <a:xfrm>
          <a:off x="1275300" y="0"/>
          <a:ext cx="2031722" cy="51815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target value for a specific metric. </a:t>
          </a:r>
        </a:p>
      </dsp:txBody>
      <dsp:txXfrm>
        <a:off x="1275300" y="0"/>
        <a:ext cx="2031722" cy="5181599"/>
      </dsp:txXfrm>
    </dsp:sp>
    <dsp:sp modelId="{47DD6812-51E6-4E1E-AA6C-D985B283EA17}">
      <dsp:nvSpPr>
        <dsp:cNvPr id="0" name=""/>
        <dsp:cNvSpPr/>
      </dsp:nvSpPr>
      <dsp:spPr>
        <a:xfrm>
          <a:off x="4962815" y="617646"/>
          <a:ext cx="2060172" cy="45639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set of scaling adjustments, based on size of the alarm breach. </a:t>
          </a:r>
        </a:p>
      </dsp:txBody>
      <dsp:txXfrm>
        <a:off x="4962815" y="617646"/>
        <a:ext cx="2060172" cy="4563952"/>
      </dsp:txXfrm>
    </dsp:sp>
    <dsp:sp modelId="{1475D48A-B969-46FD-8C81-2AFB8F79994E}">
      <dsp:nvSpPr>
        <dsp:cNvPr id="0" name=""/>
        <dsp:cNvSpPr/>
      </dsp:nvSpPr>
      <dsp:spPr>
        <a:xfrm>
          <a:off x="9107537" y="1273118"/>
          <a:ext cx="1806513" cy="390848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cs typeface="Arial" panose="020B0604020202020204" pitchFamily="34" charset="0"/>
            </a:rPr>
            <a:t>Increase or decrease the current capacity of the group based on a single scaling adjustment.</a:t>
          </a:r>
        </a:p>
      </dsp:txBody>
      <dsp:txXfrm>
        <a:off x="9107537" y="1273118"/>
        <a:ext cx="1806513" cy="3908480"/>
      </dsp:txXfrm>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9/3/layout/BlockDescendingList">
  <dgm:title val=""/>
  <dgm:desc val=""/>
  <dgm:catLst>
    <dgm:cat type="list" pri="185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13" srcId="10" destId="11" srcOrd="0" destOrd="0"/>
        <dgm:cxn modelId="14" srcId="10" destId="12" srcOrd="0" destOrd="0"/>
        <dgm:cxn modelId="50" srcId="0" destId="20" srcOrd="1" destOrd="0"/>
        <dgm:cxn modelId="23" srcId="20" destId="21" srcOrd="0" destOrd="0"/>
        <dgm:cxn modelId="24" srcId="20" destId="22" srcOrd="0" destOrd="0"/>
        <dgm:cxn modelId="60" srcId="0" destId="30" srcOrd="2" destOrd="0"/>
        <dgm:cxn modelId="33" srcId="30" destId="31" srcOrd="0" destOrd="0"/>
        <dgm:cxn modelId="34" srcId="30" destId="32"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70">
          <dgm:prSet phldr="1"/>
        </dgm:pt>
      </dgm:ptLst>
      <dgm:cxnLst>
        <dgm:cxn modelId="40" srcId="0" destId="10" srcOrd="0" destOrd="0"/>
        <dgm:cxn modelId="50" srcId="0" destId="20" srcOrd="1" destOrd="0"/>
        <dgm:cxn modelId="60" srcId="0" destId="30" srcOrd="2" destOrd="0"/>
        <dgm:cxn modelId="80" srcId="0" destId="7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axis="ch" ptType="node" func="cnt" op="equ" val="1">
        <dgm:alg type="composite">
          <dgm:param type="ar" val="0.5516"/>
        </dgm:alg>
        <dgm:choose name="Name3">
          <dgm:if name="Name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if>
          <dgm:else name="Name5">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else>
        </dgm:choose>
      </dgm:if>
      <dgm:if name="Name6" axis="ch" ptType="node" func="cnt" op="equ" val="2">
        <dgm:alg type="composite">
          <dgm:param type="ar" val="0.9804"/>
        </dgm:alg>
        <dgm:choose name="Name7">
          <dgm:if name="Name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2" refType="w" fact="0.4393"/>
              <dgm:constr type="t" for="ch" forName="accentShape_2" refType="h" fact="0.1192"/>
              <dgm:constr type="w" for="ch" forName="accentShape_2" refType="w" fact="0.4021"/>
              <dgm:constr type="h" for="ch" forName="accentShape_2" refType="h" fact="0.876"/>
              <dgm:constr type="l" for="ch" forName="accentShape_1" refType="w" fact="0"/>
              <dgm:constr type="t" for="ch" forName="accentShape_1" refType="h" fact="0"/>
              <dgm:constr type="w" for="ch" forName="accentShape_1" refType="w" fact="0.4021"/>
              <dgm:constr type="h" for="ch" forName="accentShape_1" refType="h" fact="0.9952"/>
              <dgm:constr type="l" for="ch" forName="parentText_1" refType="w" fact="0.2946"/>
              <dgm:constr type="t" for="ch" forName="parentText_1" refType="h" fact="0"/>
              <dgm:constr type="w" for="ch" forName="parentText_1" refType="w" refFor="ch" refForName="accentShape_1" fact="0.26"/>
              <dgm:constr type="h" for="ch" forName="parentText_1" refType="h" fact="0.78"/>
              <dgm:constr type="l" for="ch" forName="parentText_2" refType="w" fact="0.7339"/>
              <dgm:constr type="t" for="ch" forName="parentText_2" refType="h" fact="0.1192"/>
              <dgm:constr type="w" for="ch" forName="parentText_2" refType="w" refFor="ch" refForName="accentShape_1" fact="0.26"/>
              <dgm:constr type="h" for="ch" forName="parentText_2"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4393"/>
              <dgm:constr type="t" for="ch" forName="childText_2" refType="h" fact="0.1192"/>
              <dgm:constr type="w" for="ch" forName="childText_2" refType="w" refFor="ch" refForName="accentShape_2" fact="0.71"/>
              <dgm:constr type="h" for="ch" forName="childText_2" refType="h" fact="0.8808"/>
            </dgm:constrLst>
          </dgm:if>
          <dgm:else name="Name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1" refType="w" fact="0.4393"/>
              <dgm:constr type="t" for="ch" forName="accentShape_2" refType="h" fact="0.1192"/>
              <dgm:constr type="w" for="ch" forName="accentShape_2" refType="w" fact="0.4021"/>
              <dgm:constr type="h" for="ch" forName="accentShape_2" refType="h" fact="0.876"/>
              <dgm:constr type="l" for="ch" forName="accentShape_2" refType="w" fact="0"/>
              <dgm:constr type="t" for="ch" forName="accentShape_1" refType="h" fact="0"/>
              <dgm:constr type="w" for="ch" forName="accentShape_1" refType="w" fact="0.4021"/>
              <dgm:constr type="h" for="ch" forName="accentShape_1" refType="h" fact="0.9952"/>
              <dgm:constr type="l" for="ch" forName="parentText_2" refType="w" fact="0.2946"/>
              <dgm:constr type="t" for="ch" forName="parentText_1" refType="h" fact="0"/>
              <dgm:constr type="w" for="ch" forName="parentText_1" refType="w" refFor="ch" refForName="accentShape_1" fact="0.26"/>
              <dgm:constr type="h" for="ch" forName="parentText_1" refType="h" fact="0.78"/>
              <dgm:constr type="l" for="ch" forName="parentText_1" refType="w" fact="0.7339"/>
              <dgm:constr type="t" for="ch" forName="parentText_2" refType="h" fact="0.1192"/>
              <dgm:constr type="w" for="ch" forName="parentText_2" refType="w" refFor="ch" refForName="accentShape_1" fact="0.26"/>
              <dgm:constr type="h" for="ch" forName="parentText_2" refType="h" fact="0.78"/>
              <dgm:constr type="l" for="ch" forName="childText_2" refType="w" fact="0"/>
              <dgm:constr type="t" for="ch" forName="childText_1" refType="h" fact="0"/>
              <dgm:constr type="w" for="ch" forName="childText_1" refType="w" refFor="ch" refForName="accentShape_1" fact="0.71"/>
              <dgm:constr type="h" for="ch" forName="childText_1" refType="h"/>
              <dgm:constr type="l" for="ch" forName="childText_1" refType="w" fact="0.4393"/>
              <dgm:constr type="t" for="ch" forName="childText_2" refType="h" fact="0.1192"/>
              <dgm:constr type="w" for="ch" forName="childText_2" refType="w" refFor="ch" refForName="accentShape_2" fact="0.71"/>
              <dgm:constr type="h" for="ch" forName="childText_2" refType="h" fact="0.8808"/>
            </dgm:constrLst>
          </dgm:else>
        </dgm:choose>
      </dgm:if>
      <dgm:if name="Name10" axis="ch" ptType="node" func="cnt" op="equ" val="3">
        <dgm:alg type="composite">
          <dgm:param type="ar" val="1.4097"/>
        </dgm:alg>
        <dgm:choose name="Name11">
          <dgm:if name="Name12"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1"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3" refType="w" fact="0.6101"/>
              <dgm:constr type="t" for="ch" forName="accentShape_3" refType="h" fact="0.2457"/>
              <dgm:constr type="w" for="ch" forName="accentShape_3" refType="w" fact="0.2796"/>
              <dgm:constr type="h" for="ch" forName="accentShape_3" refType="h" fact="0.7499"/>
              <dgm:constr type="l" for="ch" forName="parentText_1"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3" refType="w" fact="0.6101"/>
              <dgm:constr type="t" for="ch" forName="childText_3" refType="h" fact="0.2457"/>
              <dgm:constr type="w" for="ch" forName="childText_3" refType="w" refFor="ch" refForName="accentShape_3" fact="0.71"/>
              <dgm:constr type="h" for="ch" forName="childText_3" refType="h" fact="0.7543"/>
            </dgm:constrLst>
          </dgm:if>
          <dgm:else name="Name13">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3"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1" refType="w" fact="0.6101"/>
              <dgm:constr type="t" for="ch" forName="accentShape_3" refType="h" fact="0.2457"/>
              <dgm:constr type="w" for="ch" forName="accentShape_3" refType="w" fact="0.2796"/>
              <dgm:constr type="h" for="ch" forName="accentShape_3" refType="h" fact="0.7499"/>
              <dgm:constr type="l" for="ch" forName="parentText_3"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1"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3"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1" refType="w" fact="0.6101"/>
              <dgm:constr type="t" for="ch" forName="childText_3" refType="h" fact="0.2457"/>
              <dgm:constr type="w" for="ch" forName="childText_3" refType="w" refFor="ch" refForName="accentShape_3" fact="0.71"/>
              <dgm:constr type="h" for="ch" forName="childText_3" refType="h" fact="0.7543"/>
            </dgm:constrLst>
          </dgm:else>
        </dgm:choose>
      </dgm:if>
      <dgm:if name="Name14" axis="ch" ptType="node" func="cnt" op="equ" val="4">
        <dgm:alg type="composite">
          <dgm:param type="ar" val="1.8305"/>
        </dgm:alg>
        <dgm:choose name="Name15">
          <dgm:if name="Name16"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1" refType="w" fact="0"/>
              <dgm:constr type="t" for="ch" forName="accentShape_1" refType="h" fact="0"/>
              <dgm:constr type="w" for="ch" forName="accentShape_1" refType="w" fact="0.2153"/>
              <dgm:constr type="h" for="ch" forName="accentShape_1" refType="h" fact="0.9952"/>
              <dgm:constr type="l" for="ch" forName="accentShape_2" refType="w" fact="0.2353"/>
              <dgm:constr type="t" for="ch" forName="accentShape_2" refType="h" fact="0.1192"/>
              <dgm:constr type="w" for="ch" forName="accentShape_2" refType="w" fact="0.2153"/>
              <dgm:constr type="h" for="ch" forName="accentShape_2" refType="h" fact="0.876"/>
              <dgm:constr type="l" for="ch" forName="accentShape_3" refType="w" fact="0.4699"/>
              <dgm:constr type="t" for="ch" forName="accentShape_3" refType="h" fact="0.2457"/>
              <dgm:constr type="w" for="ch" forName="accentShape_3" refType="w" fact="0.2153"/>
              <dgm:constr type="h" for="ch" forName="accentShape_3" refType="h" fact="0.7495"/>
              <dgm:constr type="l" for="ch" forName="accentShape_4" refType="w" fact="0.6997"/>
              <dgm:constr type="t" for="ch" forName="accentShape_4" refType="h" fact="0.3696"/>
              <dgm:constr type="w" for="ch" forName="accentShape_4" refType="w" fact="0.2153"/>
              <dgm:constr type="h" for="ch" forName="accentShape_4" refType="h" fact="0.6256"/>
              <dgm:constr type="l" for="ch" forName="parentText_1"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2353"/>
              <dgm:constr type="t" for="ch" forName="childText_2" refType="h" fact="0.1192"/>
              <dgm:constr type="w" for="ch" forName="childText_2" refType="w" refFor="ch" refForName="accentShape_2" fact="0.71"/>
              <dgm:constr type="h" for="ch" forName="childText_2" refType="h" fact="0.8808"/>
              <dgm:constr type="l" for="ch" forName="childText_3" refType="w" fact="0.4699"/>
              <dgm:constr type="t" for="ch" forName="childText_3" refType="h" fact="0.2457"/>
              <dgm:constr type="w" for="ch" forName="childText_3" refType="w" refFor="ch" refForName="accentShape_3" fact="0.71"/>
              <dgm:constr type="h" for="ch" forName="childText_3" refType="h" fact="0.7543"/>
              <dgm:constr type="l" for="ch" forName="childText_4" refType="w" fact="0.6997"/>
              <dgm:constr type="t" for="ch" forName="childText_4" refType="h" fact="0.3696"/>
              <dgm:constr type="w" for="ch" forName="childText_4" refType="w" refFor="ch" refForName="accentShape_4" fact="0.71"/>
              <dgm:constr type="h" for="ch" forName="childText_4" refType="h" fact="0.6261"/>
            </dgm:constrLst>
          </dgm:if>
          <dgm:else name="Name17">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4" refType="w" fact="0"/>
              <dgm:constr type="t" for="ch" forName="accentShape_1" refType="h" fact="0"/>
              <dgm:constr type="w" for="ch" forName="accentShape_1" refType="w" fact="0.2153"/>
              <dgm:constr type="h" for="ch" forName="accentShape_1" refType="h" fact="0.9952"/>
              <dgm:constr type="l" for="ch" forName="accentShape_3" refType="w" fact="0.2353"/>
              <dgm:constr type="t" for="ch" forName="accentShape_2" refType="h" fact="0.1192"/>
              <dgm:constr type="w" for="ch" forName="accentShape_2" refType="w" fact="0.2153"/>
              <dgm:constr type="h" for="ch" forName="accentShape_2" refType="h" fact="0.876"/>
              <dgm:constr type="l" for="ch" forName="accentShape_2" refType="w" fact="0.4699"/>
              <dgm:constr type="t" for="ch" forName="accentShape_3" refType="h" fact="0.2457"/>
              <dgm:constr type="w" for="ch" forName="accentShape_3" refType="w" fact="0.2153"/>
              <dgm:constr type="h" for="ch" forName="accentShape_3" refType="h" fact="0.7495"/>
              <dgm:constr type="l" for="ch" forName="accentShape_1" refType="w" fact="0.6997"/>
              <dgm:constr type="t" for="ch" forName="accentShape_4" refType="h" fact="0.3696"/>
              <dgm:constr type="w" for="ch" forName="accentShape_4" refType="w" fact="0.2153"/>
              <dgm:constr type="h" for="ch" forName="accentShape_4" refType="h" fact="0.6256"/>
              <dgm:constr type="l" for="ch" forName="parentText_4"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3"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2"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1"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4" refType="w" fact="0"/>
              <dgm:constr type="t" for="ch" forName="childText_1" refType="h" fact="0"/>
              <dgm:constr type="w" for="ch" forName="childText_1" refType="w" refFor="ch" refForName="accentShape_1" fact="0.71"/>
              <dgm:constr type="h" for="ch" forName="childText_1" refType="h"/>
              <dgm:constr type="l" for="ch" forName="childText_3" refType="w" fact="0.2353"/>
              <dgm:constr type="t" for="ch" forName="childText_2" refType="h" fact="0.1192"/>
              <dgm:constr type="w" for="ch" forName="childText_2" refType="w" refFor="ch" refForName="accentShape_2" fact="0.71"/>
              <dgm:constr type="h" for="ch" forName="childText_2" refType="h" fact="0.8808"/>
              <dgm:constr type="l" for="ch" forName="childText_2" refType="w" fact="0.4699"/>
              <dgm:constr type="t" for="ch" forName="childText_3" refType="h" fact="0.2457"/>
              <dgm:constr type="w" for="ch" forName="childText_3" refType="w" refFor="ch" refForName="accentShape_3" fact="0.71"/>
              <dgm:constr type="h" for="ch" forName="childText_3" refType="h" fact="0.7543"/>
              <dgm:constr type="l" for="ch" forName="childText_1" refType="w" fact="0.6997"/>
              <dgm:constr type="t" for="ch" forName="childText_4" refType="h" fact="0.3696"/>
              <dgm:constr type="w" for="ch" forName="childText_4" refType="w" refFor="ch" refForName="accentShape_4" fact="0.71"/>
              <dgm:constr type="h" for="ch" forName="childText_4" refType="h" fact="0.6261"/>
            </dgm:constrLst>
          </dgm:else>
        </dgm:choose>
      </dgm:if>
      <dgm:if name="Name18" axis="ch" ptType="node" func="cnt" op="equ" val="5">
        <dgm:alg type="composite">
          <dgm:param type="ar" val="2.0125"/>
        </dgm:alg>
        <dgm:choose name="Name19">
          <dgm:if name="Name20"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1" refType="w" fact="0"/>
              <dgm:constr type="t" for="ch" forName="accentShape_1" refType="h" fact="0"/>
              <dgm:constr type="w" for="ch" forName="accentShape_1" refType="w" fact="0.1759"/>
              <dgm:constr type="h" for="ch" forName="accentShape_1" refType="h" fact="0.9952"/>
              <dgm:constr type="l" for="ch" forName="accentShape_2"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4" refType="w" fact="0.5759"/>
              <dgm:constr type="t" for="ch" forName="accentShape_4" refType="h" fact="0.3739"/>
              <dgm:constr type="w" for="ch" forName="accentShape_4" refType="w" fact="0.1759"/>
              <dgm:constr type="h" for="ch" forName="accentShape_4" refType="h" fact="0.6217"/>
              <dgm:constr type="l" for="ch" forName="accentShape_5" refType="w" fact="0.7679"/>
              <dgm:constr type="t" for="ch" forName="accentShape_5" refType="h" fact="0.5"/>
              <dgm:constr type="w" for="ch" forName="accentShape_5" refType="w" fact="0.1759"/>
              <dgm:constr type="h" for="ch" forName="accentShape_5" refType="h" fact="0.4956"/>
              <dgm:constr type="l" for="ch" forName="parentText_1"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5"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4" refType="w" fact="0.5759"/>
              <dgm:constr type="t" for="ch" forName="childText_4" refType="h" fact="0.3739"/>
              <dgm:constr type="w" for="ch" forName="childText_4" refType="w" refFor="ch" refForName="accentShape_4" fact="0.71"/>
              <dgm:constr type="h" for="ch" forName="childText_4" refType="h" fact="0.6217"/>
              <dgm:constr type="l" for="ch" forName="childText_5" refType="w" fact="0.7679"/>
              <dgm:constr type="t" for="ch" forName="childText_5" refType="h" fact="0.5001"/>
              <dgm:constr type="w" for="ch" forName="childText_5" refType="w" refFor="ch" refForName="accentShape_5" fact="0.71"/>
              <dgm:constr type="h" for="ch" forName="childText_5" refType="h" fact="0.4956"/>
            </dgm:constrLst>
          </dgm:if>
          <dgm:else name="Name21">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5" refType="w" fact="0"/>
              <dgm:constr type="t" for="ch" forName="accentShape_1" refType="h" fact="0"/>
              <dgm:constr type="w" for="ch" forName="accentShape_1" refType="w" fact="0.1759"/>
              <dgm:constr type="h" for="ch" forName="accentShape_1" refType="h" fact="0.9952"/>
              <dgm:constr type="l" for="ch" forName="accentShape_4"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2" refType="w" fact="0.5759"/>
              <dgm:constr type="t" for="ch" forName="accentShape_4" refType="h" fact="0.3739"/>
              <dgm:constr type="w" for="ch" forName="accentShape_4" refType="w" fact="0.1759"/>
              <dgm:constr type="h" for="ch" forName="accentShape_4" refType="h" fact="0.6217"/>
              <dgm:constr type="l" for="ch" forName="accentShape_1" refType="w" fact="0.7679"/>
              <dgm:constr type="t" for="ch" forName="accentShape_5" refType="h" fact="0.5"/>
              <dgm:constr type="w" for="ch" forName="accentShape_5" refType="w" fact="0.1759"/>
              <dgm:constr type="h" for="ch" forName="accentShape_5" refType="h" fact="0.4956"/>
              <dgm:constr type="l" for="ch" forName="parentText_5"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4"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2"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1"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5" refType="w" fact="0"/>
              <dgm:constr type="t" for="ch" forName="childText_1" refType="h" fact="0"/>
              <dgm:constr type="w" for="ch" forName="childText_1" refType="w" refFor="ch" refForName="accentShape_1" fact="0.71"/>
              <dgm:constr type="h" for="ch" forName="childText_1" refType="h"/>
              <dgm:constr type="l" for="ch" forName="childText_4"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2" refType="w" fact="0.5759"/>
              <dgm:constr type="t" for="ch" forName="childText_4" refType="h" fact="0.3739"/>
              <dgm:constr type="w" for="ch" forName="childText_4" refType="w" refFor="ch" refForName="accentShape_4" fact="0.71"/>
              <dgm:constr type="h" for="ch" forName="childText_4" refType="h" fact="0.6261"/>
              <dgm:constr type="l" for="ch" forName="childText_1" refType="w" fact="0.7679"/>
              <dgm:constr type="t" for="ch" forName="childText_5" refType="h" fact="0.5001"/>
              <dgm:constr type="w" for="ch" forName="childText_5" refType="w" refFor="ch" refForName="accentShape_5" fact="0.71"/>
              <dgm:constr type="h" for="ch" forName="childText_5" refType="h" fact="0.4999"/>
            </dgm:constrLst>
          </dgm:else>
        </dgm:choose>
      </dgm:if>
      <dgm:if name="Name22" axis="ch" ptType="node" func="cnt" op="equ" val="6">
        <dgm:alg type="composite">
          <dgm:param type="ar" val="2.4006"/>
        </dgm:alg>
        <dgm:shape xmlns:r="http://schemas.openxmlformats.org/officeDocument/2006/relationships" r:blip="">
          <dgm:adjLst/>
        </dgm:shape>
        <dgm:choose name="Name23">
          <dgm:if name="Name2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1" refType="w" fact="0"/>
              <dgm:constr type="t" for="ch" forName="accentShape_1" refType="h" fact="0"/>
              <dgm:constr type="w" for="ch" forName="accentShape_1" refType="w" fact="0.1473"/>
              <dgm:constr type="h" for="ch" forName="accentShape_1" refType="h"/>
              <dgm:constr type="l" for="ch" forName="accentShape_2" refType="w" fact="0.1608"/>
              <dgm:constr type="t" for="ch" forName="accentShape_2" refType="h" fact="0.1"/>
              <dgm:constr type="w" for="ch" forName="accentShape_2" refType="w" fact="0.1473"/>
              <dgm:constr type="h" for="ch" forName="accentShape_2" refType="h" fact="0.9"/>
              <dgm:constr type="l" for="ch" forName="accentShape_3" refType="w" fact="0.3216"/>
              <dgm:constr type="t" for="ch" forName="accentShape_3" refType="h" fact="0.2"/>
              <dgm:constr type="w" for="ch" forName="accentShape_3" refType="w" fact="0.1473"/>
              <dgm:constr type="h" for="ch" forName="accentShape_3" refType="h" fact="0.8"/>
              <dgm:constr type="l" for="ch" forName="accentShape_4" refType="w" fact="0.4824"/>
              <dgm:constr type="t" for="ch" forName="accentShape_4" refType="h" fact="0.3"/>
              <dgm:constr type="w" for="ch" forName="accentShape_4" refType="w" fact="0.1473"/>
              <dgm:constr type="h" for="ch" forName="accentShape_4" refType="h" fact="0.7"/>
              <dgm:constr type="l" for="ch" forName="accentShape_5" refType="w" fact="0.6432"/>
              <dgm:constr type="t" for="ch" forName="accentShape_5" refType="h" fact="0.4"/>
              <dgm:constr type="w" for="ch" forName="accentShape_5" refType="w" fact="0.1473"/>
              <dgm:constr type="h" for="ch" forName="accentShape_5" refType="h" fact="0.6"/>
              <dgm:constr type="l" for="ch" forName="accentShape_6" refType="w" fact="0.8056"/>
              <dgm:constr type="t" for="ch" forName="accentShape_6" refType="h" fact="0.5"/>
              <dgm:constr type="w" for="ch" forName="accentShape_6" refType="w" fact="0.1473"/>
              <dgm:constr type="h" for="ch" forName="accentShape_6" refType="h" fact="0.5"/>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3"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4"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5"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6"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1"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3"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4"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5"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6" refType="w" fact="0.9101"/>
              <dgm:constr type="t" for="ch" forName="parentText_6" refType="h" fact="0.5"/>
              <dgm:constr type="w" for="ch" forName="parentText_6" refType="w" refFor="ch" refForName="accentShape_6" fact="0.26"/>
              <dgm:constr type="h" for="ch" forName="parentText_6" refType="h" refFor="ch" refForName="accentShape_6" fact="0.9"/>
            </dgm:constrLst>
          </dgm:if>
          <dgm:else name="Name25">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6" refType="w" fact="0"/>
              <dgm:constr type="t" for="ch" forName="accentShape_1" refType="h" fact="0"/>
              <dgm:constr type="w" for="ch" forName="accentShape_1" refType="w" fact="0.1473"/>
              <dgm:constr type="h" for="ch" forName="accentShape_1" refType="h"/>
              <dgm:constr type="l" for="ch" forName="accentShape_5" refType="w" fact="0.1608"/>
              <dgm:constr type="t" for="ch" forName="accentShape_2" refType="h" fact="0.1"/>
              <dgm:constr type="w" for="ch" forName="accentShape_2" refType="w" fact="0.1473"/>
              <dgm:constr type="h" for="ch" forName="accentShape_2" refType="h" fact="0.9"/>
              <dgm:constr type="l" for="ch" forName="accentShape_4" refType="w" fact="0.3216"/>
              <dgm:constr type="t" for="ch" forName="accentShape_3" refType="h" fact="0.2"/>
              <dgm:constr type="w" for="ch" forName="accentShape_3" refType="w" fact="0.1473"/>
              <dgm:constr type="h" for="ch" forName="accentShape_3" refType="h" fact="0.8"/>
              <dgm:constr type="l" for="ch" forName="accentShape_3" refType="w" fact="0.4824"/>
              <dgm:constr type="t" for="ch" forName="accentShape_4" refType="h" fact="0.3"/>
              <dgm:constr type="w" for="ch" forName="accentShape_4" refType="w" fact="0.1473"/>
              <dgm:constr type="h" for="ch" forName="accentShape_4" refType="h" fact="0.7"/>
              <dgm:constr type="l" for="ch" forName="accentShape_2" refType="w" fact="0.6432"/>
              <dgm:constr type="t" for="ch" forName="accentShape_5" refType="h" fact="0.4"/>
              <dgm:constr type="w" for="ch" forName="accentShape_5" refType="w" fact="0.1473"/>
              <dgm:constr type="h" for="ch" forName="accentShape_5" refType="h" fact="0.6"/>
              <dgm:constr type="l" for="ch" forName="accentShape_1" refType="w" fact="0.8056"/>
              <dgm:constr type="t" for="ch" forName="accentShape_6" refType="h" fact="0.5"/>
              <dgm:constr type="w" for="ch" forName="accentShape_6" refType="w" fact="0.1473"/>
              <dgm:constr type="h" for="ch" forName="accentShape_6" refType="h" fact="0.5"/>
              <dgm:constr type="l" for="ch" forName="childText_6"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5"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4"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3"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2"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1"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6"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5"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4"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3"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2"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1" refType="w" fact="0.9101"/>
              <dgm:constr type="t" for="ch" forName="parentText_6" refType="h" fact="0.5"/>
              <dgm:constr type="w" for="ch" forName="parentText_6" refType="w" refFor="ch" refForName="accentShape_6" fact="0.26"/>
              <dgm:constr type="h" for="ch" forName="parentText_6" refType="h" refFor="ch" refForName="accentShape_6" fact="0.9"/>
            </dgm:constrLst>
          </dgm:else>
        </dgm:choose>
      </dgm:if>
      <dgm:else name="Name26">
        <dgm:alg type="composite">
          <dgm:param type="ar" val="2.7874"/>
        </dgm:alg>
        <dgm:shape xmlns:r="http://schemas.openxmlformats.org/officeDocument/2006/relationships" r:blip="">
          <dgm:adjLst/>
        </dgm:shape>
        <dgm:choose name="Name27">
          <dgm:if name="Name2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1" refType="w" fact="0"/>
              <dgm:constr type="t" for="ch" forName="accentShape_1" refType="h" fact="0"/>
              <dgm:constr type="w" for="ch" forName="accentShape_1" refType="w" fact="0.1269"/>
              <dgm:constr type="h" for="ch" forName="accentShape_1" refType="h"/>
              <dgm:constr type="l" for="ch" forName="accentShape_2" refType="w" fact="0.1385"/>
              <dgm:constr type="t" for="ch" forName="accentShape_2" refType="h" fact="0.0833"/>
              <dgm:constr type="w" for="ch" forName="accentShape_2" refType="w" fact="0.1269"/>
              <dgm:constr type="h" for="ch" forName="accentShape_2" refType="h" fact="0.9165"/>
              <dgm:constr type="l" for="ch" forName="accentShape_3"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5" refType="w" fact="0.5539"/>
              <dgm:constr type="t" for="ch" forName="accentShape_5" refType="h" fact="0.3332"/>
              <dgm:constr type="w" for="ch" forName="accentShape_5" refType="w" fact="0.1269"/>
              <dgm:constr type="h" for="ch" forName="accentShape_5" refType="h" fact="0.6666"/>
              <dgm:constr type="l" for="ch" forName="accentShape_6" refType="w" fact="0.6938"/>
              <dgm:constr type="t" for="ch" forName="accentShape_6" refType="h" fact="0.4165"/>
              <dgm:constr type="w" for="ch" forName="accentShape_6" refType="w" fact="0.1269"/>
              <dgm:constr type="h" for="ch" forName="accentShape_6" refType="h" fact="0.5833"/>
              <dgm:constr type="l" for="ch" forName="accentShape_7" refType="w" fact="0.8326"/>
              <dgm:constr type="t" for="ch" forName="accentShape_7" refType="h" fact="0.5"/>
              <dgm:constr type="w" for="ch" forName="accentShape_7" refType="w" fact="0.1269"/>
              <dgm:constr type="h" for="ch" forName="accentShape_7" refType="h" fact="0.5"/>
              <dgm:constr type="l" for="ch" forName="parentText_1"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3"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5"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6"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7"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3"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5"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6"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7" refType="w" fact="0.8326"/>
              <dgm:constr type="t" for="ch" forName="childText_7" refType="h" fact="0.5"/>
              <dgm:constr type="w" for="ch" forName="childText_7" refType="w" refFor="ch" refForName="accentShape_7" fact="0.7"/>
              <dgm:constr type="h" for="ch" forName="childText_7" refType="h" refFor="ch" refForName="accentShape_7"/>
            </dgm:constrLst>
          </dgm:if>
          <dgm:else name="Name2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7" refType="w" fact="0"/>
              <dgm:constr type="t" for="ch" forName="accentShape_1" refType="h" fact="0"/>
              <dgm:constr type="w" for="ch" forName="accentShape_1" refType="w" fact="0.1269"/>
              <dgm:constr type="h" for="ch" forName="accentShape_1" refType="h"/>
              <dgm:constr type="l" for="ch" forName="accentShape_6" refType="w" fact="0.1385"/>
              <dgm:constr type="t" for="ch" forName="accentShape_2" refType="h" fact="0.0833"/>
              <dgm:constr type="w" for="ch" forName="accentShape_2" refType="w" fact="0.1269"/>
              <dgm:constr type="h" for="ch" forName="accentShape_2" refType="h" fact="0.9165"/>
              <dgm:constr type="l" for="ch" forName="accentShape_5"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3" refType="w" fact="0.5539"/>
              <dgm:constr type="t" for="ch" forName="accentShape_5" refType="h" fact="0.3332"/>
              <dgm:constr type="w" for="ch" forName="accentShape_5" refType="w" fact="0.1269"/>
              <dgm:constr type="h" for="ch" forName="accentShape_5" refType="h" fact="0.6666"/>
              <dgm:constr type="l" for="ch" forName="accentShape_2" refType="w" fact="0.6938"/>
              <dgm:constr type="t" for="ch" forName="accentShape_6" refType="h" fact="0.4165"/>
              <dgm:constr type="w" for="ch" forName="accentShape_6" refType="w" fact="0.1269"/>
              <dgm:constr type="h" for="ch" forName="accentShape_6" refType="h" fact="0.5833"/>
              <dgm:constr type="l" for="ch" forName="accentShape_1" refType="w" fact="0.8326"/>
              <dgm:constr type="t" for="ch" forName="accentShape_7" refType="h" fact="0.5"/>
              <dgm:constr type="w" for="ch" forName="accentShape_7" refType="w" fact="0.1269"/>
              <dgm:constr type="h" for="ch" forName="accentShape_7" refType="h" fact="0.5"/>
              <dgm:constr type="l" for="ch" forName="parentText_7"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6"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5"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3"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2"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1"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7"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6"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5"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3"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2"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1" refType="w" fact="0.8326"/>
              <dgm:constr type="t" for="ch" forName="childText_7" refType="h" fact="0.5"/>
              <dgm:constr type="w" for="ch" forName="childText_7" refType="w" refFor="ch" refForName="accentShape_7" fact="0.7"/>
              <dgm:constr type="h" for="ch" forName="childText_7" refType="h" refFor="ch" refForName="accentShape_7"/>
            </dgm:constrLst>
          </dgm:else>
        </dgm:choose>
      </dgm:else>
    </dgm:choose>
    <dgm:forEach name="wrapper" axis="self" ptType="parTrans">
      <dgm:forEach name="accentRepeat" axis="self">
        <dgm:layoutNode name="imageRepeatNode" styleLbl="node1">
          <dgm:alg type="sp"/>
          <dgm:shape xmlns:r="http://schemas.openxmlformats.org/officeDocument/2006/relationships" type="rect" r:blip="" zOrderOff="-10">
            <dgm:adjLst/>
          </dgm:shape>
          <dgm:presOf axis="self"/>
        </dgm:layoutNode>
      </dgm:forEach>
    </dgm:forEach>
    <dgm:forEach name="Name30" axis="ch" ptType="node" cnt="1">
      <dgm:layoutNode name="parentText_1" styleLbl="node1">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1" styleLbl="node1">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1">
        <dgm:alg type="sp"/>
        <dgm:shape xmlns:r="http://schemas.openxmlformats.org/officeDocument/2006/relationships" r:blip="">
          <dgm:adjLst/>
        </dgm:shape>
        <dgm:presOf/>
        <dgm:constrLst/>
        <dgm:forEach name="Name31" ref="accentRepeat"/>
      </dgm:layoutNode>
    </dgm:forEach>
    <dgm:forEach name="Name32" axis="ch" ptType="node" st="2" cnt="1">
      <dgm:layoutNode name="parentText_2">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2">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2">
        <dgm:alg type="sp"/>
        <dgm:shape xmlns:r="http://schemas.openxmlformats.org/officeDocument/2006/relationships" r:blip="">
          <dgm:adjLst/>
        </dgm:shape>
        <dgm:presOf/>
        <dgm:constrLst/>
        <dgm:forEach name="Name33" ref="accentRepeat"/>
      </dgm:layoutNode>
    </dgm:forEach>
    <dgm:forEach name="Name34" axis="ch" ptType="node" st="3" cnt="1">
      <dgm:layoutNode name="parentText_3">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3">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3">
        <dgm:alg type="sp"/>
        <dgm:shape xmlns:r="http://schemas.openxmlformats.org/officeDocument/2006/relationships" r:blip="">
          <dgm:adjLst/>
        </dgm:shape>
        <dgm:presOf/>
        <dgm:constrLst/>
        <dgm:forEach name="Name35" ref="accentRepeat"/>
      </dgm:layoutNode>
    </dgm:forEach>
    <dgm:forEach name="Name36" axis="ch" ptType="node" st="4" cnt="1">
      <dgm:layoutNode name="parentText_4">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4">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4">
        <dgm:alg type="sp"/>
        <dgm:shape xmlns:r="http://schemas.openxmlformats.org/officeDocument/2006/relationships" r:blip="">
          <dgm:adjLst/>
        </dgm:shape>
        <dgm:presOf/>
        <dgm:constrLst/>
        <dgm:forEach name="Name37" ref="accentRepeat"/>
      </dgm:layoutNode>
    </dgm:forEach>
    <dgm:forEach name="Name38" axis="ch" ptType="node" st="5" cnt="1">
      <dgm:layoutNode name="parentText_5">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5">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5">
        <dgm:alg type="sp"/>
        <dgm:shape xmlns:r="http://schemas.openxmlformats.org/officeDocument/2006/relationships" r:blip="">
          <dgm:adjLst/>
        </dgm:shape>
        <dgm:presOf/>
        <dgm:constrLst/>
        <dgm:forEach name="Name39" ref="accentRepeat"/>
      </dgm:layoutNode>
    </dgm:forEach>
    <dgm:forEach name="Name40" axis="ch" ptType="node" st="6" cnt="1">
      <dgm:layoutNode name="parentText_6">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6">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6">
        <dgm:alg type="sp"/>
        <dgm:shape xmlns:r="http://schemas.openxmlformats.org/officeDocument/2006/relationships" r:blip="">
          <dgm:adjLst/>
        </dgm:shape>
        <dgm:presOf/>
        <dgm:constrLst/>
        <dgm:forEach name="Name41" ref="accentRepeat"/>
      </dgm:layoutNode>
    </dgm:forEach>
    <dgm:forEach name="Name42" axis="ch" ptType="node" st="7" cnt="1">
      <dgm:layoutNode name="parentText_7">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7">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7">
        <dgm:alg type="sp"/>
        <dgm:shape xmlns:r="http://schemas.openxmlformats.org/officeDocument/2006/relationships" r:blip="">
          <dgm:adjLst/>
        </dgm:shape>
        <dgm:presOf/>
        <dgm:constrLst/>
        <dgm:forEach name="Name43"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pPr/>
              <a:t>2/26/2026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pPr/>
              <a:t>‹#›</a:t>
            </a:fld>
            <a:endParaRPr lang="en-US"/>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pPr/>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685213"/>
            <a:ext cx="5463251" cy="458787"/>
          </a:xfrm>
          <a:prstGeom prst="rect">
            <a:avLst/>
          </a:prstGeom>
        </p:spPr>
        <p:txBody>
          <a:bodyPr vert="horz" lIns="91440" tIns="45720" rIns="91440" bIns="45720" rtlCol="0" anchor="b"/>
          <a:lstStyle>
            <a:lvl1pPr algn="l">
              <a:defRPr sz="800">
                <a:solidFill>
                  <a:schemeClr val="tx1"/>
                </a:solidFill>
                <a:latin typeface="Amazon Ember" panose="02000000000000000000" pitchFamily="2" charset="0"/>
                <a:ea typeface="Amazon Ember" panose="02000000000000000000" pitchFamily="2" charset="0"/>
              </a:defRPr>
            </a:lvl1pPr>
          </a:lstStyle>
          <a:p>
            <a:r>
              <a:rPr lang="en-US">
                <a:solidFill>
                  <a:schemeClr val="bg1"/>
                </a:solidFill>
              </a:rPr>
              <a:t>© 2019 Amazon Web Services, Inc. or its Affiliates. All rights reserved</a:t>
            </a:r>
            <a:r>
              <a:rPr lang="en-US"/>
              <a: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solidFill>
                  <a:schemeClr val="bg1"/>
                </a:solidFill>
                <a:latin typeface="Amazon Ember" panose="02000000000000000000" pitchFamily="2" charset="0"/>
                <a:ea typeface="Amazon Ember" panose="02000000000000000000" pitchFamily="2" charset="0"/>
              </a:defRPr>
            </a:lvl1pPr>
          </a:lstStyle>
          <a:p>
            <a:fld id="{FE092397-0699-5249-96BB-FDA4CA85BF35}" type="slidenum">
              <a:rPr lang="en-US" smtClean="0"/>
              <a:pPr/>
              <a:t>‹#›</a:t>
            </a:fld>
            <a:endParaRPr lang="en-US"/>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ws.amazon.com/blogs/networking-and-content-delivery/using-static-ip-addresses-for-application-load-balancer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ws.amazon.com/elasticloadbalancing/features/#compar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aws.amazon.com/elasticloadbalancing/latest/application/introduction.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docs.aws.amazon.com/AWSEC2/latest/UserGuide/monitoring-system-instance-status-check.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ocs.aws.amazon.com/autoscaling/ec2/userguide/healthcheck.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docs.aws.amazon.com/elasticloadbalancing/latest/application/target-group-health-checks.html"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docs.aws.amazon.com/AutoScaling/latest/DeveloperGuide/AutoScalingGroupLifecycle.html"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ocs.aws.amazon.com/Route53/latest/DeveloperGuide/routing-policy.html"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Welcome to Module 4: Computing (Scaling and Name Resolution).</a:t>
            </a:r>
            <a:endParaRPr lang="en-US">
              <a:latin typeface="Arial"/>
              <a:cs typeface="Arial"/>
            </a:endParaRPr>
          </a:p>
        </p:txBody>
      </p:sp>
    </p:spTree>
    <p:extLst>
      <p:ext uri="{BB962C8B-B14F-4D97-AF65-F5344CB8AC3E}">
        <p14:creationId xmlns:p14="http://schemas.microsoft.com/office/powerpoint/2010/main" val="2203446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kern="1200">
                <a:solidFill>
                  <a:schemeClr val="tx1"/>
                </a:solidFill>
                <a:effectLst/>
                <a:latin typeface="+mn-lt"/>
                <a:ea typeface="+mn-ea"/>
                <a:cs typeface="+mn-cs"/>
              </a:rPr>
              <a:t>At the end of this module, you will be able to:</a:t>
            </a:r>
          </a:p>
          <a:p>
            <a:endParaRPr lang="en-US" sz="1000" kern="1200">
              <a:solidFill>
                <a:schemeClr val="tx1"/>
              </a:solidFill>
              <a:effectLst/>
              <a:latin typeface="+mn-lt"/>
              <a:ea typeface="+mn-ea"/>
              <a:cs typeface="+mn-cs"/>
            </a:endParaRPr>
          </a:p>
          <a:p>
            <a:pPr marL="171450" lvl="0" indent="-171450">
              <a:buFont typeface="Arial" panose="020B0604020202020204" pitchFamily="34" charset="0"/>
              <a:buChar char="•"/>
            </a:pPr>
            <a:r>
              <a:rPr lang="en-US" sz="1000" b="1"/>
              <a:t>Describe</a:t>
            </a:r>
            <a:r>
              <a:rPr lang="en-US" sz="1000"/>
              <a:t> Elastic Load Balancing features.</a:t>
            </a:r>
          </a:p>
          <a:p>
            <a:pPr marL="171450" lvl="0" indent="-171450">
              <a:buFont typeface="Arial" panose="020B0604020202020204" pitchFamily="34" charset="0"/>
              <a:buChar char="•"/>
            </a:pPr>
            <a:r>
              <a:rPr lang="en-US" sz="1000" b="1"/>
              <a:t>Differentiate</a:t>
            </a:r>
            <a:r>
              <a:rPr lang="en-US" sz="1000"/>
              <a:t> the types of ELB load balancers.</a:t>
            </a:r>
          </a:p>
          <a:p>
            <a:pPr marL="171450" lvl="0" indent="-171450">
              <a:buFont typeface="Arial" panose="020B0604020202020204" pitchFamily="34" charset="0"/>
              <a:buChar char="•"/>
            </a:pPr>
            <a:r>
              <a:rPr lang="en-US" sz="1000" b="1"/>
              <a:t>Describe</a:t>
            </a:r>
            <a:r>
              <a:rPr lang="en-US" sz="1000"/>
              <a:t> Amazon EC2 Auto Scaling and launch configurations.</a:t>
            </a:r>
          </a:p>
          <a:p>
            <a:pPr marL="171450" lvl="0" indent="-171450">
              <a:buFont typeface="Arial" panose="020B0604020202020204" pitchFamily="34" charset="0"/>
              <a:buChar char="•"/>
            </a:pPr>
            <a:r>
              <a:rPr lang="en-US" sz="1000" b="1"/>
              <a:t>Use</a:t>
            </a:r>
            <a:r>
              <a:rPr lang="en-US" sz="1000"/>
              <a:t> EC2 Auto Scaling in AWS.</a:t>
            </a:r>
          </a:p>
          <a:p>
            <a:pPr marL="171450" lvl="0" indent="-171450">
              <a:buFont typeface="Arial" panose="020B0604020202020204" pitchFamily="34" charset="0"/>
              <a:buChar char="•"/>
            </a:pPr>
            <a:r>
              <a:rPr lang="en-US" sz="1000" b="1"/>
              <a:t>Describe</a:t>
            </a:r>
            <a:r>
              <a:rPr lang="en-US" sz="1000"/>
              <a:t> Amazon Route 53 features and routing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1"/>
              <a:t>Configure</a:t>
            </a:r>
            <a:r>
              <a:rPr lang="en-US" sz="1000"/>
              <a:t> failover routing.</a:t>
            </a:r>
          </a:p>
          <a:p>
            <a:pPr marL="0" lvl="0" indent="0">
              <a:buFont typeface="Arial" panose="020B0604020202020204" pitchFamily="34" charset="0"/>
              <a:buNone/>
            </a:pPr>
            <a:endParaRPr lang="en-US" sz="1000" kern="1200">
              <a:solidFill>
                <a:schemeClr val="tx1"/>
              </a:solidFill>
              <a:effectLst/>
              <a:latin typeface="+mn-lt"/>
              <a:ea typeface="+mn-ea"/>
              <a:cs typeface="+mn-cs"/>
            </a:endParaRPr>
          </a:p>
          <a:p>
            <a:r>
              <a:rPr lang="en-US" sz="1000" kern="1200">
                <a:solidFill>
                  <a:schemeClr val="tx1"/>
                </a:solidFill>
                <a:effectLst/>
                <a:latin typeface="+mn-lt"/>
                <a:ea typeface="+mn-ea"/>
                <a:cs typeface="+mn-cs"/>
              </a:rPr>
              <a:t>After this overview, you will have the opportunity to complete a knowledge check. </a:t>
            </a:r>
          </a:p>
        </p:txBody>
      </p:sp>
    </p:spTree>
    <p:extLst>
      <p:ext uri="{BB962C8B-B14F-4D97-AF65-F5344CB8AC3E}">
        <p14:creationId xmlns:p14="http://schemas.microsoft.com/office/powerpoint/2010/main" val="1940290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1"/>
            <a:ext cx="5608319" cy="4540832"/>
          </a:xfrm>
        </p:spPr>
        <p:txBody>
          <a:bodyPr/>
          <a:lstStyle/>
          <a:p>
            <a:pPr>
              <a:spcAft>
                <a:spcPts val="964"/>
              </a:spcAft>
            </a:pPr>
            <a:r>
              <a:rPr lang="en-US" sz="1000" b="0">
                <a:latin typeface="+mn-lt"/>
                <a:cs typeface="Arial"/>
              </a:rPr>
              <a:t>In a traditional data center environment, the</a:t>
            </a:r>
            <a:r>
              <a:rPr lang="en-US" sz="1000" b="0" baseline="0">
                <a:latin typeface="+mn-lt"/>
                <a:cs typeface="Arial"/>
              </a:rPr>
              <a:t> scalability of your system is bound by your </a:t>
            </a:r>
            <a:r>
              <a:rPr lang="en-US" sz="1000" b="0" i="1" baseline="0">
                <a:latin typeface="+mn-lt"/>
                <a:cs typeface="Arial"/>
              </a:rPr>
              <a:t>hardware</a:t>
            </a:r>
            <a:r>
              <a:rPr lang="en-US" sz="1000" b="0" baseline="0">
                <a:latin typeface="+mn-lt"/>
                <a:cs typeface="Arial"/>
              </a:rPr>
              <a:t>. Take the example of a tax preparation business in the United States. US taxpayers must file their taxes by April 15. </a:t>
            </a:r>
          </a:p>
          <a:p>
            <a:pPr marL="171450" indent="-171450">
              <a:spcAft>
                <a:spcPts val="964"/>
              </a:spcAft>
              <a:buFont typeface="Arial" panose="020B0604020202020204" pitchFamily="34" charset="0"/>
              <a:buChar char="•"/>
            </a:pPr>
            <a:r>
              <a:rPr lang="en-US" sz="1000" b="0" baseline="0">
                <a:latin typeface="+mn-lt"/>
                <a:cs typeface="Arial"/>
              </a:rPr>
              <a:t>Online tax preparation companies know that they will experience a steady flow of traffic starting near the middle of January, with traffic peaking close to the April 15 deadline. </a:t>
            </a:r>
          </a:p>
          <a:p>
            <a:pPr marL="171450" indent="-171450">
              <a:spcAft>
                <a:spcPts val="964"/>
              </a:spcAft>
              <a:buFont typeface="Arial" panose="020B0604020202020204" pitchFamily="34" charset="0"/>
              <a:buChar char="•"/>
            </a:pPr>
            <a:r>
              <a:rPr lang="en-US" sz="1000" b="0" baseline="0">
                <a:latin typeface="+mn-lt"/>
                <a:cs typeface="Arial"/>
              </a:rPr>
              <a:t>In a data center, anticipating this 4 month period of heavy utilization requires provisioning enough physical servers to handle the anticipated load. </a:t>
            </a:r>
          </a:p>
          <a:p>
            <a:pPr marL="0" indent="0">
              <a:spcAft>
                <a:spcPts val="964"/>
              </a:spcAft>
              <a:buFont typeface="Arial" panose="020B0604020202020204" pitchFamily="34" charset="0"/>
              <a:buNone/>
            </a:pPr>
            <a:r>
              <a:rPr lang="en-US" sz="1000" b="0" baseline="0">
                <a:latin typeface="+mn-lt"/>
                <a:cs typeface="Arial"/>
              </a:rPr>
              <a:t>However, what happens to those servers during the rest of the year? They sit idle in the data center.</a:t>
            </a:r>
          </a:p>
          <a:p>
            <a:pPr>
              <a:spcAft>
                <a:spcPts val="964"/>
              </a:spcAft>
            </a:pPr>
            <a:r>
              <a:rPr lang="en-US" sz="1000" b="0">
                <a:latin typeface="+mn-lt"/>
                <a:cs typeface="Arial"/>
              </a:rPr>
              <a:t>In the </a:t>
            </a:r>
            <a:r>
              <a:rPr lang="en-US" sz="1000" b="0" i="1">
                <a:latin typeface="+mn-lt"/>
                <a:cs typeface="Arial"/>
              </a:rPr>
              <a:t>cloud</a:t>
            </a:r>
            <a:r>
              <a:rPr lang="en-US" sz="1000" b="0">
                <a:latin typeface="+mn-lt"/>
                <a:cs typeface="Arial"/>
              </a:rPr>
              <a:t>, because computing power is a programmatic resource,</a:t>
            </a:r>
            <a:r>
              <a:rPr lang="en-US" sz="1000" b="0" baseline="0">
                <a:latin typeface="+mn-lt"/>
                <a:cs typeface="Arial"/>
              </a:rPr>
              <a:t> you can take a more flexible approach to the issue of scaling. You can: </a:t>
            </a:r>
          </a:p>
          <a:p>
            <a:pPr marL="171450" indent="-171450">
              <a:spcAft>
                <a:spcPts val="964"/>
              </a:spcAft>
              <a:buFont typeface="Arial" panose="020B0604020202020204" pitchFamily="34" charset="0"/>
              <a:buChar char="•"/>
            </a:pPr>
            <a:r>
              <a:rPr lang="en-US" sz="1000" b="0" baseline="0">
                <a:latin typeface="+mn-lt"/>
                <a:cs typeface="Arial"/>
              </a:rPr>
              <a:t>Create new Amazon Elastic Compute Cloud (Amazon EC2) instances in advance of known peak periods in a business cycle (such as tax filing deadlines). </a:t>
            </a:r>
          </a:p>
          <a:p>
            <a:pPr marL="171450" indent="-171450">
              <a:spcAft>
                <a:spcPts val="964"/>
              </a:spcAft>
              <a:buFont typeface="Arial" panose="020B0604020202020204" pitchFamily="34" charset="0"/>
              <a:buChar char="•"/>
            </a:pPr>
            <a:r>
              <a:rPr lang="en-US" sz="1000" b="0" baseline="0">
                <a:latin typeface="+mn-lt"/>
                <a:cs typeface="Arial"/>
              </a:rPr>
              <a:t>Use monitoring, and </a:t>
            </a:r>
            <a:r>
              <a:rPr lang="en-US" sz="1000" b="0" i="1" baseline="0">
                <a:latin typeface="+mn-lt"/>
                <a:cs typeface="Arial"/>
              </a:rPr>
              <a:t>programmatically scale out servers </a:t>
            </a:r>
            <a:r>
              <a:rPr lang="en-US" sz="1000" b="0" baseline="0">
                <a:latin typeface="+mn-lt"/>
                <a:cs typeface="Arial"/>
              </a:rPr>
              <a:t>when critical resources—such as average CPU utilization across the fleet—become constrained. </a:t>
            </a:r>
          </a:p>
          <a:p>
            <a:pPr marL="171450" indent="-171450">
              <a:spcAft>
                <a:spcPts val="964"/>
              </a:spcAft>
              <a:buFont typeface="Arial" panose="020B0604020202020204" pitchFamily="34" charset="0"/>
              <a:buChar char="•"/>
            </a:pPr>
            <a:r>
              <a:rPr lang="en-US" sz="1000" b="0" baseline="0">
                <a:latin typeface="+mn-lt"/>
                <a:cs typeface="Arial"/>
              </a:rPr>
              <a:t>Automatically </a:t>
            </a:r>
            <a:r>
              <a:rPr lang="en-US" sz="1000" b="0" i="1" baseline="0">
                <a:latin typeface="+mn-lt"/>
                <a:cs typeface="Arial"/>
              </a:rPr>
              <a:t>scale in </a:t>
            </a:r>
            <a:r>
              <a:rPr lang="en-US" sz="1000" b="0" baseline="0">
                <a:latin typeface="+mn-lt"/>
                <a:cs typeface="Arial"/>
              </a:rPr>
              <a:t>the number of resources that are used during peak times when demand for the business returns to their baseline. </a:t>
            </a:r>
          </a:p>
          <a:p>
            <a:pPr>
              <a:spcAft>
                <a:spcPts val="964"/>
              </a:spcAft>
            </a:pPr>
            <a:r>
              <a:rPr lang="en-US" sz="1000" b="0" baseline="0">
                <a:latin typeface="+mn-lt"/>
                <a:cs typeface="Arial"/>
              </a:rPr>
              <a:t>In other words, you pay for the resources you need, when you need them.</a:t>
            </a:r>
          </a:p>
          <a:p>
            <a:pPr>
              <a:spcAft>
                <a:spcPts val="964"/>
              </a:spcAft>
            </a:pPr>
            <a:r>
              <a:rPr lang="en-US" sz="1000" b="0" baseline="0">
                <a:latin typeface="+mn-lt"/>
                <a:cs typeface="Arial"/>
              </a:rPr>
              <a:t> What is required to implement such a system? You will now see how several AWS services can be used together to create a scalable, on-demand architecture. </a:t>
            </a:r>
            <a:endParaRPr lang="en-US" sz="1000" b="0">
              <a:latin typeface="+mn-lt"/>
              <a:cs typeface="Arial"/>
            </a:endParaRPr>
          </a:p>
        </p:txBody>
      </p:sp>
    </p:spTree>
    <p:extLst>
      <p:ext uri="{BB962C8B-B14F-4D97-AF65-F5344CB8AC3E}">
        <p14:creationId xmlns:p14="http://schemas.microsoft.com/office/powerpoint/2010/main" val="512001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a:solidFill>
                  <a:schemeClr val="tx1"/>
                </a:solidFill>
                <a:effectLst/>
              </a:rPr>
              <a:t>This module will discuss Route 53, Elastic Load Balancing, and Auto Scaling groups.</a:t>
            </a:r>
          </a:p>
          <a:p>
            <a:endParaRPr lang="en-US" sz="1000" b="0" i="0" kern="120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t>Amazon Route 53 </a:t>
            </a:r>
            <a:r>
              <a:rPr lang="en-US" sz="1000"/>
              <a:t>is a highly available and scalable cloud Domain Name System (DNS) web service.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It is designed to give developers and businesses a reliable way to route end users to internet applications by translating names (like www.example.com) into the numeric IP addresses (like 192.0.2.1) that computers use to connect to each other.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Route 53 entries are often configured to point to an ELB load balancer.</a:t>
            </a:r>
          </a:p>
          <a:p>
            <a:endParaRPr lang="en-US" sz="1000" b="1" i="0" kern="1200">
              <a:solidFill>
                <a:schemeClr val="tx1"/>
              </a:solidFill>
              <a:effectLst/>
            </a:endParaRPr>
          </a:p>
          <a:p>
            <a:r>
              <a:rPr lang="en-US" sz="1000" b="1" i="0" kern="1200">
                <a:solidFill>
                  <a:schemeClr val="tx1"/>
                </a:solidFill>
                <a:effectLst/>
              </a:rPr>
              <a:t>Elastic Load Balancing </a:t>
            </a:r>
            <a:r>
              <a:rPr lang="en-US" sz="1000" b="0" i="0" kern="1200">
                <a:solidFill>
                  <a:schemeClr val="tx1"/>
                </a:solidFill>
                <a:effectLst/>
              </a:rPr>
              <a:t>(ELB) automatically distributes incoming application traffic across multiple targets, such as EC2 instances, containers, IP addresses, and Lambda functions.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It can handle the varying load of your application traffic in a single Availability Zone or across multiple Availability Zones.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ELB provides three types of load balancers that all offer high availability, automatic scaling, and security to support making applications fault-tolerant.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ELB load balancers are often configured to point to Auto Scaling groups.</a:t>
            </a:r>
          </a:p>
          <a:p>
            <a:endParaRPr lang="en-US" sz="1000" b="0" i="0" kern="1200">
              <a:solidFill>
                <a:schemeClr val="tx1"/>
              </a:solidFill>
              <a:effectLst/>
            </a:endParaRPr>
          </a:p>
          <a:p>
            <a:r>
              <a:rPr lang="en-US" sz="1000" b="0" i="0" kern="1200">
                <a:solidFill>
                  <a:schemeClr val="tx1"/>
                </a:solidFill>
                <a:effectLst/>
              </a:rPr>
              <a:t>Each </a:t>
            </a:r>
            <a:r>
              <a:rPr lang="en-US" sz="1000" b="1" i="0" kern="1200">
                <a:solidFill>
                  <a:schemeClr val="tx1"/>
                </a:solidFill>
                <a:effectLst/>
              </a:rPr>
              <a:t>Auto Scaling group </a:t>
            </a:r>
            <a:r>
              <a:rPr lang="en-US" sz="1000" b="0" i="0" kern="1200">
                <a:solidFill>
                  <a:schemeClr val="tx1"/>
                </a:solidFill>
                <a:effectLst/>
              </a:rPr>
              <a:t>contains a collection of EC2 instances that share similar characteristics and are treated as a logical grouping for the purposes of scaling and management.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They help you maintain application availability, and allow you to dynamically scale capacity up or down automatically according to conditions that you define. </a:t>
            </a:r>
          </a:p>
          <a:p>
            <a:endParaRPr lang="en-US" sz="1000"/>
          </a:p>
        </p:txBody>
      </p:sp>
    </p:spTree>
    <p:extLst>
      <p:ext uri="{BB962C8B-B14F-4D97-AF65-F5344CB8AC3E}">
        <p14:creationId xmlns:p14="http://schemas.microsoft.com/office/powerpoint/2010/main" val="423565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US" sz="1000"/>
              <a:t>The module will now explore Elastic</a:t>
            </a:r>
            <a:r>
              <a:rPr lang="en-US" sz="1000" baseline="0"/>
              <a:t> Load Balancing.</a:t>
            </a:r>
            <a:endParaRPr lang="en-US" sz="1000"/>
          </a:p>
          <a:p>
            <a:pPr eaLnBrk="1" hangingPunct="1"/>
            <a:endParaRPr lang="en-US" sz="1000">
              <a:latin typeface="Arial"/>
              <a:cs typeface="Arial"/>
            </a:endParaRPr>
          </a:p>
        </p:txBody>
      </p:sp>
    </p:spTree>
    <p:extLst>
      <p:ext uri="{BB962C8B-B14F-4D97-AF65-F5344CB8AC3E}">
        <p14:creationId xmlns:p14="http://schemas.microsoft.com/office/powerpoint/2010/main" val="1266611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effectLst/>
                <a:latin typeface="Calibri" panose="020F0502020204030204" pitchFamily="34" charset="0"/>
              </a:rPr>
              <a:t>Elastic load balancing is a common characteristic of web application deployments. The Elastic Load Balancing (ELB) service routes client requests across multiple EC2 instances or Amazon Elastic Container Service (Amazon</a:t>
            </a:r>
            <a:r>
              <a:rPr lang="en-US" sz="1000" kern="1200" baseline="0">
                <a:solidFill>
                  <a:schemeClr val="tx1"/>
                </a:solidFill>
                <a:effectLst/>
                <a:latin typeface="Calibri" panose="020F0502020204030204" pitchFamily="34" charset="0"/>
              </a:rPr>
              <a:t> </a:t>
            </a:r>
            <a:r>
              <a:rPr lang="en-US" sz="1000" kern="1200">
                <a:solidFill>
                  <a:schemeClr val="tx1"/>
                </a:solidFill>
                <a:effectLst/>
                <a:latin typeface="Calibri" panose="020F0502020204030204" pitchFamily="34" charset="0"/>
              </a:rPr>
              <a:t>ECS) containers that are running your web application, and in this way, it balances the load.</a:t>
            </a:r>
          </a:p>
          <a:p>
            <a:endParaRPr lang="en-US" sz="10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baseline="0">
                <a:solidFill>
                  <a:schemeClr val="bg2">
                    <a:lumMod val="10000"/>
                  </a:schemeClr>
                </a:solidFill>
                <a:latin typeface="Calibri" panose="020F0502020204030204" pitchFamily="34" charset="0"/>
              </a:rPr>
              <a:t>Using </a:t>
            </a:r>
            <a:r>
              <a:rPr lang="en-US" sz="1000" b="0" i="1" kern="1200" baseline="0">
                <a:solidFill>
                  <a:schemeClr val="bg2">
                    <a:lumMod val="10000"/>
                  </a:schemeClr>
                </a:solidFill>
                <a:latin typeface="Calibri" panose="020F0502020204030204" pitchFamily="34" charset="0"/>
              </a:rPr>
              <a:t>Cross-zone Load Balancing</a:t>
            </a:r>
            <a:r>
              <a:rPr lang="en-US" sz="1000" b="0" kern="1200" baseline="0">
                <a:solidFill>
                  <a:schemeClr val="bg2">
                    <a:lumMod val="10000"/>
                  </a:schemeClr>
                </a:solidFill>
                <a:latin typeface="Calibri" panose="020F0502020204030204" pitchFamily="34" charset="0"/>
              </a:rPr>
              <a:t>, the need to maintain multiple instances in one AZ can be reduced, as it is balanced over other AZs. This also provides the added benefit of </a:t>
            </a:r>
            <a:r>
              <a:rPr lang="en-US" sz="1000" b="0" i="1" kern="1200" baseline="0">
                <a:solidFill>
                  <a:schemeClr val="bg2">
                    <a:lumMod val="10000"/>
                  </a:schemeClr>
                </a:solidFill>
                <a:latin typeface="Calibri" panose="020F0502020204030204" pitchFamily="34" charset="0"/>
              </a:rPr>
              <a:t>fault tolerance </a:t>
            </a:r>
            <a:r>
              <a:rPr lang="en-US" sz="1000" b="0" kern="1200" baseline="0">
                <a:solidFill>
                  <a:schemeClr val="bg2">
                    <a:lumMod val="10000"/>
                  </a:schemeClr>
                </a:solidFill>
                <a:latin typeface="Calibri" panose="020F0502020204030204" pitchFamily="34" charset="0"/>
              </a:rPr>
              <a:t>and eliminates </a:t>
            </a:r>
            <a:r>
              <a:rPr lang="en-US" sz="1000">
                <a:solidFill>
                  <a:schemeClr val="bg2">
                    <a:lumMod val="10000"/>
                  </a:schemeClr>
                </a:solidFill>
                <a:latin typeface="Calibri" panose="020F0502020204030204" pitchFamily="34" charset="0"/>
              </a:rPr>
              <a:t>imbalances in back-end instance utilization</a:t>
            </a:r>
            <a:r>
              <a:rPr lang="en-US" sz="1000" b="0" kern="1200" baseline="0">
                <a:solidFill>
                  <a:schemeClr val="bg2">
                    <a:lumMod val="10000"/>
                  </a:schemeClr>
                </a:solidFill>
                <a:latin typeface="Calibri" panose="020F0502020204030204" pitchFamily="34" charset="0"/>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0" kern="1200" baseline="0">
              <a:solidFill>
                <a:schemeClr val="bg2">
                  <a:lumMod val="10000"/>
                </a:schemeClr>
              </a:solidFill>
              <a:latin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kern="1200" baseline="0">
                <a:solidFill>
                  <a:schemeClr val="bg2">
                    <a:lumMod val="10000"/>
                  </a:schemeClr>
                </a:solidFill>
                <a:latin typeface="Calibri" panose="020F0502020204030204" pitchFamily="34" charset="0"/>
              </a:rPr>
              <a:t>This can be accomplished through its use being enabled by default on all </a:t>
            </a:r>
            <a:r>
              <a:rPr lang="en-US" sz="1000" b="0" kern="1200">
                <a:solidFill>
                  <a:schemeClr val="bg2">
                    <a:lumMod val="10000"/>
                  </a:schemeClr>
                </a:solidFill>
                <a:latin typeface="Calibri" panose="020F0502020204030204" pitchFamily="34" charset="0"/>
              </a:rPr>
              <a:t>Application load balancers</a:t>
            </a:r>
            <a:r>
              <a:rPr lang="en-US" sz="1000" b="0" kern="1200" baseline="0">
                <a:solidFill>
                  <a:schemeClr val="bg2">
                    <a:lumMod val="10000"/>
                  </a:schemeClr>
                </a:solidFill>
                <a:latin typeface="Calibri" panose="020F0502020204030204" pitchFamily="34" charset="0"/>
              </a:rPr>
              <a:t> and using </a:t>
            </a:r>
            <a:r>
              <a:rPr lang="en-US" sz="1000" b="1" kern="1200" baseline="0">
                <a:solidFill>
                  <a:schemeClr val="bg2">
                    <a:lumMod val="10000"/>
                  </a:schemeClr>
                </a:solidFill>
                <a:latin typeface="Calibri" panose="020F0502020204030204" pitchFamily="34" charset="0"/>
              </a:rPr>
              <a:t>Health Checks </a:t>
            </a:r>
            <a:r>
              <a:rPr lang="en-US" sz="1000" b="0" kern="1200" baseline="0">
                <a:solidFill>
                  <a:schemeClr val="bg2">
                    <a:lumMod val="10000"/>
                  </a:schemeClr>
                </a:solidFill>
                <a:latin typeface="Calibri" panose="020F0502020204030204" pitchFamily="34" charset="0"/>
              </a:rPr>
              <a:t>to shift traffic, as needed.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kern="1200" baseline="0">
              <a:solidFill>
                <a:schemeClr val="bg2">
                  <a:lumMod val="10000"/>
                </a:schemeClr>
              </a:solidFill>
              <a:latin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kern="1200" baseline="0">
                <a:solidFill>
                  <a:schemeClr val="bg2">
                    <a:lumMod val="10000"/>
                  </a:schemeClr>
                </a:solidFill>
                <a:latin typeface="Calibri" panose="020F0502020204030204" pitchFamily="34" charset="0"/>
              </a:rPr>
              <a:t>The load balancer also </a:t>
            </a:r>
            <a:r>
              <a:rPr lang="en-US" sz="1000">
                <a:solidFill>
                  <a:schemeClr val="bg2">
                    <a:lumMod val="10000"/>
                  </a:schemeClr>
                </a:solidFill>
                <a:latin typeface="Calibri" panose="020F0502020204030204" pitchFamily="34" charset="0"/>
              </a:rPr>
              <a:t>absorbs impact of DNS caching</a:t>
            </a:r>
            <a:r>
              <a:rPr lang="en-US" sz="1000" baseline="0">
                <a:solidFill>
                  <a:schemeClr val="bg2">
                    <a:lumMod val="10000"/>
                  </a:schemeClr>
                </a:solidFill>
                <a:latin typeface="Calibri" panose="020F0502020204030204" pitchFamily="34" charset="0"/>
              </a:rPr>
              <a:t> and there is no </a:t>
            </a:r>
            <a:r>
              <a:rPr lang="en-US" sz="1000">
                <a:solidFill>
                  <a:schemeClr val="bg2">
                    <a:lumMod val="10000"/>
                  </a:schemeClr>
                </a:solidFill>
                <a:latin typeface="Calibri" panose="020F0502020204030204" pitchFamily="34" charset="0"/>
              </a:rPr>
              <a:t>additional bandwidth charge for cross-zone traffic.</a:t>
            </a:r>
          </a:p>
          <a:p>
            <a:endParaRPr lang="en-US" sz="1000"/>
          </a:p>
          <a:p>
            <a:pPr marL="0" marR="0" lvl="0" indent="0" algn="l" defTabSz="457200" rtl="0" eaLnBrk="1" fontAlgn="auto" latinLnBrk="0" hangingPunct="1">
              <a:lnSpc>
                <a:spcPct val="100000"/>
              </a:lnSpc>
              <a:spcBef>
                <a:spcPts val="0"/>
              </a:spcBef>
              <a:buClrTx/>
              <a:buSzTx/>
              <a:buFontTx/>
              <a:buNone/>
              <a:tabLst/>
              <a:defRPr/>
            </a:pPr>
            <a:r>
              <a:rPr lang="en-US" sz="1000"/>
              <a:t>When you configure an ELB load balancer, which is part of the Amazon EC2 service in the AWS Management Console, you can choose from three types of load balancers: </a:t>
            </a:r>
          </a:p>
          <a:p>
            <a:pPr marL="171450" marR="0" lvl="0"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a:p>
          <a:p>
            <a:pPr marL="628650" lvl="1" indent="-171450" defTabSz="457200">
              <a:buFont typeface="Arial" panose="020B0604020202020204" pitchFamily="34" charset="0"/>
              <a:buChar char="•"/>
              <a:defRPr/>
            </a:pPr>
            <a:r>
              <a:rPr lang="en-US" sz="1000"/>
              <a:t>Application Load Balancers</a:t>
            </a:r>
          </a:p>
          <a:p>
            <a:pPr marL="628650" lvl="1" indent="-171450" defTabSz="457200">
              <a:buFont typeface="Arial" panose="020B0604020202020204" pitchFamily="34" charset="0"/>
              <a:buChar char="•"/>
              <a:defRPr/>
            </a:pPr>
            <a:endParaRPr lang="en-US" sz="1000"/>
          </a:p>
          <a:p>
            <a:pPr marL="628650" lvl="1" indent="-171450" defTabSz="457200">
              <a:buFont typeface="Arial" panose="020B0604020202020204" pitchFamily="34" charset="0"/>
              <a:buChar char="•"/>
              <a:defRPr/>
            </a:pPr>
            <a:r>
              <a:rPr lang="en-US" sz="1000"/>
              <a:t>Network Load Balancers</a:t>
            </a:r>
          </a:p>
          <a:p>
            <a:pPr marL="628650" lvl="1" indent="-171450" defTabSz="457200">
              <a:buFont typeface="Arial" panose="020B0604020202020204" pitchFamily="34" charset="0"/>
              <a:buChar char="•"/>
              <a:defRPr/>
            </a:pPr>
            <a:endParaRPr lang="en-US" sz="1000"/>
          </a:p>
          <a:p>
            <a:pPr marL="628650" lvl="1" indent="-171450" defTabSz="457200">
              <a:buFont typeface="Arial" panose="020B0604020202020204" pitchFamily="34" charset="0"/>
              <a:buChar char="•"/>
              <a:defRPr/>
            </a:pPr>
            <a:r>
              <a:rPr lang="en-US" sz="1000"/>
              <a:t>Classic Load Balancers</a:t>
            </a:r>
          </a:p>
          <a:p>
            <a:pPr marL="171450" marR="0" lvl="0"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a:p>
          <a:p>
            <a:pPr marL="0" marR="0" lvl="0" indent="0" algn="l" defTabSz="457200" rtl="0" eaLnBrk="1" fontAlgn="auto" latinLnBrk="0" hangingPunct="1">
              <a:lnSpc>
                <a:spcPct val="100000"/>
              </a:lnSpc>
              <a:spcBef>
                <a:spcPts val="0"/>
              </a:spcBef>
              <a:buClrTx/>
              <a:buSzTx/>
              <a:buFont typeface="Arial" panose="020B0604020202020204" pitchFamily="34" charset="0"/>
              <a:buNone/>
              <a:tabLst/>
              <a:defRPr/>
            </a:pPr>
            <a:r>
              <a:rPr lang="en-US" sz="1000"/>
              <a:t>Select a load balancer based on your needs. Let’s explore more about</a:t>
            </a:r>
            <a:r>
              <a:rPr lang="en-US" sz="1000" baseline="0"/>
              <a:t> each load balancer.</a:t>
            </a:r>
            <a:r>
              <a:rPr lang="en-US" sz="1000"/>
              <a:t> </a:t>
            </a:r>
          </a:p>
          <a:p>
            <a:endParaRPr lang="en-US" sz="1000"/>
          </a:p>
        </p:txBody>
      </p:sp>
    </p:spTree>
    <p:extLst>
      <p:ext uri="{BB962C8B-B14F-4D97-AF65-F5344CB8AC3E}">
        <p14:creationId xmlns:p14="http://schemas.microsoft.com/office/powerpoint/2010/main" val="3433002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799" y="4358244"/>
            <a:ext cx="5486401" cy="4306070"/>
          </a:xfrm>
        </p:spPr>
        <p:txBody>
          <a:bodyPr/>
          <a:lstStyle/>
          <a:p>
            <a:pPr marR="0" lvl="0" algn="l" defTabSz="457200" rtl="0" eaLnBrk="1" fontAlgn="auto" latinLnBrk="0" hangingPunct="1">
              <a:lnSpc>
                <a:spcPct val="100000"/>
              </a:lnSpc>
              <a:spcBef>
                <a:spcPts val="0"/>
              </a:spcBef>
              <a:buClrTx/>
              <a:buSzTx/>
              <a:tabLst/>
              <a:defRPr/>
            </a:pPr>
            <a:r>
              <a:rPr lang="en-US" sz="1000" b="0" i="0" kern="1200">
                <a:solidFill>
                  <a:schemeClr val="tx1"/>
                </a:solidFill>
                <a:effectLst/>
                <a:cs typeface="Arial" panose="020B0604020202020204" pitchFamily="34" charset="0"/>
              </a:rPr>
              <a:t>An </a:t>
            </a:r>
            <a:r>
              <a:rPr lang="en-US" sz="1000" b="0" i="1" kern="1200">
                <a:solidFill>
                  <a:schemeClr val="tx1"/>
                </a:solidFill>
                <a:effectLst/>
                <a:cs typeface="Arial" panose="020B0604020202020204" pitchFamily="34" charset="0"/>
              </a:rPr>
              <a:t>Application Load Balancer (ALB) </a:t>
            </a:r>
            <a:r>
              <a:rPr lang="en-US" sz="1000" b="0" i="0" kern="1200">
                <a:solidFill>
                  <a:schemeClr val="tx1"/>
                </a:solidFill>
                <a:effectLst/>
                <a:cs typeface="Arial" panose="020B0604020202020204" pitchFamily="34" charset="0"/>
              </a:rPr>
              <a:t>supports content-based routing, and supports applications that run in containers.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b="0" i="0" kern="1200">
                <a:solidFill>
                  <a:schemeClr val="tx1"/>
                </a:solidFill>
                <a:effectLst/>
                <a:cs typeface="Arial" panose="020B0604020202020204" pitchFamily="34" charset="0"/>
              </a:rPr>
              <a:t>Application Load Balancers also support the WebSocket and HTTP/2 industry-standard protocols, and provide additional visibility into the health of the target instances and containers.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b="0" i="0" kern="1200">
                <a:solidFill>
                  <a:schemeClr val="tx1"/>
                </a:solidFill>
                <a:effectLst/>
                <a:cs typeface="Arial" panose="020B0604020202020204" pitchFamily="34" charset="0"/>
              </a:rPr>
              <a:t>Websites and mobile apps</a:t>
            </a:r>
            <a:r>
              <a:rPr lang="en-US" sz="1000" b="0" i="0" kern="1200" baseline="0">
                <a:solidFill>
                  <a:schemeClr val="tx1"/>
                </a:solidFill>
                <a:effectLst/>
                <a:cs typeface="Arial" panose="020B0604020202020204" pitchFamily="34" charset="0"/>
              </a:rPr>
              <a:t> that </a:t>
            </a:r>
            <a:r>
              <a:rPr lang="en-US" sz="1000" b="0" i="0" kern="1200">
                <a:solidFill>
                  <a:schemeClr val="tx1"/>
                </a:solidFill>
                <a:effectLst/>
                <a:cs typeface="Arial" panose="020B0604020202020204" pitchFamily="34" charset="0"/>
              </a:rPr>
              <a:t>run in containers or on EC2 instances will benefit from the use of Application Load Balancers.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b="0" i="0" kern="1200">
                <a:solidFill>
                  <a:schemeClr val="tx1"/>
                </a:solidFill>
                <a:effectLst/>
                <a:cs typeface="Arial" panose="020B0604020202020204" pitchFamily="34" charset="0"/>
              </a:rPr>
              <a:t>This type of </a:t>
            </a:r>
            <a:r>
              <a:rPr lang="en-US" sz="1000" b="0" i="0" kern="1200" baseline="0">
                <a:solidFill>
                  <a:schemeClr val="tx1"/>
                </a:solidFill>
                <a:effectLst/>
                <a:cs typeface="Arial" panose="020B0604020202020204" pitchFamily="34" charset="0"/>
              </a:rPr>
              <a:t>load balancer is i</a:t>
            </a:r>
            <a:r>
              <a:rPr lang="en-US" sz="1000" b="0" i="0" kern="1200">
                <a:solidFill>
                  <a:schemeClr val="tx1"/>
                </a:solidFill>
                <a:effectLst/>
                <a:cs typeface="Arial" panose="020B0604020202020204" pitchFamily="34" charset="0"/>
              </a:rPr>
              <a:t>deal for advanced load balancing of HTTP and HTTPS traffic.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b="0" i="0" kern="1200">
                <a:solidFill>
                  <a:schemeClr val="tx1"/>
                </a:solidFill>
                <a:effectLst/>
                <a:cs typeface="Arial" panose="020B0604020202020204" pitchFamily="34" charset="0"/>
              </a:rPr>
              <a:t>Application Load Balancers provide advanced request routing that supports modern application architectures, including microservices and container-based applications. </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a:solidFill>
                  <a:schemeClr val="tx1"/>
                </a:solidFill>
                <a:effectLst/>
                <a:cs typeface="Arial" panose="020B0604020202020204" pitchFamily="34" charset="0"/>
              </a:rPr>
              <a:t>Application</a:t>
            </a:r>
            <a:r>
              <a:rPr lang="en-US" sz="1000" b="0" i="0" kern="1200" baseline="0">
                <a:solidFill>
                  <a:schemeClr val="tx1"/>
                </a:solidFill>
                <a:effectLst/>
                <a:cs typeface="Arial" panose="020B0604020202020204" pitchFamily="34" charset="0"/>
              </a:rPr>
              <a:t> Load Balancers are r</a:t>
            </a:r>
            <a:r>
              <a:rPr lang="en-US" sz="1000" b="0" i="0" kern="1200">
                <a:solidFill>
                  <a:schemeClr val="tx1"/>
                </a:solidFill>
                <a:effectLst/>
                <a:cs typeface="Arial" panose="020B0604020202020204" pitchFamily="34" charset="0"/>
              </a:rPr>
              <a:t>ecommended</a:t>
            </a:r>
            <a:r>
              <a:rPr lang="en-US" sz="1000" b="0" i="0" kern="1200" baseline="0">
                <a:solidFill>
                  <a:schemeClr val="tx1"/>
                </a:solidFill>
                <a:effectLst/>
                <a:cs typeface="Arial" panose="020B0604020202020204" pitchFamily="34" charset="0"/>
              </a:rPr>
              <a:t> for all other Amazon Virtual Private Cloud (Amazon VPC) use cases</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a:cs typeface="Arial" panose="020B0604020202020204" pitchFamily="34" charset="0"/>
            </a:endParaRPr>
          </a:p>
          <a:p>
            <a:pPr marL="0" lvl="1" defTabSz="457200">
              <a:defRPr/>
            </a:pPr>
            <a:r>
              <a:rPr lang="en-US" sz="1000"/>
              <a:t>See </a:t>
            </a:r>
            <a:r>
              <a:rPr lang="en-US" sz="1000">
                <a:hlinkClick r:id="rId3"/>
              </a:rPr>
              <a:t>https://aws.amazon.com/blogs/networking-and-content-delivery/using-static-ip-addresses-for-application-load-balancers/</a:t>
            </a:r>
            <a:endParaRPr lang="en-US" sz="1000">
              <a:cs typeface="Arial" panose="020B0604020202020204" pitchFamily="34" charset="0"/>
            </a:endParaRPr>
          </a:p>
        </p:txBody>
      </p:sp>
    </p:spTree>
    <p:extLst>
      <p:ext uri="{BB962C8B-B14F-4D97-AF65-F5344CB8AC3E}">
        <p14:creationId xmlns:p14="http://schemas.microsoft.com/office/powerpoint/2010/main" val="1700591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799" y="4334495"/>
            <a:ext cx="5486401" cy="4329820"/>
          </a:xfrm>
        </p:spPr>
        <p:txBody>
          <a:bodyPr/>
          <a:lstStyle/>
          <a:p>
            <a:pPr marL="0" marR="0" lvl="0" indent="0" algn="l" defTabSz="457200" rtl="0" eaLnBrk="1" fontAlgn="auto" latinLnBrk="0" hangingPunct="1">
              <a:lnSpc>
                <a:spcPct val="100000"/>
              </a:lnSpc>
              <a:spcBef>
                <a:spcPts val="0"/>
              </a:spcBef>
              <a:buClrTx/>
              <a:buSzTx/>
              <a:buFont typeface="Arial" panose="020B0604020202020204" pitchFamily="34" charset="0"/>
              <a:buNone/>
              <a:tabLst/>
              <a:defRPr/>
            </a:pPr>
            <a:r>
              <a:rPr lang="en-US" sz="1000" b="0" i="0" kern="1200">
                <a:solidFill>
                  <a:schemeClr val="tx1"/>
                </a:solidFill>
                <a:effectLst/>
                <a:cs typeface="Arial" panose="020B0604020202020204" pitchFamily="34" charset="0"/>
              </a:rPr>
              <a:t>The </a:t>
            </a:r>
            <a:r>
              <a:rPr lang="en-US" sz="1000" b="0" i="1" kern="1200">
                <a:solidFill>
                  <a:schemeClr val="tx1"/>
                </a:solidFill>
                <a:effectLst/>
                <a:cs typeface="Arial" panose="020B0604020202020204" pitchFamily="34" charset="0"/>
              </a:rPr>
              <a:t>Network Load Balancer (NLB) </a:t>
            </a:r>
            <a:r>
              <a:rPr lang="en-US" sz="1000" b="0" i="0" kern="1200">
                <a:solidFill>
                  <a:schemeClr val="tx1"/>
                </a:solidFill>
                <a:effectLst/>
                <a:cs typeface="Arial" panose="020B0604020202020204" pitchFamily="34" charset="0"/>
              </a:rPr>
              <a:t>is designed to handle tens of millions of requests per second while maintaining high throughput at ultra low latency, with no effort on your part.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171450" indent="-171450" defTabSz="457200">
              <a:buFont typeface="Arial" panose="020B0604020202020204" pitchFamily="34" charset="0"/>
              <a:buChar char="•"/>
              <a:defRPr/>
            </a:pPr>
            <a:r>
              <a:rPr lang="en-US" sz="1000" b="0" i="0" kern="1200">
                <a:solidFill>
                  <a:schemeClr val="tx1"/>
                </a:solidFill>
                <a:effectLst/>
                <a:cs typeface="Arial" panose="020B0604020202020204" pitchFamily="34" charset="0"/>
              </a:rPr>
              <a:t>Network Load Balancers route connections to targets,</a:t>
            </a:r>
            <a:r>
              <a:rPr lang="en-US" sz="1000" b="0" i="0" kern="1200" baseline="0">
                <a:solidFill>
                  <a:schemeClr val="tx1"/>
                </a:solidFill>
                <a:effectLst/>
                <a:cs typeface="Arial" panose="020B0604020202020204" pitchFamily="34" charset="0"/>
              </a:rPr>
              <a:t> </a:t>
            </a:r>
            <a:r>
              <a:rPr lang="en-US" sz="1000" b="0" i="0" kern="1200">
                <a:solidFill>
                  <a:schemeClr val="tx1"/>
                </a:solidFill>
                <a:effectLst/>
                <a:cs typeface="Arial" panose="020B0604020202020204" pitchFamily="34" charset="0"/>
              </a:rPr>
              <a:t>Amazon EC2 instances, containers, and IP addresses based on IP protocol data. </a:t>
            </a:r>
          </a:p>
          <a:p>
            <a:pPr marL="171450" indent="-171450" defTabSz="457200">
              <a:buFont typeface="Arial" panose="020B0604020202020204" pitchFamily="34" charset="0"/>
              <a:buChar char="•"/>
              <a:defRPr/>
            </a:pPr>
            <a:endParaRPr lang="en-US" sz="1000" b="0" i="0" kern="1200">
              <a:solidFill>
                <a:schemeClr val="tx1"/>
              </a:solidFill>
              <a:effectLst/>
              <a:cs typeface="Arial" panose="020B0604020202020204" pitchFamily="34" charset="0"/>
            </a:endParaRPr>
          </a:p>
          <a:p>
            <a:pPr marL="171450" indent="-171450" defTabSz="457200">
              <a:buFont typeface="Arial" panose="020B0604020202020204" pitchFamily="34" charset="0"/>
              <a:buChar char="•"/>
              <a:defRPr/>
            </a:pPr>
            <a:r>
              <a:rPr lang="en-US" sz="1000" b="0" i="0" kern="1200">
                <a:solidFill>
                  <a:schemeClr val="tx1"/>
                </a:solidFill>
                <a:effectLst/>
                <a:cs typeface="Arial" panose="020B0604020202020204" pitchFamily="34" charset="0"/>
              </a:rPr>
              <a:t>You can use the same API to programmatically control both Network</a:t>
            </a:r>
            <a:r>
              <a:rPr lang="en-US" sz="1000" b="0" i="0" kern="1200" baseline="0">
                <a:solidFill>
                  <a:schemeClr val="tx1"/>
                </a:solidFill>
                <a:effectLst/>
                <a:cs typeface="Arial" panose="020B0604020202020204" pitchFamily="34" charset="0"/>
              </a:rPr>
              <a:t> Load Balancers</a:t>
            </a:r>
            <a:r>
              <a:rPr lang="en-US" sz="1000" b="0" i="0" kern="1200">
                <a:solidFill>
                  <a:schemeClr val="tx1"/>
                </a:solidFill>
                <a:effectLst/>
                <a:cs typeface="Arial" panose="020B0604020202020204" pitchFamily="34" charset="0"/>
              </a:rPr>
              <a:t> and Application Load Balancers, including full programmatic control of target groups and targets. </a:t>
            </a:r>
          </a:p>
          <a:p>
            <a:pPr marL="171450" indent="-171450" defTabSz="457200">
              <a:buFont typeface="Arial" panose="020B0604020202020204" pitchFamily="34" charset="0"/>
              <a:buChar char="•"/>
              <a:defRPr/>
            </a:pPr>
            <a:endParaRPr lang="en-US" sz="1000" b="0" i="0" kern="1200">
              <a:solidFill>
                <a:schemeClr val="tx1"/>
              </a:solidFill>
              <a:effectLst/>
              <a:cs typeface="Arial" panose="020B0604020202020204" pitchFamily="34" charset="0"/>
            </a:endParaRPr>
          </a:p>
          <a:p>
            <a:pPr marL="171450" indent="-171450" defTabSz="457200">
              <a:buFont typeface="Arial" panose="020B0604020202020204" pitchFamily="34" charset="0"/>
              <a:buChar char="•"/>
              <a:defRPr/>
            </a:pPr>
            <a:r>
              <a:rPr lang="en-US" sz="1000" b="0" i="0" kern="1200">
                <a:solidFill>
                  <a:schemeClr val="tx1"/>
                </a:solidFill>
                <a:effectLst/>
                <a:cs typeface="Arial" panose="020B0604020202020204" pitchFamily="34" charset="0"/>
              </a:rPr>
              <a:t>A Network Load Balancer is ideal for load balancing TCP or UDP traffic, and it is optimized to handle sudden and volatile traffic patterns while using a single static IP address per Availability Zone.</a:t>
            </a:r>
          </a:p>
          <a:p>
            <a:pPr marL="171450" indent="-171450" defTabSz="457200">
              <a:buFont typeface="Arial" panose="020B0604020202020204" pitchFamily="34" charset="0"/>
              <a:buChar char="•"/>
              <a:defRPr/>
            </a:pPr>
            <a:endParaRPr lang="en-US" sz="1000" b="0" i="0" kern="1200">
              <a:solidFill>
                <a:schemeClr val="tx1"/>
              </a:solidFill>
              <a:effectLst/>
              <a:cs typeface="Arial" panose="020B0604020202020204" pitchFamily="34" charset="0"/>
            </a:endParaRPr>
          </a:p>
          <a:p>
            <a:pPr marL="171450" indent="-171450" defTabSz="457200">
              <a:buFont typeface="Arial" panose="020B0604020202020204" pitchFamily="34" charset="0"/>
              <a:buChar char="•"/>
              <a:defRPr/>
            </a:pPr>
            <a:r>
              <a:rPr lang="en-US" sz="1000" b="0" i="0" kern="1200">
                <a:solidFill>
                  <a:schemeClr val="tx1"/>
                </a:solidFill>
                <a:effectLst/>
                <a:cs typeface="Arial" panose="020B0604020202020204" pitchFamily="34" charset="0"/>
              </a:rPr>
              <a:t>Network</a:t>
            </a:r>
            <a:r>
              <a:rPr lang="en-US" sz="1000" b="0" i="0" kern="1200" baseline="0">
                <a:solidFill>
                  <a:schemeClr val="tx1"/>
                </a:solidFill>
                <a:effectLst/>
                <a:cs typeface="Arial" panose="020B0604020202020204" pitchFamily="34" charset="0"/>
              </a:rPr>
              <a:t> Load Balancers are r</a:t>
            </a:r>
            <a:r>
              <a:rPr lang="en-US" sz="1000" b="0" i="0" kern="1200">
                <a:solidFill>
                  <a:schemeClr val="tx1"/>
                </a:solidFill>
                <a:effectLst/>
                <a:cs typeface="Arial" panose="020B0604020202020204" pitchFamily="34" charset="0"/>
              </a:rPr>
              <a:t>ecommended</a:t>
            </a:r>
            <a:r>
              <a:rPr lang="en-US" sz="1000" b="0" i="0" kern="1200" baseline="0">
                <a:solidFill>
                  <a:schemeClr val="tx1"/>
                </a:solidFill>
                <a:effectLst/>
                <a:cs typeface="Arial" panose="020B0604020202020204" pitchFamily="34" charset="0"/>
              </a:rPr>
              <a:t> for load balancing of TCP or UDP traffic in an Amazon VPC.</a:t>
            </a:r>
            <a:endParaRPr lang="en-US" sz="1000" b="0" i="0" kern="1200">
              <a:solidFill>
                <a:schemeClr val="tx1"/>
              </a:solidFill>
              <a:effectLst/>
              <a:cs typeface="Arial" panose="020B0604020202020204" pitchFamily="34" charset="0"/>
            </a:endParaRPr>
          </a:p>
        </p:txBody>
      </p:sp>
    </p:spTree>
    <p:extLst>
      <p:ext uri="{BB962C8B-B14F-4D97-AF65-F5344CB8AC3E}">
        <p14:creationId xmlns:p14="http://schemas.microsoft.com/office/powerpoint/2010/main" val="1504312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799" y="4346369"/>
            <a:ext cx="5486401" cy="4317945"/>
          </a:xfrm>
        </p:spPr>
        <p:txBody>
          <a:bodyPr/>
          <a:lstStyle/>
          <a:p>
            <a:pPr marL="0" marR="0" lvl="0" indent="0" algn="l" defTabSz="457200" rtl="0" eaLnBrk="1" fontAlgn="auto" latinLnBrk="0" hangingPunct="1">
              <a:lnSpc>
                <a:spcPct val="100000"/>
              </a:lnSpc>
              <a:spcBef>
                <a:spcPts val="0"/>
              </a:spcBef>
              <a:buClrTx/>
              <a:buSzTx/>
              <a:buFont typeface="Arial" panose="020B0604020202020204" pitchFamily="34" charset="0"/>
              <a:buNone/>
              <a:tabLst/>
              <a:defRPr/>
            </a:pPr>
            <a:r>
              <a:rPr lang="en-US" sz="1000" b="0" i="0" kern="1200">
                <a:solidFill>
                  <a:schemeClr val="tx1"/>
                </a:solidFill>
                <a:effectLst/>
                <a:cs typeface="Arial" panose="020B0604020202020204" pitchFamily="34" charset="0"/>
              </a:rPr>
              <a:t>The </a:t>
            </a:r>
            <a:r>
              <a:rPr lang="en-US" sz="1000" b="0" i="1" kern="1200">
                <a:solidFill>
                  <a:schemeClr val="tx1"/>
                </a:solidFill>
                <a:effectLst/>
                <a:cs typeface="Arial" panose="020B0604020202020204" pitchFamily="34" charset="0"/>
              </a:rPr>
              <a:t>Classic Load Balancer (CLB) </a:t>
            </a:r>
            <a:r>
              <a:rPr lang="en-US" sz="1000" b="0" i="0" kern="1200">
                <a:solidFill>
                  <a:schemeClr val="tx1"/>
                </a:solidFill>
                <a:effectLst/>
                <a:cs typeface="Arial" panose="020B0604020202020204" pitchFamily="34" charset="0"/>
              </a:rPr>
              <a:t>provides basic load balancing across multiple EC2 instances and operates at both the request level and connection level.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171450" indent="-171450" defTabSz="457200">
              <a:buFont typeface="Arial" panose="020B0604020202020204" pitchFamily="34" charset="0"/>
              <a:buChar char="•"/>
              <a:defRPr/>
            </a:pPr>
            <a:r>
              <a:rPr lang="en-US" sz="1000" b="0" i="0" kern="1200">
                <a:solidFill>
                  <a:schemeClr val="tx1"/>
                </a:solidFill>
                <a:effectLst/>
                <a:cs typeface="Arial" panose="020B0604020202020204" pitchFamily="34" charset="0"/>
              </a:rPr>
              <a:t>Classic Load Balancers are intended for applications that were built within the EC2-Classic network. </a:t>
            </a:r>
          </a:p>
          <a:p>
            <a:pPr marL="171450" indent="-171450" defTabSz="457200">
              <a:buFont typeface="Arial" panose="020B0604020202020204" pitchFamily="34" charset="0"/>
              <a:buChar char="•"/>
              <a:defRPr/>
            </a:pPr>
            <a:endParaRPr lang="en-US" sz="1000">
              <a:cs typeface="Arial" panose="020B0604020202020204" pitchFamily="34" charset="0"/>
            </a:endParaRPr>
          </a:p>
          <a:p>
            <a:pPr marL="171450" indent="-171450" defTabSz="457200">
              <a:buFont typeface="Arial" panose="020B0604020202020204" pitchFamily="34" charset="0"/>
              <a:buChar char="•"/>
              <a:defRPr/>
            </a:pPr>
            <a:r>
              <a:rPr lang="en-US" sz="1000">
                <a:cs typeface="Arial" panose="020B0604020202020204" pitchFamily="34" charset="0"/>
              </a:rPr>
              <a:t>Application and Network Load Balancers are recommended for all other Amazon VPC use cases.</a:t>
            </a:r>
          </a:p>
          <a:p>
            <a:pPr marL="171450" marR="0" lvl="0"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b="0" i="0" kern="1200">
              <a:solidFill>
                <a:schemeClr val="tx1"/>
              </a:solidFill>
              <a:effectLst/>
              <a:cs typeface="Arial" panose="020B0604020202020204" pitchFamily="34" charset="0"/>
            </a:endParaRPr>
          </a:p>
          <a:p>
            <a:pPr marL="0" marR="0" lvl="0" indent="0" algn="l" defTabSz="457200" rtl="0" eaLnBrk="1" fontAlgn="auto" latinLnBrk="0" hangingPunct="1">
              <a:lnSpc>
                <a:spcPct val="100000"/>
              </a:lnSpc>
              <a:spcBef>
                <a:spcPts val="0"/>
              </a:spcBef>
              <a:buClrTx/>
              <a:buSzTx/>
              <a:buFontTx/>
              <a:buNone/>
              <a:tabLst/>
              <a:defRPr/>
            </a:pPr>
            <a:r>
              <a:rPr lang="en-US" sz="1000" b="0" i="0" kern="1200">
                <a:solidFill>
                  <a:schemeClr val="tx1"/>
                </a:solidFill>
                <a:effectLst/>
                <a:cs typeface="Arial" panose="020B0604020202020204" pitchFamily="34" charset="0"/>
              </a:rPr>
              <a:t>For a side-by-side comparison of the features that are available for the three load balancer types, see </a:t>
            </a:r>
            <a:r>
              <a:rPr lang="en-US" sz="1000" kern="1200" baseline="0">
                <a:solidFill>
                  <a:schemeClr val="tx1"/>
                </a:solidFill>
                <a:effectLst/>
                <a:cs typeface="Arial" panose="020B0604020202020204" pitchFamily="34" charset="0"/>
                <a:hlinkClick r:id="rId3"/>
              </a:rPr>
              <a:t>https://aws.amazon.com/elasticloadbalancing/features/#compare</a:t>
            </a:r>
            <a:r>
              <a:rPr lang="en-US" sz="1000" kern="1200">
                <a:solidFill>
                  <a:schemeClr val="tx1"/>
                </a:solidFill>
                <a:effectLst/>
                <a:cs typeface="Arial" panose="020B0604020202020204" pitchFamily="34" charset="0"/>
              </a:rPr>
              <a:t> </a:t>
            </a:r>
            <a:endParaRPr lang="en-US" sz="1000" kern="1200" baseline="0">
              <a:solidFill>
                <a:schemeClr val="tx1"/>
              </a:solidFill>
              <a:effectLst/>
              <a:latin typeface="Arial"/>
              <a:cs typeface="Arial" panose="020B0604020202020204" pitchFamily="34"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000"/>
          </a:p>
          <a:p>
            <a:endParaRPr lang="en-US" sz="1000"/>
          </a:p>
        </p:txBody>
      </p:sp>
    </p:spTree>
    <p:extLst>
      <p:ext uri="{BB962C8B-B14F-4D97-AF65-F5344CB8AC3E}">
        <p14:creationId xmlns:p14="http://schemas.microsoft.com/office/powerpoint/2010/main" val="3534569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84276"/>
          </a:xfrm>
        </p:spPr>
        <p:txBody>
          <a:bodyPr/>
          <a:lstStyle/>
          <a:p>
            <a:r>
              <a:rPr lang="en-US" sz="1000" b="0"/>
              <a:t>A load balancer distributes workloads across multiple compute resources, such as virtual servers. Elastic load balancers can be configured in the Amazon EC2 service area in the AWS Management Console, or by invoking the AWS Command Line Interface</a:t>
            </a:r>
            <a:r>
              <a:rPr lang="en-US" sz="1000" b="0" baseline="0"/>
              <a:t> (</a:t>
            </a:r>
            <a:r>
              <a:rPr lang="en-US" sz="1000" b="0"/>
              <a:t>AWS CLI) or software development</a:t>
            </a:r>
            <a:r>
              <a:rPr lang="en-US" sz="1000" b="0" baseline="0"/>
              <a:t> kits (</a:t>
            </a:r>
            <a:r>
              <a:rPr lang="en-US" sz="1000" b="0"/>
              <a:t>SDKs).  </a:t>
            </a:r>
          </a:p>
          <a:p>
            <a:endParaRPr lang="en-US" sz="1000" b="0"/>
          </a:p>
          <a:p>
            <a:r>
              <a:rPr lang="en-US" sz="1000" b="0"/>
              <a:t>Key features of ELB load balancers include:</a:t>
            </a:r>
          </a:p>
          <a:p>
            <a:pPr marL="171450" indent="-171450">
              <a:buFont typeface="Arial" panose="020B0604020202020204" pitchFamily="34" charset="0"/>
              <a:buChar char="•"/>
            </a:pPr>
            <a:endParaRPr lang="en-US" sz="1000" b="1"/>
          </a:p>
          <a:p>
            <a:pPr marL="171450" indent="-171450">
              <a:buFont typeface="Arial" panose="020B0604020202020204" pitchFamily="34" charset="0"/>
              <a:buChar char="•"/>
            </a:pPr>
            <a:r>
              <a:rPr lang="en-US" sz="1000" b="0" i="1"/>
              <a:t>High availability</a:t>
            </a:r>
            <a:r>
              <a:rPr lang="en-US" sz="1000" b="0" i="1" baseline="0"/>
              <a:t> (HA)</a:t>
            </a:r>
            <a:r>
              <a:rPr lang="en-US" sz="1000"/>
              <a:t>—</a:t>
            </a:r>
            <a:r>
              <a:rPr lang="en-US" sz="1000" b="0"/>
              <a:t>ELB load balancers can </a:t>
            </a:r>
            <a:r>
              <a:rPr lang="en-US" sz="1000"/>
              <a:t>distribute traffic across multiple targets—including EC2 instances, containers, and IP addresses—either in a single Availability Zone or multiple Availability</a:t>
            </a:r>
            <a:r>
              <a:rPr lang="en-US" sz="1000" baseline="0"/>
              <a:t> </a:t>
            </a:r>
            <a:r>
              <a:rPr lang="en-US" sz="1000"/>
              <a:t>Zones.</a:t>
            </a:r>
            <a:endParaRPr lang="en-US" sz="1000" b="1"/>
          </a:p>
          <a:p>
            <a:pPr marL="171450" indent="-171450">
              <a:buFont typeface="Arial" panose="020B0604020202020204" pitchFamily="34" charset="0"/>
              <a:buChar char="•"/>
            </a:pPr>
            <a:r>
              <a:rPr lang="en-US" sz="1000" b="0" i="1"/>
              <a:t>Health checks</a:t>
            </a:r>
            <a:r>
              <a:rPr lang="en-US" sz="1000"/>
              <a:t>—</a:t>
            </a:r>
            <a:r>
              <a:rPr lang="en-US" sz="1000" b="0"/>
              <a:t>ELB load balancers can </a:t>
            </a:r>
            <a:r>
              <a:rPr lang="en-US" sz="1000"/>
              <a:t>be configured to detect unhealthy targets, stop sending traffic to them, and then spread the load across the remaining healthy targets.</a:t>
            </a:r>
            <a:endParaRPr lang="en-US" sz="1000" b="1"/>
          </a:p>
          <a:p>
            <a:pPr marL="171450" indent="-171450">
              <a:buFont typeface="Arial" panose="020B0604020202020204" pitchFamily="34" charset="0"/>
              <a:buChar char="•"/>
            </a:pPr>
            <a:r>
              <a:rPr lang="en-US" sz="1000" b="0" i="1"/>
              <a:t>Security</a:t>
            </a:r>
            <a:r>
              <a:rPr lang="en-US" sz="1000"/>
              <a:t>—</a:t>
            </a:r>
            <a:r>
              <a:rPr lang="en-US" sz="1000" b="0" baseline="0"/>
              <a:t>Y</a:t>
            </a:r>
            <a:r>
              <a:rPr lang="en-US" sz="1000" b="0"/>
              <a:t>ou can </a:t>
            </a:r>
            <a:r>
              <a:rPr lang="en-US" sz="1000"/>
              <a:t>create and manage security groups that are associated with load balancers. You can also create an internal (non-internet-facing) load balancer.</a:t>
            </a:r>
            <a:endParaRPr lang="en-US" sz="1000" b="1"/>
          </a:p>
          <a:p>
            <a:pPr marL="171450" indent="-171450">
              <a:buFont typeface="Arial" panose="020B0604020202020204" pitchFamily="34" charset="0"/>
              <a:buChar char="•"/>
            </a:pPr>
            <a:r>
              <a:rPr lang="en-US" sz="1000" b="0" i="1"/>
              <a:t>Transport Layer Security (TLS) termination</a:t>
            </a:r>
            <a:r>
              <a:rPr lang="en-US" sz="1000"/>
              <a:t>—</a:t>
            </a:r>
            <a:r>
              <a:rPr lang="en-US" sz="1000" b="0"/>
              <a:t>T</a:t>
            </a:r>
            <a:r>
              <a:rPr lang="en-US" sz="1000"/>
              <a:t>he load balancers include integrated certificate management and Secure Sockets Layer (SSL) decryption, which allow you to centrally manage the SSL settings of the load balancer and offload CPU-intensive work from your applications.</a:t>
            </a:r>
            <a:endParaRPr lang="en-US" sz="1000" b="1"/>
          </a:p>
          <a:p>
            <a:pPr marL="171450" indent="-171450">
              <a:buFont typeface="Arial" panose="020B0604020202020204" pitchFamily="34" charset="0"/>
              <a:buChar char="•"/>
            </a:pPr>
            <a:r>
              <a:rPr lang="en-US" sz="1000" b="0" i="1"/>
              <a:t>Layer 4 or layer 7 load balancing</a:t>
            </a:r>
            <a:r>
              <a:rPr lang="en-US" sz="1000" b="0" i="1" baseline="0"/>
              <a:t>:</a:t>
            </a:r>
            <a:r>
              <a:rPr lang="en-US" sz="1000" b="1" baseline="0"/>
              <a:t> </a:t>
            </a:r>
            <a:endParaRPr lang="en-US" sz="1000" b="0" baseline="0"/>
          </a:p>
          <a:p>
            <a:pPr marL="628650" lvl="1" indent="-171450">
              <a:buFont typeface="Arial" panose="020B0604020202020204" pitchFamily="34" charset="0"/>
              <a:buChar char="•"/>
            </a:pPr>
            <a:r>
              <a:rPr lang="en-US" sz="1000" b="0" baseline="0"/>
              <a:t>Yo</a:t>
            </a:r>
            <a:r>
              <a:rPr lang="en-US" sz="1000" b="0"/>
              <a:t>u can </a:t>
            </a:r>
            <a:r>
              <a:rPr lang="en-US" sz="1000"/>
              <a:t>load balance HTTP/HTTPS applications for features that are specific to layer</a:t>
            </a:r>
            <a:r>
              <a:rPr lang="en-US" sz="1000" baseline="0"/>
              <a:t> 7</a:t>
            </a:r>
            <a:r>
              <a:rPr lang="en-US" sz="1000"/>
              <a:t>.</a:t>
            </a:r>
            <a:r>
              <a:rPr lang="en-US" sz="1000" baseline="0"/>
              <a:t> </a:t>
            </a:r>
            <a:r>
              <a:rPr lang="en-US" sz="1000" b="0" i="1" baseline="0"/>
              <a:t>Layer </a:t>
            </a:r>
            <a:r>
              <a:rPr lang="en-US" sz="1000" b="0" i="1"/>
              <a:t>7</a:t>
            </a:r>
            <a:r>
              <a:rPr lang="en-US" sz="1000"/>
              <a:t> is the application layer in the Open</a:t>
            </a:r>
            <a:r>
              <a:rPr lang="en-US" sz="1000" baseline="0"/>
              <a:t> Systems Interconnection (</a:t>
            </a:r>
            <a:r>
              <a:rPr lang="en-US" sz="1000"/>
              <a:t>OSI) model. </a:t>
            </a:r>
          </a:p>
          <a:p>
            <a:pPr marL="628650" lvl="1" indent="-171450">
              <a:buFont typeface="Arial" panose="020B0604020202020204" pitchFamily="34" charset="0"/>
              <a:buChar char="•"/>
            </a:pPr>
            <a:r>
              <a:rPr lang="en-US" sz="1000"/>
              <a:t>You can also choose to use strict layer 4 load balancing for applications that rely purely on TCP. </a:t>
            </a:r>
            <a:r>
              <a:rPr lang="en-US" sz="1000" b="0" i="1"/>
              <a:t>Layer 4</a:t>
            </a:r>
            <a:r>
              <a:rPr lang="en-US" sz="1000" b="1"/>
              <a:t> </a:t>
            </a:r>
            <a:r>
              <a:rPr lang="en-US" sz="1000"/>
              <a:t>is the transport layer in the OSI model.</a:t>
            </a:r>
            <a:endParaRPr lang="en-US" sz="1000" b="1"/>
          </a:p>
          <a:p>
            <a:pPr marL="171450" indent="-171450">
              <a:buFont typeface="Arial" panose="020B0604020202020204" pitchFamily="34" charset="0"/>
              <a:buChar char="•"/>
            </a:pPr>
            <a:r>
              <a:rPr lang="en-US" sz="1000" b="0" i="1"/>
              <a:t>Operational Monitoring</a:t>
            </a:r>
            <a:r>
              <a:rPr lang="en-US" sz="1000"/>
              <a:t>—The ELB load balancers provide integration with Amazon CloudWatch metrics and request tracing, which allow you to monitor application performance in real time.</a:t>
            </a:r>
          </a:p>
        </p:txBody>
      </p:sp>
    </p:spTree>
    <p:extLst>
      <p:ext uri="{BB962C8B-B14F-4D97-AF65-F5344CB8AC3E}">
        <p14:creationId xmlns:p14="http://schemas.microsoft.com/office/powerpoint/2010/main" val="3412927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noRot="1" noChangeAspect="1"/>
          </p:cNvSpPr>
          <p:nvPr>
            <p:ph type="sldImg"/>
          </p:nvPr>
        </p:nvSpPr>
        <p:spPr>
          <a:xfrm>
            <a:off x="685800" y="1143000"/>
            <a:ext cx="5591175" cy="3144838"/>
          </a:xfrm>
          <a:prstGeom prst="rect">
            <a:avLst/>
          </a:prstGeom>
        </p:spPr>
        <p:txBody>
          <a:bodyPr/>
          <a:lstStyle/>
          <a:p>
            <a:pPr lvl="0"/>
            <a:endParaRPr/>
          </a:p>
        </p:txBody>
      </p:sp>
      <p:sp>
        <p:nvSpPr>
          <p:cNvPr id="217" name="Shape 217"/>
          <p:cNvSpPr>
            <a:spLocks noGrp="1"/>
          </p:cNvSpPr>
          <p:nvPr>
            <p:ph type="body" sz="quarter" idx="1"/>
          </p:nvPr>
        </p:nvSpPr>
        <p:spPr>
          <a:prstGeom prst="rect">
            <a:avLst/>
          </a:prstGeom>
        </p:spPr>
        <p:txBody>
          <a:bodyPr/>
          <a:lstStyle/>
          <a:p>
            <a:pPr marL="0" marR="0" lvl="0" indent="0" defTabSz="457200" eaLnBrk="1" fontAlgn="auto" latinLnBrk="0" hangingPunct="1">
              <a:lnSpc>
                <a:spcPct val="125000"/>
              </a:lnSpc>
              <a:spcBef>
                <a:spcPts val="0"/>
              </a:spcBef>
              <a:spcAft>
                <a:spcPts val="0"/>
              </a:spcAft>
              <a:buClrTx/>
              <a:buSzTx/>
              <a:buFontTx/>
              <a:buNone/>
              <a:tabLst/>
              <a:defRPr/>
            </a:pPr>
            <a:r>
              <a:rPr lang="en-US" sz="1000" b="0" baseline="0">
                <a:latin typeface="Calibri" panose="020F0502020204030204" pitchFamily="34" charset="0"/>
              </a:rPr>
              <a:t>Before you start using your Application Load Balancer, you must add one or more listeners. </a:t>
            </a:r>
          </a:p>
          <a:p>
            <a:pPr marL="0" marR="0" lvl="0" indent="0" defTabSz="457200" eaLnBrk="1" fontAlgn="auto" latinLnBrk="0" hangingPunct="1">
              <a:lnSpc>
                <a:spcPct val="125000"/>
              </a:lnSpc>
              <a:spcBef>
                <a:spcPts val="0"/>
              </a:spcBef>
              <a:spcAft>
                <a:spcPts val="0"/>
              </a:spcAft>
              <a:buClrTx/>
              <a:buSzTx/>
              <a:buFontTx/>
              <a:buNone/>
              <a:tabLst/>
              <a:defRPr/>
            </a:pPr>
            <a:endParaRPr lang="en-US" sz="1000" b="0" baseline="0">
              <a:latin typeface="Calibri" panose="020F0502020204030204" pitchFamily="34" charset="0"/>
            </a:endParaRPr>
          </a:p>
          <a:p>
            <a:pPr marL="0" marR="0" lvl="0" indent="0" defTabSz="457200" eaLnBrk="1" fontAlgn="auto" latinLnBrk="0" hangingPunct="1">
              <a:lnSpc>
                <a:spcPct val="125000"/>
              </a:lnSpc>
              <a:spcBef>
                <a:spcPts val="0"/>
              </a:spcBef>
              <a:spcAft>
                <a:spcPts val="0"/>
              </a:spcAft>
              <a:buClrTx/>
              <a:buSzTx/>
              <a:buFontTx/>
              <a:buNone/>
              <a:tabLst/>
              <a:defRPr/>
            </a:pPr>
            <a:r>
              <a:rPr lang="en-US" sz="1000" b="0" baseline="0">
                <a:latin typeface="Calibri" panose="020F0502020204030204" pitchFamily="34" charset="0"/>
              </a:rPr>
              <a:t>A </a:t>
            </a:r>
            <a:r>
              <a:rPr lang="en-US" sz="1000" b="0" i="1" baseline="0">
                <a:latin typeface="Calibri" panose="020F0502020204030204" pitchFamily="34" charset="0"/>
              </a:rPr>
              <a:t>listener</a:t>
            </a:r>
            <a:r>
              <a:rPr lang="en-US" sz="1000" baseline="0">
                <a:latin typeface="Calibri" panose="020F0502020204030204" pitchFamily="34" charset="0"/>
              </a:rPr>
              <a:t> is a process that checks for a connection request from a client to an instance by using the protocol and port that you specify. </a:t>
            </a:r>
          </a:p>
          <a:p>
            <a:pPr marL="0" marR="0" lvl="0" indent="0" defTabSz="457200" eaLnBrk="1" fontAlgn="auto" latinLnBrk="0" hangingPunct="1">
              <a:lnSpc>
                <a:spcPct val="125000"/>
              </a:lnSpc>
              <a:spcBef>
                <a:spcPts val="0"/>
              </a:spcBef>
              <a:spcAft>
                <a:spcPts val="0"/>
              </a:spcAft>
              <a:buClrTx/>
              <a:buSzTx/>
              <a:buFontTx/>
              <a:buNone/>
              <a:tabLst/>
              <a:defRPr/>
            </a:pPr>
            <a:endParaRPr lang="en-US" sz="1000" baseline="0">
              <a:latin typeface="Calibri" panose="020F0502020204030204" pitchFamily="34" charset="0"/>
            </a:endParaRPr>
          </a:p>
          <a:p>
            <a:pPr marL="0" marR="0" lvl="0" indent="0" defTabSz="457200" eaLnBrk="1" fontAlgn="auto" latinLnBrk="0" hangingPunct="1">
              <a:lnSpc>
                <a:spcPct val="125000"/>
              </a:lnSpc>
              <a:spcBef>
                <a:spcPts val="0"/>
              </a:spcBef>
              <a:spcAft>
                <a:spcPts val="0"/>
              </a:spcAft>
              <a:buClrTx/>
              <a:buSzTx/>
              <a:buFontTx/>
              <a:buNone/>
              <a:tabLst/>
              <a:defRPr/>
            </a:pPr>
            <a:r>
              <a:rPr lang="en-US" sz="1000" baseline="0">
                <a:latin typeface="Calibri" panose="020F0502020204030204" pitchFamily="34" charset="0"/>
              </a:rPr>
              <a:t>The listener </a:t>
            </a:r>
            <a:r>
              <a:rPr lang="en-US" sz="1000" i="1" baseline="0">
                <a:latin typeface="Calibri" panose="020F0502020204030204" pitchFamily="34" charset="0"/>
              </a:rPr>
              <a:t>rules</a:t>
            </a:r>
            <a:r>
              <a:rPr lang="en-US" sz="1000" baseline="0">
                <a:latin typeface="Calibri" panose="020F0502020204030204" pitchFamily="34" charset="0"/>
              </a:rPr>
              <a:t> that you define also determine how traffic from connecting clients are routed by the load balancer to one or more targets or target groups. </a:t>
            </a:r>
          </a:p>
          <a:p>
            <a:pPr marL="0" marR="0" lvl="0" indent="0" defTabSz="457200" eaLnBrk="1" fontAlgn="auto" latinLnBrk="0" hangingPunct="1">
              <a:lnSpc>
                <a:spcPct val="125000"/>
              </a:lnSpc>
              <a:spcBef>
                <a:spcPts val="0"/>
              </a:spcBef>
              <a:spcAft>
                <a:spcPts val="0"/>
              </a:spcAft>
              <a:buClrTx/>
              <a:buSzTx/>
              <a:buFont typeface="Arial" panose="020B0604020202020204" pitchFamily="34" charset="0"/>
              <a:buNone/>
              <a:tabLst/>
              <a:defRPr/>
            </a:pPr>
            <a:endParaRPr lang="en-US" sz="1000">
              <a:latin typeface="Calibri" panose="020F0502020204030204" pitchFamily="34" charset="0"/>
            </a:endParaRPr>
          </a:p>
        </p:txBody>
      </p:sp>
    </p:spTree>
    <p:extLst>
      <p:ext uri="{BB962C8B-B14F-4D97-AF65-F5344CB8AC3E}">
        <p14:creationId xmlns:p14="http://schemas.microsoft.com/office/powerpoint/2010/main" val="1056773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noRot="1" noChangeAspect="1"/>
          </p:cNvSpPr>
          <p:nvPr>
            <p:ph type="sldImg"/>
          </p:nvPr>
        </p:nvSpPr>
        <p:spPr>
          <a:xfrm>
            <a:off x="685800" y="1143000"/>
            <a:ext cx="5591175" cy="3144838"/>
          </a:xfrm>
          <a:prstGeom prst="rect">
            <a:avLst/>
          </a:prstGeom>
        </p:spPr>
        <p:txBody>
          <a:bodyPr/>
          <a:lstStyle/>
          <a:p>
            <a:pPr lvl="0"/>
            <a:endParaRPr/>
          </a:p>
        </p:txBody>
      </p:sp>
      <p:sp>
        <p:nvSpPr>
          <p:cNvPr id="217" name="Shape 217"/>
          <p:cNvSpPr>
            <a:spLocks noGrp="1"/>
          </p:cNvSpPr>
          <p:nvPr>
            <p:ph type="body" sz="quarter" idx="1"/>
          </p:nvPr>
        </p:nvSpPr>
        <p:spPr>
          <a:prstGeom prst="rect">
            <a:avLst/>
          </a:prstGeom>
        </p:spPr>
        <p:txBody>
          <a:bodyPr/>
          <a:lstStyle/>
          <a:p>
            <a:r>
              <a:rPr lang="en-US" sz="1000">
                <a:latin typeface="Calibri" panose="020F0502020204030204" pitchFamily="34" charset="0"/>
              </a:rPr>
              <a:t>A load balancer serves as the single point of contact for clients. </a:t>
            </a:r>
            <a:r>
              <a:rPr lang="en-US" sz="1000" baseline="0">
                <a:latin typeface="Calibri" panose="020F0502020204030204" pitchFamily="34" charset="0"/>
              </a:rPr>
              <a:t>When you create each listener rule, you specify a </a:t>
            </a:r>
            <a:r>
              <a:rPr lang="en-US" sz="1000" i="1" baseline="0">
                <a:latin typeface="Calibri" panose="020F0502020204030204" pitchFamily="34" charset="0"/>
              </a:rPr>
              <a:t>target group </a:t>
            </a:r>
            <a:r>
              <a:rPr lang="en-US" sz="1000" baseline="0">
                <a:latin typeface="Calibri" panose="020F0502020204030204" pitchFamily="34" charset="0"/>
              </a:rPr>
              <a:t>and conditions.</a:t>
            </a:r>
            <a:r>
              <a:rPr lang="en-US" sz="1000">
                <a:latin typeface="Calibri" panose="020F0502020204030204" pitchFamily="34" charset="0"/>
              </a:rPr>
              <a:t> Targets are organized into </a:t>
            </a:r>
            <a:r>
              <a:rPr lang="en-US" sz="1000" i="0">
                <a:latin typeface="Calibri" panose="020F0502020204030204" pitchFamily="34" charset="0"/>
              </a:rPr>
              <a:t>target groups</a:t>
            </a:r>
            <a:r>
              <a:rPr lang="en-US" sz="1000">
                <a:latin typeface="Calibri" panose="020F0502020204030204" pitchFamily="34" charset="0"/>
              </a:rPr>
              <a:t>. </a:t>
            </a:r>
            <a:r>
              <a:rPr lang="en-US" sz="1000" baseline="0">
                <a:latin typeface="Calibri" panose="020F0502020204030204" pitchFamily="34" charset="0"/>
              </a:rPr>
              <a:t>Each target group is used to route requests to one or more registered targets, such as EC2 instances or ECS container instances. </a:t>
            </a:r>
          </a:p>
          <a:p>
            <a:endParaRPr lang="en-US" sz="1000" baseline="0">
              <a:latin typeface="Calibri" panose="020F0502020204030204" pitchFamily="34" charset="0"/>
            </a:endParaRPr>
          </a:p>
          <a:p>
            <a:r>
              <a:rPr lang="en-US" sz="1000" baseline="0">
                <a:latin typeface="Calibri" panose="020F0502020204030204" pitchFamily="34" charset="0"/>
              </a:rPr>
              <a:t>The load balancer</a:t>
            </a:r>
            <a:r>
              <a:rPr lang="en-US" sz="1000">
                <a:latin typeface="Calibri" panose="020F0502020204030204" pitchFamily="34" charset="0"/>
              </a:rPr>
              <a:t> can distribute incoming application traffic across multiple targets. </a:t>
            </a:r>
          </a:p>
          <a:p>
            <a:endParaRPr lang="en-US" sz="1000">
              <a:latin typeface="Calibri" panose="020F0502020204030204" pitchFamily="34" charset="0"/>
            </a:endParaRPr>
          </a:p>
          <a:p>
            <a:r>
              <a:rPr lang="en-US" sz="1000">
                <a:latin typeface="Calibri" panose="020F0502020204030204" pitchFamily="34" charset="0"/>
              </a:rPr>
              <a:t>You can also configure health checks on a per</a:t>
            </a:r>
            <a:r>
              <a:rPr lang="en-US" sz="1000" baseline="0">
                <a:latin typeface="Calibri" panose="020F0502020204030204" pitchFamily="34" charset="0"/>
              </a:rPr>
              <a:t> </a:t>
            </a:r>
            <a:r>
              <a:rPr lang="en-US" sz="1000">
                <a:latin typeface="Calibri" panose="020F0502020204030204" pitchFamily="34" charset="0"/>
              </a:rPr>
              <a:t>target</a:t>
            </a:r>
            <a:r>
              <a:rPr lang="en-US" sz="1000" baseline="0">
                <a:latin typeface="Calibri" panose="020F0502020204030204" pitchFamily="34" charset="0"/>
              </a:rPr>
              <a:t> </a:t>
            </a:r>
            <a:r>
              <a:rPr lang="en-US" sz="1000">
                <a:latin typeface="Calibri" panose="020F0502020204030204" pitchFamily="34" charset="0"/>
              </a:rPr>
              <a:t>group basis.  When you specify a target group in a listener rule for your load balancer, health checks are performed on all the targets that are registered to the target group.</a:t>
            </a:r>
          </a:p>
          <a:p>
            <a:endParaRPr lang="en-US" sz="1000">
              <a:latin typeface="Calibri" panose="020F0502020204030204" pitchFamily="34" charset="0"/>
            </a:endParaRPr>
          </a:p>
          <a:p>
            <a:r>
              <a:rPr lang="en-US" sz="1000"/>
              <a:t>For more information, see </a:t>
            </a:r>
            <a:r>
              <a:rPr lang="en-US" sz="1000">
                <a:hlinkClick r:id="rId3"/>
              </a:rPr>
              <a:t>https://docs.aws.amazon.com/elasticloadbalancing/latest/application/introduction.html</a:t>
            </a:r>
            <a:r>
              <a:rPr lang="en-US" sz="1000"/>
              <a:t> </a:t>
            </a:r>
          </a:p>
          <a:p>
            <a:endParaRPr lang="en-US" sz="1000">
              <a:latin typeface="Calibri" panose="020F0502020204030204" pitchFamily="34" charset="0"/>
            </a:endParaRPr>
          </a:p>
        </p:txBody>
      </p:sp>
    </p:spTree>
    <p:extLst>
      <p:ext uri="{BB962C8B-B14F-4D97-AF65-F5344CB8AC3E}">
        <p14:creationId xmlns:p14="http://schemas.microsoft.com/office/powerpoint/2010/main" val="2981704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591175" cy="3144838"/>
          </a:xfrm>
        </p:spPr>
      </p:sp>
      <p:sp>
        <p:nvSpPr>
          <p:cNvPr id="3" name="Notes Placeholder 2"/>
          <p:cNvSpPr>
            <a:spLocks noGrp="1"/>
          </p:cNvSpPr>
          <p:nvPr>
            <p:ph type="body" idx="1"/>
          </p:nvPr>
        </p:nvSpPr>
        <p:spPr>
          <a:xfrm>
            <a:off x="685800" y="4400549"/>
            <a:ext cx="5486400" cy="4301241"/>
          </a:xfrm>
        </p:spPr>
        <p:txBody>
          <a:bodyPr/>
          <a:lstStyle/>
          <a:p>
            <a:r>
              <a:rPr lang="en-US" sz="1000" b="0" i="0" kern="1200">
                <a:solidFill>
                  <a:schemeClr val="tx1"/>
                </a:solidFill>
                <a:effectLst/>
              </a:rPr>
              <a:t>Here is an example Application Load Balancer for the example.com website. As you can see, the</a:t>
            </a:r>
            <a:r>
              <a:rPr lang="en-US" sz="1000" b="1" i="0" kern="1200">
                <a:solidFill>
                  <a:schemeClr val="tx1"/>
                </a:solidFill>
                <a:effectLst/>
              </a:rPr>
              <a:t> </a:t>
            </a:r>
            <a:r>
              <a:rPr lang="en-US" sz="1000" b="0" i="1" kern="1200">
                <a:solidFill>
                  <a:schemeClr val="tx1"/>
                </a:solidFill>
                <a:effectLst/>
              </a:rPr>
              <a:t>load balancer</a:t>
            </a:r>
            <a:r>
              <a:rPr lang="en-US" sz="1000" b="1" i="0" kern="1200">
                <a:solidFill>
                  <a:schemeClr val="tx1"/>
                </a:solidFill>
                <a:effectLst/>
              </a:rPr>
              <a:t> </a:t>
            </a:r>
            <a:r>
              <a:rPr lang="en-US" sz="1000" b="0" i="0" kern="1200">
                <a:solidFill>
                  <a:schemeClr val="tx1"/>
                </a:solidFill>
                <a:effectLst/>
              </a:rPr>
              <a:t>serves as the single point of contact for all clients. It distributes incoming application traffic across multiple targets.</a:t>
            </a:r>
          </a:p>
          <a:p>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An Application Load Balancer can have more than one listener. In this example, there are two listeners. </a:t>
            </a:r>
          </a:p>
          <a:p>
            <a:pPr marL="628650" lvl="1" indent="-171450">
              <a:buFont typeface="Arial" panose="020B0604020202020204" pitchFamily="34" charset="0"/>
              <a:buChar char="•"/>
            </a:pPr>
            <a:r>
              <a:rPr lang="en-US" sz="1000" b="0" i="0" kern="1200">
                <a:solidFill>
                  <a:schemeClr val="tx1"/>
                </a:solidFill>
                <a:effectLst/>
              </a:rPr>
              <a:t>Each</a:t>
            </a:r>
            <a:r>
              <a:rPr lang="en-US" sz="1000" b="0" i="1" kern="1200">
                <a:solidFill>
                  <a:schemeClr val="tx1"/>
                </a:solidFill>
                <a:effectLst/>
              </a:rPr>
              <a:t> listener</a:t>
            </a:r>
            <a:r>
              <a:rPr lang="en-US" sz="1000" b="0" i="0" kern="1200">
                <a:solidFill>
                  <a:schemeClr val="tx1"/>
                </a:solidFill>
                <a:effectLst/>
              </a:rPr>
              <a:t> checks for connection requests from clients, using the protocol and port that you configure. </a:t>
            </a:r>
          </a:p>
          <a:p>
            <a:pPr marL="628650" lvl="1" indent="-171450">
              <a:buFont typeface="Arial" panose="020B0604020202020204" pitchFamily="34" charset="0"/>
              <a:buChar char="•"/>
            </a:pPr>
            <a:r>
              <a:rPr lang="en-US" sz="1000" b="0" i="0" kern="1200">
                <a:solidFill>
                  <a:schemeClr val="tx1"/>
                </a:solidFill>
                <a:effectLst/>
              </a:rPr>
              <a:t>The listener forwards requests to one or more target groups, based on the defined rules.</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Each rule specifies a </a:t>
            </a:r>
            <a:r>
              <a:rPr lang="en-US" sz="1000" b="0" i="1" kern="1200">
                <a:solidFill>
                  <a:schemeClr val="tx1"/>
                </a:solidFill>
                <a:effectLst/>
              </a:rPr>
              <a:t>target group</a:t>
            </a:r>
            <a:r>
              <a:rPr lang="en-US" sz="1000" b="0" i="0" kern="1200">
                <a:solidFill>
                  <a:schemeClr val="tx1"/>
                </a:solidFill>
                <a:effectLst/>
              </a:rPr>
              <a:t>, </a:t>
            </a:r>
            <a:r>
              <a:rPr lang="en-US" sz="1000" b="0" i="1" kern="1200">
                <a:solidFill>
                  <a:schemeClr val="tx1"/>
                </a:solidFill>
                <a:effectLst/>
              </a:rPr>
              <a:t>condition</a:t>
            </a:r>
            <a:r>
              <a:rPr lang="en-US" sz="1000" b="0" i="0" kern="1200">
                <a:solidFill>
                  <a:schemeClr val="tx1"/>
                </a:solidFill>
                <a:effectLst/>
              </a:rPr>
              <a:t>, and </a:t>
            </a:r>
            <a:r>
              <a:rPr lang="en-US" sz="1000" b="0" i="1" kern="1200">
                <a:solidFill>
                  <a:schemeClr val="tx1"/>
                </a:solidFill>
                <a:effectLst/>
              </a:rPr>
              <a:t>priority</a:t>
            </a:r>
            <a:r>
              <a:rPr lang="en-US" sz="1000" b="0" i="0" kern="1200">
                <a:solidFill>
                  <a:schemeClr val="tx1"/>
                </a:solidFill>
                <a:effectLst/>
              </a:rPr>
              <a:t>. </a:t>
            </a:r>
          </a:p>
          <a:p>
            <a:pPr marL="628650" lvl="1" indent="-171450">
              <a:buFont typeface="Arial" panose="020B0604020202020204" pitchFamily="34" charset="0"/>
              <a:buChar char="•"/>
            </a:pPr>
            <a:r>
              <a:rPr lang="en-US" sz="1000" b="0" i="0" kern="1200">
                <a:solidFill>
                  <a:schemeClr val="tx1"/>
                </a:solidFill>
                <a:effectLst/>
              </a:rPr>
              <a:t>When the condition is met, the traffic is forwarded to the target group. </a:t>
            </a:r>
          </a:p>
          <a:p>
            <a:pPr marL="628650" lvl="1" indent="-171450">
              <a:buFont typeface="Arial" panose="020B0604020202020204" pitchFamily="34" charset="0"/>
              <a:buChar char="•"/>
            </a:pPr>
            <a:r>
              <a:rPr lang="en-US" sz="1000" b="0" i="0" kern="1200">
                <a:solidFill>
                  <a:schemeClr val="tx1"/>
                </a:solidFill>
                <a:effectLst/>
              </a:rPr>
              <a:t>You must define a default rule for each listener, and you can add rules that specify different target groups based on the content of the request.</a:t>
            </a:r>
          </a:p>
          <a:p>
            <a:pPr marL="628650" lvl="1" indent="-171450">
              <a:buFont typeface="Arial" panose="020B0604020202020204" pitchFamily="34" charset="0"/>
              <a:buChar char="•"/>
            </a:pPr>
            <a:r>
              <a:rPr lang="en-US" sz="1000" b="0" i="0" kern="1200">
                <a:solidFill>
                  <a:schemeClr val="tx1"/>
                </a:solidFill>
                <a:effectLst/>
              </a:rPr>
              <a:t>This configuration is also known as </a:t>
            </a:r>
            <a:r>
              <a:rPr lang="en-US" sz="1000" b="0" i="1" kern="1200">
                <a:solidFill>
                  <a:schemeClr val="tx1"/>
                </a:solidFill>
                <a:effectLst/>
              </a:rPr>
              <a:t>content-based routing</a:t>
            </a:r>
            <a:r>
              <a:rPr lang="en-US" sz="1000" b="0" i="0" kern="1200">
                <a:solidFill>
                  <a:schemeClr val="tx1"/>
                </a:solidFill>
                <a:effectLst/>
              </a:rPr>
              <a:t>.</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Each </a:t>
            </a:r>
            <a:r>
              <a:rPr lang="en-US" sz="1000" b="0" i="1" kern="1200">
                <a:solidFill>
                  <a:schemeClr val="tx1"/>
                </a:solidFill>
                <a:effectLst/>
              </a:rPr>
              <a:t>target group </a:t>
            </a:r>
            <a:r>
              <a:rPr lang="en-US" sz="1000" b="0" i="0" kern="1200">
                <a:solidFill>
                  <a:schemeClr val="tx1"/>
                </a:solidFill>
                <a:effectLst/>
              </a:rPr>
              <a:t>routes requests to one or more registered targets, such as EC2 instances, using the protocol and port number that you specify. </a:t>
            </a:r>
          </a:p>
          <a:p>
            <a:pPr marL="628650" lvl="1" indent="-171450">
              <a:buFont typeface="Arial" panose="020B0604020202020204" pitchFamily="34" charset="0"/>
              <a:buChar char="•"/>
            </a:pPr>
            <a:r>
              <a:rPr lang="en-US" sz="1000" b="0" i="0" kern="1200">
                <a:solidFill>
                  <a:schemeClr val="tx1"/>
                </a:solidFill>
                <a:effectLst/>
              </a:rPr>
              <a:t>You can register a target with multiple target groups. </a:t>
            </a:r>
          </a:p>
          <a:p>
            <a:pPr marL="628650" lvl="1" indent="-171450">
              <a:buFont typeface="Arial" panose="020B0604020202020204" pitchFamily="34" charset="0"/>
              <a:buChar char="•"/>
            </a:pPr>
            <a:r>
              <a:rPr lang="en-US" sz="1000" b="0" i="0" kern="1200">
                <a:solidFill>
                  <a:schemeClr val="tx1"/>
                </a:solidFill>
                <a:effectLst/>
              </a:rPr>
              <a:t>You can configure health checks on a per</a:t>
            </a:r>
            <a:r>
              <a:rPr lang="en-US" sz="1000" b="0" i="0" kern="1200" baseline="0">
                <a:solidFill>
                  <a:schemeClr val="tx1"/>
                </a:solidFill>
                <a:effectLst/>
              </a:rPr>
              <a:t> </a:t>
            </a:r>
            <a:r>
              <a:rPr lang="en-US" sz="1000" b="0" i="0" kern="1200">
                <a:solidFill>
                  <a:schemeClr val="tx1"/>
                </a:solidFill>
                <a:effectLst/>
              </a:rPr>
              <a:t>target group basis.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Health check are performed on all targets that are registered to a target group when the target group is specified in a listener rule for your load balancer.</a:t>
            </a:r>
          </a:p>
          <a:p>
            <a:endParaRPr lang="en-US" sz="1000" b="0" i="0" kern="1200">
              <a:solidFill>
                <a:schemeClr val="tx1"/>
              </a:solidFill>
              <a:effectLst/>
            </a:endParaRPr>
          </a:p>
          <a:p>
            <a:r>
              <a:rPr lang="en-US" sz="1000" b="0" i="0" kern="1200">
                <a:solidFill>
                  <a:schemeClr val="tx1"/>
                </a:solidFill>
                <a:effectLst/>
              </a:rPr>
              <a:t>Notice that each listener contains a default rule, and one listener contains another rule that routes requests to a different target group. As implied in the graphic, </a:t>
            </a:r>
            <a:r>
              <a:rPr lang="en-US" sz="1000" b="0" i="0" kern="1200">
                <a:solidFill>
                  <a:schemeClr val="tx1"/>
                </a:solidFill>
                <a:effectLst/>
                <a:latin typeface="Calibri" panose="020F0502020204030204" pitchFamily="34" charset="0"/>
              </a:rPr>
              <a:t>y</a:t>
            </a:r>
            <a:r>
              <a:rPr lang="en-US" sz="1000">
                <a:latin typeface="Calibri" panose="020F0502020204030204" pitchFamily="34" charset="0"/>
              </a:rPr>
              <a:t>ou have the option to register a target with multiple target groups. </a:t>
            </a:r>
            <a:endParaRPr lang="en-US" sz="1000" b="0" i="0" kern="1200">
              <a:solidFill>
                <a:schemeClr val="tx1"/>
              </a:solidFill>
              <a:effectLst/>
            </a:endParaRPr>
          </a:p>
          <a:p>
            <a:endParaRPr lang="en-US" sz="1000"/>
          </a:p>
        </p:txBody>
      </p:sp>
    </p:spTree>
    <p:extLst>
      <p:ext uri="{BB962C8B-B14F-4D97-AF65-F5344CB8AC3E}">
        <p14:creationId xmlns:p14="http://schemas.microsoft.com/office/powerpoint/2010/main" val="1226500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Here, you see a single Application Load Balancer</a:t>
            </a:r>
            <a:r>
              <a:rPr lang="en-US" sz="1000" baseline="0"/>
              <a:t> that is</a:t>
            </a:r>
            <a:r>
              <a:rPr lang="en-US" sz="1000"/>
              <a:t> configured with three rules. The design illustrates the functionality of each segment, which is based on the URL that is requested by the client. Clients that request the www.example.com/orders page are routed to one set of EC2 instances. Client that request the www.example.com/images page are routed to other EC2 instances. Requests to the registration area are similarly routed to a different set of instances.</a:t>
            </a:r>
          </a:p>
          <a:p>
            <a:endParaRPr lang="en-US" sz="1000"/>
          </a:p>
          <a:p>
            <a:endParaRPr lang="en-US" sz="1000"/>
          </a:p>
        </p:txBody>
      </p:sp>
    </p:spTree>
    <p:extLst>
      <p:ext uri="{BB962C8B-B14F-4D97-AF65-F5344CB8AC3E}">
        <p14:creationId xmlns:p14="http://schemas.microsoft.com/office/powerpoint/2010/main" val="2163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To create an Application Load Balancer</a:t>
            </a:r>
            <a:r>
              <a:rPr lang="en-US" sz="1000" baseline="0"/>
              <a:t> by</a:t>
            </a:r>
            <a:r>
              <a:rPr lang="en-US" sz="1000"/>
              <a:t> using the AWS CLI, complete the following steps.</a:t>
            </a:r>
          </a:p>
          <a:p>
            <a:pPr marL="0" indent="0">
              <a:buFont typeface="+mj-lt"/>
              <a:buNone/>
            </a:pPr>
            <a:endParaRPr lang="en-US" sz="1000"/>
          </a:p>
          <a:p>
            <a:pPr marL="0" indent="0">
              <a:buFont typeface="+mj-lt"/>
              <a:buNone/>
            </a:pPr>
            <a:r>
              <a:rPr lang="en-US" sz="1000"/>
              <a:t>1.</a:t>
            </a:r>
            <a:r>
              <a:rPr lang="en-US" sz="1000" baseline="0"/>
              <a:t> </a:t>
            </a:r>
            <a:r>
              <a:rPr lang="en-US" sz="1000"/>
              <a:t>Use the </a:t>
            </a:r>
            <a:r>
              <a:rPr lang="en-US" sz="1000" b="1">
                <a:latin typeface="Courier New" panose="02070309020205020404" pitchFamily="49" charset="0"/>
                <a:cs typeface="Courier New" panose="02070309020205020404" pitchFamily="49" charset="0"/>
              </a:rPr>
              <a:t>create-load-balancer</a:t>
            </a:r>
            <a:r>
              <a:rPr lang="en-US" sz="1000"/>
              <a:t> command to create a load balancer. You must specify two subnets that are not from the same Availability Zone.</a:t>
            </a:r>
          </a:p>
          <a:p>
            <a:pPr marL="228600" indent="-228600">
              <a:buFont typeface="+mj-lt"/>
              <a:buAutoNum type="arabicPeriod"/>
            </a:pPr>
            <a:endParaRPr lang="en-US" sz="1000"/>
          </a:p>
          <a:p>
            <a:pPr marL="0" marR="0">
              <a:lnSpc>
                <a:spcPct val="107000"/>
              </a:lnSpc>
              <a:spcBef>
                <a:spcPts val="0"/>
              </a:spcBef>
              <a:spcAft>
                <a:spcPts val="800"/>
              </a:spcAft>
            </a:pPr>
            <a:r>
              <a:rPr lang="en-US" sz="1000">
                <a:solidFill>
                  <a:srgbClr val="000000"/>
                </a:solidFill>
                <a:effectLst/>
                <a:ea typeface="Times New Roman" panose="02020603050405020304" pitchFamily="18" charset="0"/>
                <a:cs typeface="Courier New" panose="02070309020205020404" pitchFamily="49" charset="0"/>
              </a:rPr>
              <a:t>Result:</a:t>
            </a:r>
            <a:endParaRPr lang="en-US" sz="1000">
              <a:effectLst/>
              <a:ea typeface="Calibri" panose="020F0502020204030204" pitchFamily="34" charset="0"/>
              <a:cs typeface="Times New Roman" panose="02020603050405020304" pitchFamily="18"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"LoadBalancers":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"LoadBalancerArn": "arn:aws:elasticloadbalancing:us-east-1:123456789012:loadbalancer/app/my-load-balancer/1234567890123456",</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"DNSName": "my-load-balancer-1234567890123456.us-east-1.elb.amazonaws.com",</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"CanonicalHostedZoneId": "Z35SXDOTRQ7X7K",</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"CreatedTime": "2019-03-28T16:33:59.670Z",</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"LoadBalancerName": "my-load-balancer",</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"Scheme": "internet-facing",</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"VpcId": "vpc-1234567890123",</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"State":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"Code": "provisioning"</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"Type": "application",</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"AvailabilityZones":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"ZoneName": "us-east-1b",</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"SubnetId": "subnet-12345678"</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"ZoneName": "us-east-1e",</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"SubnetId": "subnet-23456789"</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"SecurityGroups":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"sg-12345678"</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"IpAddressType": "ipv4"</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70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en-US" sz="700">
              <a:effectLst/>
              <a:latin typeface="Courier New" panose="02070309020205020404" pitchFamily="49" charset="0"/>
              <a:ea typeface="Calibri" panose="020F0502020204030204" pitchFamily="34" charset="0"/>
              <a:cs typeface="Courier New" panose="02070309020205020404" pitchFamily="49" charset="0"/>
            </a:endParaRPr>
          </a:p>
          <a:p>
            <a:pPr marL="228600" indent="-228600">
              <a:buFont typeface="+mj-lt"/>
              <a:buAutoNum type="arabicPeriod"/>
            </a:pPr>
            <a:endParaRPr lang="en-US" sz="700"/>
          </a:p>
          <a:p>
            <a:pPr marL="0" indent="0">
              <a:buFont typeface="+mj-lt"/>
              <a:buNone/>
            </a:pPr>
            <a:endParaRPr lang="en-US" sz="700"/>
          </a:p>
        </p:txBody>
      </p:sp>
    </p:spTree>
    <p:extLst>
      <p:ext uri="{BB962C8B-B14F-4D97-AF65-F5344CB8AC3E}">
        <p14:creationId xmlns:p14="http://schemas.microsoft.com/office/powerpoint/2010/main" val="3292081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000"/>
              <a:t>2. Use the </a:t>
            </a:r>
            <a:r>
              <a:rPr lang="en-US" sz="1000" b="1">
                <a:latin typeface="Courier New" panose="02070309020205020404" pitchFamily="49" charset="0"/>
                <a:cs typeface="Courier New" panose="02070309020205020404" pitchFamily="49" charset="0"/>
              </a:rPr>
              <a:t>create-target-group</a:t>
            </a:r>
            <a:r>
              <a:rPr lang="en-US" sz="1000"/>
              <a:t> command to create a target group.</a:t>
            </a:r>
            <a:r>
              <a:rPr lang="en-US" sz="1000" baseline="0"/>
              <a:t> You must</a:t>
            </a:r>
            <a:r>
              <a:rPr lang="en-US" sz="1000"/>
              <a:t> specify the Amazon VPC in which your EC2 instances are running.</a:t>
            </a:r>
          </a:p>
          <a:p>
            <a:pPr marL="0" indent="0">
              <a:buFont typeface="+mj-lt"/>
              <a:buNone/>
            </a:pPr>
            <a:endParaRPr lang="en-US" sz="1000"/>
          </a:p>
          <a:p>
            <a:pPr marL="0" marR="0">
              <a:lnSpc>
                <a:spcPct val="107000"/>
              </a:lnSpc>
            </a:pPr>
            <a:r>
              <a:rPr lang="en-US" sz="1000" b="0">
                <a:solidFill>
                  <a:srgbClr val="000000"/>
                </a:solidFill>
                <a:effectLst/>
                <a:latin typeface="+mj-lt"/>
                <a:ea typeface="Times New Roman" panose="02020603050405020304" pitchFamily="18" charset="0"/>
                <a:cs typeface="Courier New" panose="02070309020205020404" pitchFamily="49" charset="0"/>
              </a:rPr>
              <a:t>Result:</a:t>
            </a:r>
            <a:endParaRPr lang="en-US" sz="1000" b="0">
              <a:effectLst/>
              <a:latin typeface="+mj-lt"/>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"TargetGroups": [{</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"TargetGroupArn": "arn:aws:elasticloadbalancing:us-east-1:123456789012:targetgroup/my-targets/9546a5cf349b582c",</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"TargetGroupName": "my-targets",</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"Protocol": "HTTP",</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"Port": 80,</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"VpcId": "vpc-1234567890123",</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"HealthCheckProtocol": "HTTP",</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"HealthCheckPort": "traffic-port",</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"HealthCheckIntervalSeconds": 30,</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"HealthCheckTimeoutSeconds": 5,</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"HealthyThresholdCount": 5,</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"UnhealthyThresholdCount": 2,</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"HealthCheckPath": "/",</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"Matcher": {</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"HttpCode": "200"</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"TargetType": "instance"</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pPr>
            <a:r>
              <a:rPr lang="en-US" sz="1000" b="0">
                <a:solidFill>
                  <a:srgbClr val="383A42"/>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en-US" sz="1000" b="0">
              <a:effectLst/>
              <a:latin typeface="Courier New" panose="02070309020205020404" pitchFamily="49" charset="0"/>
              <a:ea typeface="Calibri" panose="020F0502020204030204" pitchFamily="34" charset="0"/>
              <a:cs typeface="Courier New" panose="02070309020205020404" pitchFamily="49" charset="0"/>
            </a:endParaRPr>
          </a:p>
          <a:p>
            <a:pPr marL="0" indent="0">
              <a:buFont typeface="+mj-lt"/>
              <a:buNone/>
            </a:pPr>
            <a:endParaRPr lang="en-US" sz="1000"/>
          </a:p>
          <a:p>
            <a:pPr marL="0" indent="0">
              <a:buFont typeface="+mj-lt"/>
              <a:buNone/>
            </a:pPr>
            <a:endParaRPr lang="en-US" sz="1000"/>
          </a:p>
        </p:txBody>
      </p:sp>
    </p:spTree>
    <p:extLst>
      <p:ext uri="{BB962C8B-B14F-4D97-AF65-F5344CB8AC3E}">
        <p14:creationId xmlns:p14="http://schemas.microsoft.com/office/powerpoint/2010/main" val="1681024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defTabSz="914400" rtl="0" eaLnBrk="1" latinLnBrk="0" hangingPunct="1">
              <a:buFont typeface="+mj-lt"/>
              <a:buNone/>
            </a:pPr>
            <a:r>
              <a:rPr lang="en-US" sz="1000" kern="1200">
                <a:solidFill>
                  <a:schemeClr val="tx1"/>
                </a:solidFill>
                <a:ea typeface="+mn-ea"/>
              </a:rPr>
              <a:t>3. Use the </a:t>
            </a:r>
            <a:r>
              <a:rPr lang="en-US" sz="1000" b="1" kern="1200">
                <a:solidFill>
                  <a:schemeClr val="tx1"/>
                </a:solidFill>
                <a:ea typeface="+mn-ea"/>
              </a:rPr>
              <a:t>register-targets</a:t>
            </a:r>
            <a:r>
              <a:rPr lang="en-US" sz="1000" kern="1200">
                <a:solidFill>
                  <a:schemeClr val="tx1"/>
                </a:solidFill>
                <a:ea typeface="+mn-ea"/>
              </a:rPr>
              <a:t> command to register your instances with your</a:t>
            </a:r>
          </a:p>
          <a:p>
            <a:pPr marL="0" indent="0" algn="l" defTabSz="914400" rtl="0" eaLnBrk="1" latinLnBrk="0" hangingPunct="1">
              <a:buFont typeface="+mj-lt"/>
              <a:buNone/>
            </a:pPr>
            <a:r>
              <a:rPr lang="en-US" sz="1000" kern="1200">
                <a:solidFill>
                  <a:schemeClr val="tx1"/>
                </a:solidFill>
                <a:ea typeface="+mn-ea"/>
              </a:rPr>
              <a:t> target group.</a:t>
            </a:r>
          </a:p>
          <a:p>
            <a:pPr marL="0" indent="0" algn="l" defTabSz="914400" rtl="0" eaLnBrk="1" latinLnBrk="0" hangingPunct="1">
              <a:buFont typeface="+mj-lt"/>
              <a:buNone/>
            </a:pPr>
            <a:endParaRPr lang="en-US" sz="1000" kern="1200">
              <a:solidFill>
                <a:schemeClr val="tx1"/>
              </a:solidFill>
              <a:ea typeface="+mn-ea"/>
            </a:endParaRPr>
          </a:p>
          <a:p>
            <a:r>
              <a:rPr lang="en-US" sz="1000" kern="1200">
                <a:solidFill>
                  <a:schemeClr val="tx1"/>
                </a:solidFill>
                <a:effectLst/>
                <a:ea typeface="+mn-ea"/>
              </a:rPr>
              <a:t>Result:</a:t>
            </a:r>
          </a:p>
          <a:p>
            <a:endParaRPr lang="en-US" sz="1000" kern="1200">
              <a:solidFill>
                <a:schemeClr val="tx1"/>
              </a:solidFill>
              <a:effectLst/>
              <a:ea typeface="+mn-ea"/>
            </a:endParaRPr>
          </a:p>
          <a:p>
            <a:r>
              <a:rPr lang="en-US" sz="1000" kern="1200">
                <a:solidFill>
                  <a:schemeClr val="tx1"/>
                </a:solidFill>
                <a:effectLst/>
                <a:latin typeface="Courier New" panose="02070309020205020404" pitchFamily="49" charset="0"/>
                <a:ea typeface="+mn-ea"/>
                <a:cs typeface="Courier New" panose="02070309020205020404" pitchFamily="49" charset="0"/>
              </a:rPr>
              <a:t>No result output is provided.</a:t>
            </a:r>
          </a:p>
          <a:p>
            <a:pPr marL="0" indent="0" algn="l" defTabSz="914400" rtl="0" eaLnBrk="1" latinLnBrk="0" hangingPunct="1">
              <a:buFont typeface="+mj-lt"/>
              <a:buNone/>
            </a:pPr>
            <a:endParaRPr lang="en-US" sz="1000" kern="1200">
              <a:solidFill>
                <a:schemeClr val="tx1"/>
              </a:solidFill>
              <a:ea typeface="+mn-ea"/>
            </a:endParaRPr>
          </a:p>
        </p:txBody>
      </p:sp>
    </p:spTree>
    <p:extLst>
      <p:ext uri="{BB962C8B-B14F-4D97-AF65-F5344CB8AC3E}">
        <p14:creationId xmlns:p14="http://schemas.microsoft.com/office/powerpoint/2010/main" val="3932093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defTabSz="914400" rtl="0" eaLnBrk="1" latinLnBrk="0" hangingPunct="1">
              <a:buFont typeface="+mj-lt"/>
              <a:buNone/>
            </a:pPr>
            <a:r>
              <a:rPr lang="en-US" sz="1000" kern="1200">
                <a:solidFill>
                  <a:schemeClr val="tx1"/>
                </a:solidFill>
              </a:rPr>
              <a:t>4. Use the </a:t>
            </a:r>
            <a:r>
              <a:rPr lang="en-US" sz="1000" b="1" kern="1200">
                <a:solidFill>
                  <a:schemeClr val="tx1"/>
                </a:solidFill>
              </a:rPr>
              <a:t>create-listener</a:t>
            </a:r>
            <a:r>
              <a:rPr lang="en-US" sz="1000" kern="1200">
                <a:solidFill>
                  <a:schemeClr val="tx1"/>
                </a:solidFill>
              </a:rPr>
              <a:t> command to create a listener for your load balancer. The listener has a default rule that forwards requests to your target group.</a:t>
            </a:r>
          </a:p>
          <a:p>
            <a:pPr marL="0" indent="0" algn="l" defTabSz="914400" rtl="0" eaLnBrk="1" latinLnBrk="0" hangingPunct="1">
              <a:buFont typeface="+mj-lt"/>
              <a:buNone/>
            </a:pPr>
            <a:endParaRPr lang="en-US" sz="1000" kern="1200">
              <a:solidFill>
                <a:schemeClr val="tx1"/>
              </a:solidFill>
            </a:endParaRPr>
          </a:p>
          <a:p>
            <a:r>
              <a:rPr lang="en-US" sz="1000" kern="1200">
                <a:solidFill>
                  <a:schemeClr val="tx1"/>
                </a:solidFill>
                <a:effectLst/>
              </a:rPr>
              <a:t>Result:</a:t>
            </a:r>
          </a:p>
          <a:p>
            <a:endParaRPr lang="en-US" sz="1000" kern="1200">
              <a:solidFill>
                <a:schemeClr val="tx1"/>
              </a:solidFill>
              <a:effectLst/>
            </a:endParaRPr>
          </a:p>
          <a:p>
            <a:r>
              <a:rPr lang="en-US" sz="1000" kern="1200">
                <a:solidFill>
                  <a:schemeClr val="tx1"/>
                </a:solidFill>
                <a:effectLst/>
                <a:latin typeface="Courier New" panose="02070309020205020404" pitchFamily="49" charset="0"/>
                <a:cs typeface="Courier New" panose="02070309020205020404" pitchFamily="49" charset="0"/>
              </a:rPr>
              <a:t>{</a:t>
            </a:r>
          </a:p>
          <a:p>
            <a:r>
              <a:rPr lang="en-US" sz="1000" kern="1200">
                <a:solidFill>
                  <a:schemeClr val="tx1"/>
                </a:solidFill>
                <a:effectLst/>
                <a:latin typeface="Courier New" panose="02070309020205020404" pitchFamily="49" charset="0"/>
                <a:cs typeface="Courier New" panose="02070309020205020404" pitchFamily="49" charset="0"/>
              </a:rPr>
              <a:t>    "Listeners":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"ListenerArn": "arn:aws:elasticloadbalancing:us-east-1:123456789012:listener/app/my-load-balancer/1234567890123456/14f6f490e5f8bdbf",</a:t>
            </a:r>
          </a:p>
          <a:p>
            <a:r>
              <a:rPr lang="en-US" sz="1000" kern="1200">
                <a:solidFill>
                  <a:schemeClr val="tx1"/>
                </a:solidFill>
                <a:effectLst/>
                <a:latin typeface="Courier New" panose="02070309020205020404" pitchFamily="49" charset="0"/>
                <a:cs typeface="Courier New" panose="02070309020205020404" pitchFamily="49" charset="0"/>
              </a:rPr>
              <a:t>            "LoadBalancerArn": "LoadBalancerArn": "arn:aws:elasticloadbalancing:us-east-1:123456789012:loadbalancer/app/my-load-balancer/1234567890123456",</a:t>
            </a:r>
          </a:p>
          <a:p>
            <a:r>
              <a:rPr lang="en-US" sz="1000" kern="1200">
                <a:solidFill>
                  <a:schemeClr val="tx1"/>
                </a:solidFill>
                <a:effectLst/>
                <a:latin typeface="Courier New" panose="02070309020205020404" pitchFamily="49" charset="0"/>
                <a:cs typeface="Courier New" panose="02070309020205020404" pitchFamily="49" charset="0"/>
              </a:rPr>
              <a:t>            "Port": 80,</a:t>
            </a:r>
          </a:p>
          <a:p>
            <a:r>
              <a:rPr lang="en-US" sz="1000" kern="1200">
                <a:solidFill>
                  <a:schemeClr val="tx1"/>
                </a:solidFill>
                <a:effectLst/>
                <a:latin typeface="Courier New" panose="02070309020205020404" pitchFamily="49" charset="0"/>
                <a:cs typeface="Courier New" panose="02070309020205020404" pitchFamily="49" charset="0"/>
              </a:rPr>
              <a:t>            "Protocol": "HTTP",</a:t>
            </a:r>
          </a:p>
          <a:p>
            <a:r>
              <a:rPr lang="en-US" sz="1000" kern="1200">
                <a:solidFill>
                  <a:schemeClr val="tx1"/>
                </a:solidFill>
                <a:effectLst/>
                <a:latin typeface="Courier New" panose="02070309020205020404" pitchFamily="49" charset="0"/>
                <a:cs typeface="Courier New" panose="02070309020205020404" pitchFamily="49" charset="0"/>
              </a:rPr>
              <a:t>            "DefaultActions":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"Type": "forward",</a:t>
            </a:r>
          </a:p>
          <a:p>
            <a:r>
              <a:rPr lang="en-US" sz="1000" kern="1200">
                <a:solidFill>
                  <a:schemeClr val="tx1"/>
                </a:solidFill>
                <a:effectLst/>
                <a:latin typeface="Courier New" panose="02070309020205020404" pitchFamily="49" charset="0"/>
                <a:cs typeface="Courier New" panose="02070309020205020404" pitchFamily="49" charset="0"/>
              </a:rPr>
              <a:t>                    "TargetGroupArn": "arn:aws:elasticloadbalancing:us-east-1:123456789012:targetgroup/my-targets/9546a5cf349b582c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a:t>
            </a:r>
          </a:p>
          <a:p>
            <a:pPr marL="0" indent="0" algn="l" defTabSz="914400" rtl="0" eaLnBrk="1" latinLnBrk="0" hangingPunct="1">
              <a:buFont typeface="+mj-lt"/>
              <a:buNone/>
            </a:pPr>
            <a:endParaRPr lang="en-US" sz="1000"/>
          </a:p>
        </p:txBody>
      </p:sp>
    </p:spTree>
    <p:extLst>
      <p:ext uri="{BB962C8B-B14F-4D97-AF65-F5344CB8AC3E}">
        <p14:creationId xmlns:p14="http://schemas.microsoft.com/office/powerpoint/2010/main" val="1553179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defTabSz="914400" rtl="0" eaLnBrk="1" latinLnBrk="0" hangingPunct="1">
              <a:buFont typeface="+mj-lt"/>
              <a:buNone/>
            </a:pPr>
            <a:r>
              <a:rPr lang="en-US" sz="1000" kern="1200">
                <a:solidFill>
                  <a:schemeClr val="tx1"/>
                </a:solidFill>
              </a:rPr>
              <a:t>5. Optionally, verify the health of the registered targets for your target group using the</a:t>
            </a:r>
            <a:r>
              <a:rPr lang="en-US" sz="1000" b="1" kern="1200">
                <a:solidFill>
                  <a:schemeClr val="tx1"/>
                </a:solidFill>
              </a:rPr>
              <a:t> describe-target-health </a:t>
            </a:r>
            <a:r>
              <a:rPr lang="en-US" sz="1000"/>
              <a:t>command.</a:t>
            </a:r>
          </a:p>
          <a:p>
            <a:pPr marL="0" indent="0" algn="l" defTabSz="914400" rtl="0" eaLnBrk="1" latinLnBrk="0" hangingPunct="1">
              <a:buFont typeface="+mj-lt"/>
              <a:buNone/>
            </a:pPr>
            <a:endParaRPr lang="en-US" sz="1000"/>
          </a:p>
          <a:p>
            <a:r>
              <a:rPr lang="en-US" sz="1000" kern="1200">
                <a:solidFill>
                  <a:schemeClr val="tx1"/>
                </a:solidFill>
                <a:effectLst/>
              </a:rPr>
              <a:t>Result:</a:t>
            </a:r>
          </a:p>
          <a:p>
            <a:endParaRPr lang="en-US" sz="1000" kern="1200">
              <a:solidFill>
                <a:schemeClr val="tx1"/>
              </a:solidFill>
              <a:effectLst/>
            </a:endParaRPr>
          </a:p>
          <a:p>
            <a:r>
              <a:rPr lang="en-US" sz="1000" kern="1200">
                <a:solidFill>
                  <a:schemeClr val="tx1"/>
                </a:solidFill>
                <a:effectLst/>
                <a:latin typeface="Courier New" panose="02070309020205020404" pitchFamily="49" charset="0"/>
                <a:cs typeface="Courier New" panose="02070309020205020404" pitchFamily="49" charset="0"/>
              </a:rPr>
              <a:t>{</a:t>
            </a:r>
          </a:p>
          <a:p>
            <a:r>
              <a:rPr lang="en-US" sz="1000" kern="1200">
                <a:solidFill>
                  <a:schemeClr val="tx1"/>
                </a:solidFill>
                <a:effectLst/>
                <a:latin typeface="Courier New" panose="02070309020205020404" pitchFamily="49" charset="0"/>
                <a:cs typeface="Courier New" panose="02070309020205020404" pitchFamily="49" charset="0"/>
              </a:rPr>
              <a:t>  "TargetHealthDescriptions":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"HealthCheckPort": "80",</a:t>
            </a:r>
          </a:p>
          <a:p>
            <a:r>
              <a:rPr lang="en-US" sz="1000" kern="1200">
                <a:solidFill>
                  <a:schemeClr val="tx1"/>
                </a:solidFill>
                <a:effectLst/>
                <a:latin typeface="Courier New" panose="02070309020205020404" pitchFamily="49" charset="0"/>
                <a:cs typeface="Courier New" panose="02070309020205020404" pitchFamily="49" charset="0"/>
              </a:rPr>
              <a:t>          "Target": {</a:t>
            </a:r>
          </a:p>
          <a:p>
            <a:r>
              <a:rPr lang="en-US" sz="1000" kern="1200">
                <a:solidFill>
                  <a:schemeClr val="tx1"/>
                </a:solidFill>
                <a:effectLst/>
                <a:latin typeface="Courier New" panose="02070309020205020404" pitchFamily="49" charset="0"/>
                <a:cs typeface="Courier New" panose="02070309020205020404" pitchFamily="49" charset="0"/>
              </a:rPr>
              <a:t>              "Id": "i-12345678",</a:t>
            </a:r>
          </a:p>
          <a:p>
            <a:r>
              <a:rPr lang="en-US" sz="1000" kern="1200">
                <a:solidFill>
                  <a:schemeClr val="tx1"/>
                </a:solidFill>
                <a:effectLst/>
                <a:latin typeface="Courier New" panose="02070309020205020404" pitchFamily="49" charset="0"/>
                <a:cs typeface="Courier New" panose="02070309020205020404" pitchFamily="49" charset="0"/>
              </a:rPr>
              <a:t>              "Port": 80</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"TargetHealth": {</a:t>
            </a:r>
          </a:p>
          <a:p>
            <a:r>
              <a:rPr lang="en-US" sz="1000" kern="1200">
                <a:solidFill>
                  <a:schemeClr val="tx1"/>
                </a:solidFill>
                <a:effectLst/>
                <a:latin typeface="Courier New" panose="02070309020205020404" pitchFamily="49" charset="0"/>
                <a:cs typeface="Courier New" panose="02070309020205020404" pitchFamily="49" charset="0"/>
              </a:rPr>
              <a:t>              "State": "healthy"</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"HealthCheckPort": "80",</a:t>
            </a:r>
          </a:p>
          <a:p>
            <a:r>
              <a:rPr lang="en-US" sz="1000" kern="1200">
                <a:solidFill>
                  <a:schemeClr val="tx1"/>
                </a:solidFill>
                <a:effectLst/>
                <a:latin typeface="Courier New" panose="02070309020205020404" pitchFamily="49" charset="0"/>
                <a:cs typeface="Courier New" panose="02070309020205020404" pitchFamily="49" charset="0"/>
              </a:rPr>
              <a:t>          "Target": {</a:t>
            </a:r>
          </a:p>
          <a:p>
            <a:r>
              <a:rPr lang="en-US" sz="1000" kern="1200">
                <a:solidFill>
                  <a:schemeClr val="tx1"/>
                </a:solidFill>
                <a:effectLst/>
                <a:latin typeface="Courier New" panose="02070309020205020404" pitchFamily="49" charset="0"/>
                <a:cs typeface="Courier New" panose="02070309020205020404" pitchFamily="49" charset="0"/>
              </a:rPr>
              <a:t>              "Id": "i-23456789",</a:t>
            </a:r>
          </a:p>
          <a:p>
            <a:r>
              <a:rPr lang="en-US" sz="1000" kern="1200">
                <a:solidFill>
                  <a:schemeClr val="tx1"/>
                </a:solidFill>
                <a:effectLst/>
                <a:latin typeface="Courier New" panose="02070309020205020404" pitchFamily="49" charset="0"/>
                <a:cs typeface="Courier New" panose="02070309020205020404" pitchFamily="49" charset="0"/>
              </a:rPr>
              <a:t>              "Port": 80</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"TargetHealth": {</a:t>
            </a:r>
          </a:p>
          <a:p>
            <a:r>
              <a:rPr lang="en-US" sz="1000" kern="1200">
                <a:solidFill>
                  <a:schemeClr val="tx1"/>
                </a:solidFill>
                <a:effectLst/>
                <a:latin typeface="Courier New" panose="02070309020205020404" pitchFamily="49" charset="0"/>
                <a:cs typeface="Courier New" panose="02070309020205020404" pitchFamily="49" charset="0"/>
              </a:rPr>
              <a:t>              "State": "healthy"</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a:t>
            </a:r>
          </a:p>
          <a:p>
            <a:pPr marL="0" indent="0" algn="l" defTabSz="914400" rtl="0" eaLnBrk="1" latinLnBrk="0" hangingPunct="1">
              <a:buFont typeface="+mj-lt"/>
              <a:buNone/>
            </a:pPr>
            <a:endParaRPr lang="en-US" sz="1000"/>
          </a:p>
        </p:txBody>
      </p:sp>
    </p:spTree>
    <p:extLst>
      <p:ext uri="{BB962C8B-B14F-4D97-AF65-F5344CB8AC3E}">
        <p14:creationId xmlns:p14="http://schemas.microsoft.com/office/powerpoint/2010/main" val="1168958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Some key</a:t>
            </a:r>
            <a:r>
              <a:rPr lang="en-US" sz="1000" baseline="0"/>
              <a:t> </a:t>
            </a:r>
            <a:r>
              <a:rPr lang="en-US" sz="1000"/>
              <a:t>t</a:t>
            </a:r>
            <a:r>
              <a:rPr lang="en-US" sz="1000" baseline="0"/>
              <a:t>akeaways from this section include:</a:t>
            </a:r>
          </a:p>
          <a:p>
            <a:pPr marL="171450" marR="0" lvl="0" indent="-171450" algn="l" defTabSz="457200" rtl="0" eaLnBrk="1" fontAlgn="auto" latinLnBrk="0" hangingPunct="1">
              <a:lnSpc>
                <a:spcPct val="100000"/>
              </a:lnSpc>
              <a:spcBef>
                <a:spcPts val="0"/>
              </a:spcBef>
              <a:buClrTx/>
              <a:buSzTx/>
              <a:buFont typeface="Arial" panose="020B0604020202020204" pitchFamily="34" charset="0"/>
              <a:buChar char="•"/>
              <a:tabLst/>
              <a:defRPr/>
            </a:pPr>
            <a:endParaRPr lang="en-US" sz="1000"/>
          </a:p>
          <a:p>
            <a:pPr marL="171450" marR="0" lvl="0"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a:t>There are three types of load balancers: </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a:t>Application load balancers</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a:t>Network load balancers</a:t>
            </a:r>
          </a:p>
          <a:p>
            <a:pPr marL="6286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sz="1000"/>
              <a:t>Classic load balancers</a:t>
            </a:r>
          </a:p>
          <a:p>
            <a:pPr marL="171450" indent="-171450">
              <a:buFont typeface="Arial" panose="020B0604020202020204" pitchFamily="34" charset="0"/>
              <a:buChar char="•"/>
            </a:pPr>
            <a:r>
              <a:rPr lang="en-US" sz="1000"/>
              <a:t>Each listener checks for connection requests from clients, using the protocol and port that you configure, and then forwards requests to one or more target groups, based on the defined rules. </a:t>
            </a:r>
          </a:p>
          <a:p>
            <a:pPr marL="171450" indent="-171450">
              <a:buFont typeface="Arial" panose="020B0604020202020204" pitchFamily="34" charset="0"/>
              <a:buChar char="•"/>
            </a:pPr>
            <a:r>
              <a:rPr lang="en-US" sz="1000"/>
              <a:t>Each rule specifies a target group, condition, and priority. </a:t>
            </a:r>
          </a:p>
          <a:p>
            <a:pPr marL="171450" indent="-171450">
              <a:buFont typeface="Arial" panose="020B0604020202020204" pitchFamily="34" charset="0"/>
              <a:buChar char="•"/>
            </a:pPr>
            <a:endParaRPr lang="en-US" sz="1000"/>
          </a:p>
          <a:p>
            <a:endParaRPr lang="en-US" sz="1000"/>
          </a:p>
        </p:txBody>
      </p:sp>
    </p:spTree>
    <p:extLst>
      <p:ext uri="{BB962C8B-B14F-4D97-AF65-F5344CB8AC3E}">
        <p14:creationId xmlns:p14="http://schemas.microsoft.com/office/powerpoint/2010/main" val="1601908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US" sz="1000"/>
              <a:t>The module will now explore Amazon EC2 Auto Scaling.</a:t>
            </a:r>
          </a:p>
          <a:p>
            <a:pPr eaLnBrk="1" hangingPunct="1"/>
            <a:endParaRPr lang="en-US" sz="1000">
              <a:latin typeface="Arial"/>
              <a:cs typeface="Arial"/>
            </a:endParaRPr>
          </a:p>
        </p:txBody>
      </p:sp>
    </p:spTree>
    <p:extLst>
      <p:ext uri="{BB962C8B-B14F-4D97-AF65-F5344CB8AC3E}">
        <p14:creationId xmlns:p14="http://schemas.microsoft.com/office/powerpoint/2010/main" val="2453534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406171"/>
          </a:xfrm>
        </p:spPr>
        <p:txBody>
          <a:bodyPr/>
          <a:lstStyle/>
          <a:p>
            <a:r>
              <a:rPr lang="en-US" sz="1000" i="1"/>
              <a:t>Amazon EC2 Auto Scaling </a:t>
            </a:r>
            <a:r>
              <a:rPr lang="en-US" sz="1000"/>
              <a:t>helps you maintain application availability and allows you to automatically add or remove EC2 instances according to conditions you define.  For example, you can configure EC2 Auto Scaling to terminate EC2 instances the fail health status checks, and launch new EC2 Instances to replace the terminated ones. You can create user-defined policies that use Amazon CloudWatch to trigger when to add or remove Amazon EC2 instances based on conditions such as average CPU utilization of your Amazon EC2 fleet.</a:t>
            </a:r>
          </a:p>
          <a:p>
            <a:endParaRPr lang="en-US" sz="1000"/>
          </a:p>
          <a:p>
            <a:r>
              <a:rPr lang="en-US" sz="1000"/>
              <a:t>If you have predictable load changes, you can set a </a:t>
            </a:r>
            <a:r>
              <a:rPr lang="en-US" sz="1000" i="1"/>
              <a:t>schedule</a:t>
            </a:r>
            <a:r>
              <a:rPr lang="en-US" sz="1000"/>
              <a:t> through Amazon EC2 Auto Scaling to plan your scaling activities. The features of Amazon EC2 Auto Scaling give you the ability to scale out in order to meet demand and to scale in to reduce costs.</a:t>
            </a:r>
          </a:p>
          <a:p>
            <a:endParaRPr lang="en-US" sz="1000"/>
          </a:p>
          <a:p>
            <a:endParaRPr lang="en-US" sz="1000"/>
          </a:p>
        </p:txBody>
      </p:sp>
    </p:spTree>
    <p:extLst>
      <p:ext uri="{BB962C8B-B14F-4D97-AF65-F5344CB8AC3E}">
        <p14:creationId xmlns:p14="http://schemas.microsoft.com/office/powerpoint/2010/main" val="1309008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2"/>
            <a:ext cx="5608319" cy="4001186"/>
          </a:xfrm>
        </p:spPr>
        <p:txBody>
          <a:bodyPr/>
          <a:lstStyle/>
          <a:p>
            <a:r>
              <a:rPr lang="en-US" sz="1000">
                <a:latin typeface="+mn-lt"/>
              </a:rPr>
              <a:t>To configure EC2 Auto Scaling, you must first create a launch configuration, and then create an Auto Scaling group. </a:t>
            </a:r>
          </a:p>
          <a:p>
            <a:endParaRPr lang="en-US" sz="1000">
              <a:latin typeface="+mn-lt"/>
            </a:endParaRPr>
          </a:p>
          <a:p>
            <a:r>
              <a:rPr lang="en-US" sz="1000">
                <a:latin typeface="+mn-lt"/>
              </a:rPr>
              <a:t>To create a </a:t>
            </a:r>
            <a:r>
              <a:rPr lang="en-US" sz="1000" b="0" i="1">
                <a:latin typeface="+mn-lt"/>
              </a:rPr>
              <a:t>launch configuration</a:t>
            </a:r>
            <a:r>
              <a:rPr lang="en-US" sz="1000" b="0">
                <a:latin typeface="+mn-lt"/>
              </a:rPr>
              <a:t>,</a:t>
            </a:r>
            <a:r>
              <a:rPr lang="en-US" sz="1000" b="1">
                <a:latin typeface="+mn-lt"/>
              </a:rPr>
              <a:t> </a:t>
            </a:r>
            <a:r>
              <a:rPr lang="en-US" sz="1000">
                <a:latin typeface="+mn-lt"/>
              </a:rPr>
              <a:t>you must specify AWS Identity and Access Management (IAM)</a:t>
            </a:r>
            <a:r>
              <a:rPr lang="en-US" sz="1000" baseline="0">
                <a:latin typeface="+mn-lt"/>
              </a:rPr>
              <a:t> </a:t>
            </a:r>
            <a:r>
              <a:rPr lang="en-US" sz="1000">
                <a:latin typeface="+mn-lt"/>
              </a:rPr>
              <a:t>roles, security groups, storage, instance type, user data, key pairs, etc.</a:t>
            </a:r>
            <a:r>
              <a:rPr lang="en-US" sz="1000" baseline="0">
                <a:latin typeface="+mn-lt"/>
              </a:rPr>
              <a:t> These requirements are </a:t>
            </a:r>
            <a:r>
              <a:rPr lang="en-US" sz="1000">
                <a:latin typeface="+mn-lt"/>
              </a:rPr>
              <a:t>similar to the requirements for launching an EC2 instance. However—unlike an EC2 instance—when you create a launch configuration, you do not specify an Amazon VPC or subnet where your instances will launch.</a:t>
            </a:r>
            <a:r>
              <a:rPr lang="en-US" sz="1000" baseline="0">
                <a:latin typeface="+mn-lt"/>
              </a:rPr>
              <a:t> This detail</a:t>
            </a:r>
            <a:r>
              <a:rPr lang="en-US" sz="1000">
                <a:latin typeface="+mn-lt"/>
              </a:rPr>
              <a:t> will be specified by the Auto Scaling group that uses your launch configuration. </a:t>
            </a:r>
          </a:p>
          <a:p>
            <a:endParaRPr lang="en-US" sz="1000">
              <a:latin typeface="+mn-lt"/>
            </a:endParaRPr>
          </a:p>
          <a:p>
            <a:r>
              <a:rPr lang="en-US" sz="1000">
                <a:latin typeface="+mn-lt"/>
              </a:rPr>
              <a:t>Launch configurations do allow you to specify one networking option: whether or not to automatically assign a public IP address to each new instance that is created from the launch configuration. Note that it is not necessary to select this option if your instances will be launched in a private subnet behind a public ELB load balancer.</a:t>
            </a:r>
          </a:p>
          <a:p>
            <a:endParaRPr lang="en-US" sz="1000">
              <a:latin typeface="+mn-lt"/>
            </a:endParaRPr>
          </a:p>
          <a:p>
            <a:r>
              <a:rPr lang="en-US" sz="1000">
                <a:latin typeface="+mn-lt"/>
              </a:rPr>
              <a:t>There are two basic ways to trigger changes to an </a:t>
            </a:r>
            <a:r>
              <a:rPr lang="en-US" sz="1000" b="0" i="1">
                <a:latin typeface="+mn-lt"/>
              </a:rPr>
              <a:t>EC2 Auto Scaling group</a:t>
            </a:r>
            <a:r>
              <a:rPr lang="en-US" sz="1000">
                <a:latin typeface="+mn-lt"/>
              </a:rPr>
              <a:t>. </a:t>
            </a:r>
          </a:p>
          <a:p>
            <a:endParaRPr lang="en-US" sz="1000">
              <a:latin typeface="+mn-lt"/>
            </a:endParaRPr>
          </a:p>
          <a:p>
            <a:pPr marL="228600" indent="-228600">
              <a:buFont typeface="+mj-lt"/>
              <a:buAutoNum type="arabicPeriod"/>
            </a:pPr>
            <a:r>
              <a:rPr lang="en-US" sz="1000">
                <a:latin typeface="+mn-lt"/>
              </a:rPr>
              <a:t>Define a scaling policy that either scales </a:t>
            </a:r>
            <a:r>
              <a:rPr lang="en-US" sz="1000" i="1">
                <a:latin typeface="+mn-lt"/>
              </a:rPr>
              <a:t>out</a:t>
            </a:r>
            <a:r>
              <a:rPr lang="en-US" sz="1000">
                <a:latin typeface="+mn-lt"/>
              </a:rPr>
              <a:t> or scales </a:t>
            </a:r>
            <a:r>
              <a:rPr lang="en-US" sz="1000" i="1">
                <a:latin typeface="+mn-lt"/>
              </a:rPr>
              <a:t>in</a:t>
            </a:r>
            <a:r>
              <a:rPr lang="en-US" sz="1000">
                <a:latin typeface="+mn-lt"/>
              </a:rPr>
              <a:t> based on a CloudWatch alarm. You can define a CloudWatch alarm—for example, </a:t>
            </a:r>
            <a:r>
              <a:rPr lang="en-US" sz="1000" i="1">
                <a:latin typeface="+mn-lt"/>
              </a:rPr>
              <a:t>Average CPU Utilization &gt; 50</a:t>
            </a:r>
            <a:r>
              <a:rPr lang="en-US" sz="1000" i="1" baseline="0">
                <a:latin typeface="+mn-lt"/>
              </a:rPr>
              <a:t> percent</a:t>
            </a:r>
            <a:r>
              <a:rPr lang="en-US" sz="1000" i="1">
                <a:latin typeface="+mn-lt"/>
              </a:rPr>
              <a:t> for 2 minutes</a:t>
            </a:r>
            <a:r>
              <a:rPr lang="en-US" sz="1000">
                <a:latin typeface="+mn-lt"/>
              </a:rPr>
              <a:t>—that calls an </a:t>
            </a:r>
            <a:r>
              <a:rPr lang="en-US" sz="1000" b="0" i="1">
                <a:latin typeface="+mn-lt"/>
              </a:rPr>
              <a:t>EC2 Auto Scaling policy</a:t>
            </a:r>
            <a:r>
              <a:rPr lang="en-US" sz="1000">
                <a:latin typeface="+mn-lt"/>
              </a:rPr>
              <a:t>. The policy will specify one of two options. The first option is to add or remove a fixed number of instances. the second option is to adjust the number of running instances as a percentage of the desired capacity for the EC2 Auto Scaling group.</a:t>
            </a:r>
          </a:p>
          <a:p>
            <a:pPr marL="228600" indent="-228600">
              <a:buFont typeface="+mj-lt"/>
              <a:buAutoNum type="arabicPeriod"/>
            </a:pPr>
            <a:endParaRPr lang="en-US" sz="1000">
              <a:latin typeface="+mn-lt"/>
            </a:endParaRPr>
          </a:p>
          <a:p>
            <a:pPr marL="228600" indent="-228600">
              <a:buFont typeface="+mj-lt"/>
              <a:buAutoNum type="arabicPeriod"/>
            </a:pPr>
            <a:r>
              <a:rPr lang="en-US" sz="1000">
                <a:latin typeface="+mn-lt"/>
              </a:rPr>
              <a:t>Define a scheduled action. </a:t>
            </a:r>
            <a:r>
              <a:rPr lang="en-US" sz="1000" b="0" i="1">
                <a:latin typeface="+mn-lt"/>
              </a:rPr>
              <a:t>Scheduled actions </a:t>
            </a:r>
            <a:r>
              <a:rPr lang="en-US" sz="1000">
                <a:latin typeface="+mn-lt"/>
              </a:rPr>
              <a:t>set a new desired capacity value at a specific time. You can specify a scheduled action to trigger on a specific date and time.</a:t>
            </a:r>
            <a:r>
              <a:rPr lang="en-US" sz="1000" baseline="0">
                <a:latin typeface="+mn-lt"/>
              </a:rPr>
              <a:t> You can also </a:t>
            </a:r>
            <a:r>
              <a:rPr lang="en-US" sz="1000">
                <a:latin typeface="+mn-lt"/>
              </a:rPr>
              <a:t>specify a recurring action that is run at specific times throughout a week, month, or year. Scheduled actions are an excellent way to prewarm capacity in response to anticipated traffic spikes. </a:t>
            </a:r>
            <a:endParaRPr lang="en-US" sz="1000" b="1" i="0">
              <a:latin typeface="+mn-lt"/>
            </a:endParaRPr>
          </a:p>
          <a:p>
            <a:endParaRPr lang="en-US" sz="1000" b="0" i="0">
              <a:latin typeface="+mn-lt"/>
            </a:endParaRPr>
          </a:p>
        </p:txBody>
      </p:sp>
    </p:spTree>
    <p:extLst>
      <p:ext uri="{BB962C8B-B14F-4D97-AF65-F5344CB8AC3E}">
        <p14:creationId xmlns:p14="http://schemas.microsoft.com/office/powerpoint/2010/main" val="345862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EC2 Auto Scaling tracks the health state of instances and terminates instances that are marked unhealthy. In this way, you can help ensure that the instances that are part of the Auto Scaling group are all functioning properly. </a:t>
            </a:r>
          </a:p>
          <a:p>
            <a:endParaRPr lang="en-US" sz="1000"/>
          </a:p>
          <a:p>
            <a:r>
              <a:rPr lang="en-US" sz="1000"/>
              <a:t>By default, EC2 Auto Scaling uses Amazon EC2 instance status checks. If an Auto Scaling group is behind a load balancer, either the load balancer's instance checks or the Amazon EC2 instance checks are used for health monitoring. External scripts can trigger the recycling of an instance by invoking the </a:t>
            </a:r>
            <a:r>
              <a:rPr lang="en-US" sz="1000">
                <a:latin typeface="Courier New" panose="02070309020205020404" pitchFamily="49" charset="0"/>
                <a:cs typeface="Courier New" panose="02070309020205020404" pitchFamily="49" charset="0"/>
              </a:rPr>
              <a:t>aws autoscaling set-instance-health</a:t>
            </a:r>
            <a:r>
              <a:rPr lang="en-US" sz="1000"/>
              <a:t> command.</a:t>
            </a:r>
            <a:endParaRPr lang="en-US" sz="1000" b="0"/>
          </a:p>
          <a:p>
            <a:pPr marL="0" marR="0" indent="0" algn="l" defTabSz="457200" rtl="0" eaLnBrk="1" fontAlgn="auto" latinLnBrk="0" hangingPunct="1">
              <a:lnSpc>
                <a:spcPct val="100000"/>
              </a:lnSpc>
              <a:spcBef>
                <a:spcPts val="0"/>
              </a:spcBef>
              <a:spcAft>
                <a:spcPts val="0"/>
              </a:spcAft>
              <a:buClrTx/>
              <a:buSzTx/>
              <a:buFontTx/>
              <a:buNone/>
              <a:tabLst/>
              <a:defRPr/>
            </a:pPr>
            <a:endParaRPr lang="en-US" sz="1000" b="0"/>
          </a:p>
          <a:p>
            <a:pPr marL="0" marR="0" indent="0" algn="l" defTabSz="457200" rtl="0" eaLnBrk="1" fontAlgn="auto" latinLnBrk="0" hangingPunct="1">
              <a:lnSpc>
                <a:spcPct val="100000"/>
              </a:lnSpc>
              <a:spcBef>
                <a:spcPts val="0"/>
              </a:spcBef>
              <a:spcAft>
                <a:spcPts val="0"/>
              </a:spcAft>
              <a:buClrTx/>
              <a:buSzTx/>
              <a:buFontTx/>
              <a:buNone/>
              <a:tabLst/>
              <a:defRPr/>
            </a:pPr>
            <a:r>
              <a:rPr lang="en-US" sz="1000" b="0"/>
              <a:t>For</a:t>
            </a:r>
            <a:r>
              <a:rPr lang="en-US" sz="1000" b="0" baseline="0"/>
              <a:t> more information about i</a:t>
            </a:r>
            <a:r>
              <a:rPr lang="en-US" sz="1000" b="0"/>
              <a:t>nstance status checks, see </a:t>
            </a:r>
            <a:r>
              <a:rPr lang="en-US" sz="1000">
                <a:hlinkClick r:id="rId3"/>
              </a:rPr>
              <a:t>http://docs.aws.amazon.com\AWSEC2\latest\UserGuide\monitoring-system-instance-status-check.html</a:t>
            </a:r>
            <a:r>
              <a:rPr lang="en-US" sz="1000"/>
              <a:t> </a:t>
            </a:r>
            <a:endParaRPr lang="en-US" sz="1000" b="0"/>
          </a:p>
        </p:txBody>
      </p:sp>
    </p:spTree>
    <p:extLst>
      <p:ext uri="{BB962C8B-B14F-4D97-AF65-F5344CB8AC3E}">
        <p14:creationId xmlns:p14="http://schemas.microsoft.com/office/powerpoint/2010/main" val="3027203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86250"/>
          </a:xfrm>
        </p:spPr>
        <p:txBody>
          <a:bodyPr/>
          <a:lstStyle/>
          <a:p>
            <a:r>
              <a:rPr lang="en-US" sz="1000"/>
              <a:t>With each Auto Scaling group, you control when it adds instances (which is referred to as scaling out) or remove instances (which is referred to as scaling in) from your network architecture. You can scale the size of your group manually by attaching and detaching instances, or you can automate the process through the use of a scaling policy. </a:t>
            </a:r>
          </a:p>
          <a:p>
            <a:endParaRPr lang="en-US" sz="100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The </a:t>
            </a:r>
            <a:r>
              <a:rPr lang="en-US" sz="1000" b="0" i="1"/>
              <a:t>default termination policy </a:t>
            </a:r>
            <a:r>
              <a:rPr lang="en-US" sz="1000"/>
              <a:t>is designed to help ensure that your instances span Availability Zones evenly for high availability. </a:t>
            </a:r>
            <a:r>
              <a:rPr lang="en-US" sz="1000" b="0"/>
              <a:t>The default termination policy is typically sufficient for most situations. However, you have the option of replacing the default policy with a customized one. For example, you can define a </a:t>
            </a:r>
            <a:r>
              <a:rPr lang="en-US" sz="1000" b="0" i="1"/>
              <a:t>custom termination policy</a:t>
            </a:r>
            <a:r>
              <a:rPr lang="en-US" sz="1000" b="1"/>
              <a:t> </a:t>
            </a:r>
            <a:r>
              <a:rPr lang="en-US" sz="1000"/>
              <a:t>to specify which instances to terminate first during scale in.</a:t>
            </a:r>
          </a:p>
          <a:p>
            <a:endParaRPr lang="en-US" sz="1000"/>
          </a:p>
          <a:p>
            <a:r>
              <a:rPr lang="en-US" sz="1000"/>
              <a:t>Use the EC2 Auto Scaling API</a:t>
            </a:r>
            <a:r>
              <a:rPr lang="en-US" sz="1000" baseline="0"/>
              <a:t> </a:t>
            </a:r>
            <a:r>
              <a:rPr lang="en-US" sz="1000"/>
              <a:t>TerminateInstanceInAutoScalingGroup action to atomically terminate</a:t>
            </a:r>
            <a:r>
              <a:rPr lang="en-US" sz="1000" baseline="0"/>
              <a:t> a</a:t>
            </a:r>
            <a:r>
              <a:rPr lang="en-US" sz="1000"/>
              <a:t> specific instance and, optionally, to decrement the desired group size. For example, you might choose to always terminate the instance with the fewest user sessions. To do this, first </a:t>
            </a:r>
            <a:r>
              <a:rPr lang="en-US" sz="1000" kern="1200">
                <a:solidFill>
                  <a:schemeClr val="tx1"/>
                </a:solidFill>
                <a:effectLst/>
              </a:rPr>
              <a:t>determine the ID of the instance with the fewest user sessions and then call TerminateInstanceInAutoScalingGroup, passing in the instance ID as a parameter.  </a:t>
            </a:r>
          </a:p>
          <a:p>
            <a:endParaRPr lang="en-US" sz="1000" b="0"/>
          </a:p>
          <a:p>
            <a:r>
              <a:rPr lang="en-US" sz="1000" b="0"/>
              <a:t>For more</a:t>
            </a:r>
            <a:r>
              <a:rPr lang="en-US" sz="1000" b="0" baseline="0"/>
              <a:t> information, see </a:t>
            </a:r>
            <a:r>
              <a:rPr lang="en-US" sz="1000"/>
              <a:t>http://docs.aws.amazon.com/autoscaling/latest/userguide/as-instance-termination.html.</a:t>
            </a:r>
          </a:p>
          <a:p>
            <a:endParaRPr lang="en-US" sz="1000" b="0"/>
          </a:p>
          <a:p>
            <a:r>
              <a:rPr lang="en-US" sz="1000" kern="1200">
                <a:solidFill>
                  <a:schemeClr val="tx1"/>
                </a:solidFill>
                <a:effectLst/>
              </a:rPr>
              <a:t>Add this document link for Autoscaling specifics to health checks:</a:t>
            </a:r>
          </a:p>
          <a:p>
            <a:pPr marL="171450" indent="-171450">
              <a:buFont typeface="Arial" panose="020B0604020202020204" pitchFamily="34" charset="0"/>
              <a:buChar char="•"/>
            </a:pPr>
            <a:r>
              <a:rPr lang="en-US" sz="1000" u="sng" kern="1200">
                <a:solidFill>
                  <a:schemeClr val="tx1"/>
                </a:solidFill>
                <a:effectLst/>
                <a:hlinkClick r:id="rId3"/>
              </a:rPr>
              <a:t>https://docs.aws.amazon.com/autoscaling/ec2/userguide/healthcheck.html</a:t>
            </a:r>
            <a:endParaRPr lang="en-US" sz="1000" kern="1200">
              <a:solidFill>
                <a:schemeClr val="tx1"/>
              </a:solidFill>
              <a:effectLst/>
            </a:endParaRPr>
          </a:p>
          <a:p>
            <a:pPr marL="171450" indent="-171450">
              <a:buFont typeface="Arial" panose="020B0604020202020204" pitchFamily="34" charset="0"/>
              <a:buChar char="•"/>
            </a:pPr>
            <a:r>
              <a:rPr lang="en-US" sz="1000" u="sng" kern="1200">
                <a:solidFill>
                  <a:schemeClr val="tx1"/>
                </a:solidFill>
                <a:effectLst/>
                <a:hlinkClick r:id="rId4"/>
              </a:rPr>
              <a:t>https://docs.aws.amazon.com/elasticloadbalancing/latest/application/target-group-health-checks.html</a:t>
            </a:r>
            <a:endParaRPr lang="en-US" sz="1000" u="sng" kern="1200">
              <a:solidFill>
                <a:schemeClr val="tx1"/>
              </a:solidFill>
              <a:effectLst/>
            </a:endParaRPr>
          </a:p>
          <a:p>
            <a:endParaRPr lang="en-US" sz="1000" kern="1200">
              <a:solidFill>
                <a:schemeClr val="tx1"/>
              </a:solidFill>
              <a:effectLst/>
            </a:endParaRPr>
          </a:p>
          <a:p>
            <a:r>
              <a:rPr lang="en-US" sz="1000" kern="1200">
                <a:solidFill>
                  <a:schemeClr val="tx1"/>
                </a:solidFill>
                <a:effectLst/>
              </a:rPr>
              <a:t>Utilizing Target Group health checks enables the ability to test application availability at specific paths, protocols, or ports. This allows auto scaling groups to make more intelligent decisions to determine the health of instances and process replacements.</a:t>
            </a:r>
          </a:p>
          <a:p>
            <a:endParaRPr lang="en-US" sz="1000" b="0"/>
          </a:p>
        </p:txBody>
      </p:sp>
    </p:spTree>
    <p:extLst>
      <p:ext uri="{BB962C8B-B14F-4D97-AF65-F5344CB8AC3E}">
        <p14:creationId xmlns:p14="http://schemas.microsoft.com/office/powerpoint/2010/main" val="15759800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a:t>When you customize the </a:t>
            </a:r>
            <a:r>
              <a:rPr lang="en-US" sz="1000" b="0" i="1"/>
              <a:t>termination policy</a:t>
            </a:r>
            <a:r>
              <a:rPr lang="en-US" sz="1000" b="0"/>
              <a:t>, if one Availability Zone has more instances than the other Availability Zones that are used by the group, then your termination policy is applied to the instances from the imbalanced Availability Zone. If the Availability Zones used by the group are balanced, then the termination policy is applied across all the Availability Zones for the group.</a:t>
            </a:r>
          </a:p>
          <a:p>
            <a:endParaRPr lang="en-US" sz="1000" b="0"/>
          </a:p>
          <a:p>
            <a:r>
              <a:rPr lang="en-US" sz="1000" b="0"/>
              <a:t>Amazon EC2 Auto Scaling supports custom termination policies, including the ones listed here: </a:t>
            </a:r>
          </a:p>
          <a:p>
            <a:pPr marL="171450" indent="-171450">
              <a:buFont typeface="Arial" panose="020B0604020202020204" pitchFamily="34" charset="0"/>
              <a:buChar char="•"/>
            </a:pPr>
            <a:endParaRPr lang="en-US" sz="1000" b="0"/>
          </a:p>
          <a:p>
            <a:pPr marL="171450" indent="-171450">
              <a:buFont typeface="Arial" panose="020B0604020202020204" pitchFamily="34" charset="0"/>
              <a:buChar char="•"/>
            </a:pPr>
            <a:r>
              <a:rPr lang="en-US" sz="1000" b="0" i="1"/>
              <a:t>OldestInstance</a:t>
            </a:r>
            <a:r>
              <a:rPr lang="en-US" sz="1000" b="0" i="0" baseline="0"/>
              <a:t> –</a:t>
            </a:r>
            <a:r>
              <a:rPr lang="en-US" sz="1000" b="0"/>
              <a:t> Terminates the oldest instance in the group. This option is useful when you</a:t>
            </a:r>
            <a:r>
              <a:rPr lang="en-US" sz="1000" b="0" baseline="0"/>
              <a:t> a</a:t>
            </a:r>
            <a:r>
              <a:rPr lang="en-US" sz="1000" b="0"/>
              <a:t>re upgrading the instances in the Auto Scaling group to a new EC2 instance type. You can gradually replace instances of the old type with instances of the new type.</a:t>
            </a:r>
          </a:p>
          <a:p>
            <a:pPr marL="171450" indent="-171450">
              <a:buFont typeface="Arial" panose="020B0604020202020204" pitchFamily="34" charset="0"/>
              <a:buChar char="•"/>
            </a:pPr>
            <a:endParaRPr lang="en-US" sz="1000" b="0"/>
          </a:p>
          <a:p>
            <a:pPr marL="171450" indent="-171450">
              <a:buFont typeface="Arial" panose="020B0604020202020204" pitchFamily="34" charset="0"/>
              <a:buChar char="•"/>
            </a:pPr>
            <a:r>
              <a:rPr lang="en-US" sz="1000" b="0" i="1"/>
              <a:t>NewestInstance</a:t>
            </a:r>
            <a:r>
              <a:rPr lang="en-US" sz="1000" b="0" baseline="0"/>
              <a:t> –</a:t>
            </a:r>
            <a:r>
              <a:rPr lang="en-US" sz="1000" b="0"/>
              <a:t> Terminates the newest instance in the group. This policy is useful when you</a:t>
            </a:r>
            <a:r>
              <a:rPr lang="en-US" sz="1000" b="0" baseline="0"/>
              <a:t>’re</a:t>
            </a:r>
            <a:r>
              <a:rPr lang="en-US" sz="1000" b="0"/>
              <a:t> testing a new launch configuration, but don’t want to keep it in production.</a:t>
            </a:r>
          </a:p>
          <a:p>
            <a:pPr marL="171450" indent="-171450">
              <a:buFont typeface="Arial" panose="020B0604020202020204" pitchFamily="34" charset="0"/>
              <a:buChar char="•"/>
            </a:pPr>
            <a:endParaRPr lang="en-US" sz="1000" b="0"/>
          </a:p>
          <a:p>
            <a:pPr marL="171450" indent="-171450">
              <a:buFont typeface="Arial" panose="020B0604020202020204" pitchFamily="34" charset="0"/>
              <a:buChar char="•"/>
            </a:pPr>
            <a:r>
              <a:rPr lang="en-US" sz="1000" b="0" i="1"/>
              <a:t>OldestLaunchConfiguration</a:t>
            </a:r>
            <a:r>
              <a:rPr lang="en-US" sz="1000" b="0" i="0" baseline="0"/>
              <a:t> – </a:t>
            </a:r>
            <a:r>
              <a:rPr lang="en-US" sz="1000" b="0"/>
              <a:t>Terminates instances that have the oldest launch configuration. It is a good choice when you're updating a group and phasing out the instances from a previous configuration.</a:t>
            </a:r>
          </a:p>
          <a:p>
            <a:pPr marL="171450" indent="-171450">
              <a:buFont typeface="Arial" panose="020B0604020202020204" pitchFamily="34" charset="0"/>
              <a:buChar char="•"/>
            </a:pPr>
            <a:endParaRPr lang="en-US" sz="1000" b="0"/>
          </a:p>
          <a:p>
            <a:pPr marL="171450" indent="-171450">
              <a:buFont typeface="Arial" panose="020B0604020202020204" pitchFamily="34" charset="0"/>
              <a:buChar char="•"/>
            </a:pPr>
            <a:r>
              <a:rPr lang="en-US" sz="1000" b="0" i="1"/>
              <a:t>ClosestToNextInstanceHour</a:t>
            </a:r>
            <a:r>
              <a:rPr lang="en-US" sz="1000" b="0" baseline="0"/>
              <a:t> –</a:t>
            </a:r>
            <a:r>
              <a:rPr lang="en-US" sz="1000" b="0"/>
              <a:t> Terminates instances that are closest to the next billing hour. It is a good way to maximize the use of your instances and manage your Amazon EC2 usage costs.</a:t>
            </a:r>
          </a:p>
          <a:p>
            <a:endParaRPr lang="en-US" sz="1000" b="0"/>
          </a:p>
          <a:p>
            <a:endParaRPr lang="en-US" sz="1000" b="0"/>
          </a:p>
        </p:txBody>
      </p:sp>
    </p:spTree>
    <p:extLst>
      <p:ext uri="{BB962C8B-B14F-4D97-AF65-F5344CB8AC3E}">
        <p14:creationId xmlns:p14="http://schemas.microsoft.com/office/powerpoint/2010/main" val="1500892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1"/>
              <a:t>EC2 Auto Scaling health checks </a:t>
            </a:r>
            <a:r>
              <a:rPr lang="en-US" sz="1000" b="0"/>
              <a:t>enable you </a:t>
            </a:r>
            <a:r>
              <a:rPr lang="en-US" sz="1000" b="0" baseline="0"/>
              <a:t>to create a </a:t>
            </a:r>
            <a:r>
              <a:rPr lang="en-US" sz="1000" b="0" i="1" baseline="0"/>
              <a:t>steady-state group </a:t>
            </a:r>
            <a:r>
              <a:rPr lang="en-US" sz="1000" b="0" baseline="0"/>
              <a:t>that ensures that a single instance is always running. This is useful for situations, such as when you have a network address translation (NAT) server, and you do not want it to be a single point of failure in a standard public/private subnet architecture. </a:t>
            </a:r>
          </a:p>
          <a:p>
            <a:endParaRPr lang="en-US" sz="1000" b="0" baseline="0"/>
          </a:p>
          <a:p>
            <a:r>
              <a:rPr lang="en-US" sz="1000" b="0" baseline="0"/>
              <a:t>To create a steady-state group for an instance: </a:t>
            </a:r>
          </a:p>
          <a:p>
            <a:pPr marL="228600" indent="-228600">
              <a:buFont typeface="+mj-lt"/>
              <a:buAutoNum type="arabicPeriod"/>
            </a:pPr>
            <a:endParaRPr lang="en-US" sz="1000" b="0" baseline="0"/>
          </a:p>
          <a:p>
            <a:pPr marL="228600" indent="-228600">
              <a:buFont typeface="+mj-lt"/>
              <a:buAutoNum type="arabicPeriod"/>
            </a:pPr>
            <a:r>
              <a:rPr lang="en-US" sz="1000" b="0" baseline="0"/>
              <a:t>Create a launch configuration that creates the instance.</a:t>
            </a:r>
          </a:p>
          <a:p>
            <a:pPr marL="228600" indent="-228600">
              <a:buFont typeface="+mj-lt"/>
              <a:buAutoNum type="arabicPeriod"/>
            </a:pPr>
            <a:endParaRPr lang="en-US" sz="1000" b="0" baseline="0"/>
          </a:p>
          <a:p>
            <a:pPr marL="228600" indent="-228600">
              <a:buFont typeface="+mj-lt"/>
              <a:buAutoNum type="arabicPeriod"/>
            </a:pPr>
            <a:r>
              <a:rPr lang="en-US" sz="1000" b="0" baseline="0"/>
              <a:t>Create an EC2 Auto Scaling group with a minimum, maximum, and desired size of </a:t>
            </a:r>
            <a:r>
              <a:rPr lang="en-US" sz="1000" b="0" i="1" baseline="0"/>
              <a:t>1</a:t>
            </a:r>
            <a:r>
              <a:rPr lang="en-US" sz="1000" b="0" baseline="0"/>
              <a:t>. When one of these instances is marked as unhealthy, such as when an instance check fails or an external script marks the instance as unhealthy with a call to the AWS CLI </a:t>
            </a:r>
            <a:r>
              <a:rPr lang="en-US" sz="1000" b="0" baseline="0">
                <a:latin typeface="Courier New" panose="02070309020205020404" pitchFamily="49" charset="0"/>
                <a:cs typeface="Courier New" panose="02070309020205020404" pitchFamily="49" charset="0"/>
              </a:rPr>
              <a:t>aws autoscaling set-instance-health</a:t>
            </a:r>
            <a:r>
              <a:rPr lang="en-US" sz="1000" b="0" baseline="0"/>
              <a:t> command.</a:t>
            </a:r>
          </a:p>
          <a:p>
            <a:pPr marL="228600" indent="-228600">
              <a:buFont typeface="+mj-lt"/>
              <a:buAutoNum type="arabicPeriod"/>
            </a:pPr>
            <a:endParaRPr lang="en-US" sz="1000" b="0" baseline="0"/>
          </a:p>
          <a:p>
            <a:pPr marL="228600" indent="-228600">
              <a:buFont typeface="+mj-lt"/>
              <a:buAutoNum type="arabicPeriod"/>
            </a:pPr>
            <a:r>
              <a:rPr lang="en-US" sz="1000" b="0" baseline="0"/>
              <a:t>The EC2 Auto Scaling group will terminate the existing instance and create a new instance from the group's launch configuration. </a:t>
            </a:r>
          </a:p>
          <a:p>
            <a:endParaRPr lang="en-US" sz="1000" b="0"/>
          </a:p>
          <a:p>
            <a:r>
              <a:rPr lang="en-US" sz="1000" b="0"/>
              <a:t>Note that in cases such as deploying a NAT instance, the NAT is still a single point of failure.</a:t>
            </a:r>
            <a:r>
              <a:rPr lang="en-US" sz="1000" b="0" baseline="0"/>
              <a:t> Y</a:t>
            </a:r>
            <a:r>
              <a:rPr lang="en-US" sz="1000" b="0"/>
              <a:t>ou can still experience significant downtime while a failed NAT</a:t>
            </a:r>
            <a:r>
              <a:rPr lang="en-US" sz="1000" b="0" baseline="0"/>
              <a:t> instance is recycling. </a:t>
            </a:r>
            <a:endParaRPr lang="en-US" sz="1000" b="0"/>
          </a:p>
        </p:txBody>
      </p:sp>
    </p:spTree>
    <p:extLst>
      <p:ext uri="{BB962C8B-B14F-4D97-AF65-F5344CB8AC3E}">
        <p14:creationId xmlns:p14="http://schemas.microsoft.com/office/powerpoint/2010/main" val="3852028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kern="1200">
                <a:solidFill>
                  <a:schemeClr val="tx1"/>
                </a:solidFill>
                <a:effectLst/>
              </a:rPr>
              <a:t>Scaling based on a schedule </a:t>
            </a:r>
            <a:r>
              <a:rPr lang="en-US" sz="1000" b="0" i="0" kern="1200">
                <a:solidFill>
                  <a:schemeClr val="tx1"/>
                </a:solidFill>
                <a:effectLst/>
              </a:rPr>
              <a:t>enables you to scale your application in response to predictable load changes. For example, you notice that every week, the traffic to your web application starts to increase on Wednesday, remains high on Thursday, and starts to decrease on Friday. In these situations, you can plan your scaling activities based on the predictable traffic patterns of your web application.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baseline="0">
              <a:solidFill>
                <a:schemeClr val="tx1"/>
              </a:solidFill>
              <a:effectLst/>
            </a:endParaRPr>
          </a:p>
          <a:p>
            <a:r>
              <a:rPr lang="en-US" sz="1000" b="0" i="0" kern="1200">
                <a:solidFill>
                  <a:schemeClr val="tx1"/>
                </a:solidFill>
                <a:effectLst/>
              </a:rPr>
              <a:t>To configure an Auto Scaling group to scale based on a schedule:</a:t>
            </a:r>
          </a:p>
          <a:p>
            <a:pPr marL="228600" indent="-228600">
              <a:buFont typeface="+mj-lt"/>
              <a:buAutoNum type="arabicPeriod"/>
            </a:pPr>
            <a:endParaRPr lang="en-US" sz="1000" b="0" i="0" kern="1200">
              <a:solidFill>
                <a:schemeClr val="tx1"/>
              </a:solidFill>
              <a:effectLst/>
            </a:endParaRPr>
          </a:p>
          <a:p>
            <a:pPr marL="228600" indent="-228600">
              <a:buFont typeface="+mj-lt"/>
              <a:buAutoNum type="arabicPeriod"/>
            </a:pPr>
            <a:r>
              <a:rPr lang="en-US" sz="1000" b="0" i="0" kern="1200">
                <a:solidFill>
                  <a:schemeClr val="tx1"/>
                </a:solidFill>
                <a:effectLst/>
              </a:rPr>
              <a:t>Create a scheduled action, which tells Amazon EC2 Auto Scaling to perform a scaling action at specified times. </a:t>
            </a:r>
          </a:p>
          <a:p>
            <a:pPr marL="228600" indent="-228600">
              <a:buFont typeface="+mj-lt"/>
              <a:buAutoNum type="arabicPeriod"/>
            </a:pPr>
            <a:endParaRPr lang="en-US" sz="1000" b="0" i="0" kern="1200">
              <a:solidFill>
                <a:schemeClr val="tx1"/>
              </a:solidFill>
              <a:effectLst/>
            </a:endParaRPr>
          </a:p>
          <a:p>
            <a:pPr marL="228600" indent="-228600">
              <a:buFont typeface="+mj-lt"/>
              <a:buAutoNum type="arabicPeriod"/>
            </a:pPr>
            <a:r>
              <a:rPr lang="en-US" sz="1000" b="0" i="0" kern="1200">
                <a:solidFill>
                  <a:schemeClr val="tx1"/>
                </a:solidFill>
                <a:effectLst/>
              </a:rPr>
              <a:t>Specify the start time when the scaling action should take effect, and the new minimum, maximum, and desired sizes for the scaling action. </a:t>
            </a:r>
          </a:p>
          <a:p>
            <a:pPr marL="228600" indent="-228600">
              <a:buFont typeface="+mj-lt"/>
              <a:buAutoNum type="arabicPeriod"/>
            </a:pPr>
            <a:endParaRPr lang="en-US" sz="1000" b="0" i="0" kern="1200">
              <a:solidFill>
                <a:schemeClr val="tx1"/>
              </a:solidFill>
              <a:effectLst/>
            </a:endParaRPr>
          </a:p>
          <a:p>
            <a:pPr marL="228600" indent="-228600">
              <a:buFont typeface="+mj-lt"/>
              <a:buAutoNum type="arabicPeriod"/>
            </a:pPr>
            <a:r>
              <a:rPr lang="en-US" sz="1000" b="0" i="0" kern="1200">
                <a:solidFill>
                  <a:schemeClr val="tx1"/>
                </a:solidFill>
                <a:effectLst/>
              </a:rPr>
              <a:t>At the specified time, Amazon EC2 Auto Scaling updates the group with the values for minimum, maximum, and desired size that are specified by the scaling action.</a:t>
            </a:r>
          </a:p>
          <a:p>
            <a:endParaRPr lang="en-US" sz="1000" b="0" baseline="0"/>
          </a:p>
          <a:p>
            <a:endParaRPr lang="en-US" sz="1000"/>
          </a:p>
        </p:txBody>
      </p:sp>
    </p:spTree>
    <p:extLst>
      <p:ext uri="{BB962C8B-B14F-4D97-AF65-F5344CB8AC3E}">
        <p14:creationId xmlns:p14="http://schemas.microsoft.com/office/powerpoint/2010/main" val="4175868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904001"/>
          </a:xfrm>
        </p:spPr>
        <p:txBody>
          <a:bodyPr/>
          <a:lstStyle/>
          <a:p>
            <a:r>
              <a:rPr lang="en-US" sz="1000" b="0" i="1"/>
              <a:t>Automatic</a:t>
            </a:r>
            <a:r>
              <a:rPr lang="en-US" sz="1000" b="0" i="1" baseline="0"/>
              <a:t> </a:t>
            </a:r>
            <a:r>
              <a:rPr lang="en-US" sz="1000" b="0" i="1"/>
              <a:t>scaling </a:t>
            </a:r>
            <a:r>
              <a:rPr lang="en-US" sz="1000" b="0"/>
              <a:t>can be configured to be dynamic. For example, you have a web application that currently runs on three instances, and you do not want the CPU utilization of the Auto Scaling group to exceed 70 percent for more than 2 minutes. You can configure your Auto Scaling group to scale automatically to meet this need. The policy type determines how the scaling action is performed.</a:t>
            </a:r>
          </a:p>
          <a:p>
            <a:endParaRPr lang="en-US" sz="1000"/>
          </a:p>
          <a:p>
            <a:r>
              <a:rPr lang="en-US" sz="1000"/>
              <a:t>Amazon EC2 Auto Scaling supports the following types of scaling policies:</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b="0" i="1"/>
              <a:t>Target tracking scaling</a:t>
            </a:r>
            <a:r>
              <a:rPr lang="en-US" sz="1000" b="0" i="1" baseline="0"/>
              <a:t> </a:t>
            </a:r>
            <a:r>
              <a:rPr lang="en-US" sz="1000" b="0" baseline="0"/>
              <a:t>– </a:t>
            </a:r>
            <a:r>
              <a:rPr lang="en-US" sz="1000"/>
              <a:t>Increase or decrease the current capacity of the group based on a target value for a specific metric. </a:t>
            </a:r>
          </a:p>
          <a:p>
            <a:pPr marL="628650" lvl="1" indent="-171450">
              <a:buFont typeface="Arial" panose="020B0604020202020204" pitchFamily="34" charset="0"/>
              <a:buChar char="•"/>
            </a:pPr>
            <a:r>
              <a:rPr lang="en-US" sz="1000"/>
              <a:t>This is similar to the way that your thermostat maintains the temperature of your home—you select a temperature, and the thermostat does the rest of the work.  </a:t>
            </a:r>
          </a:p>
          <a:p>
            <a:pPr marL="628650" lvl="1" indent="-171450">
              <a:buFont typeface="Arial" panose="020B0604020202020204" pitchFamily="34" charset="0"/>
              <a:buChar char="•"/>
            </a:pPr>
            <a:r>
              <a:rPr lang="en-US" sz="1000"/>
              <a:t>In the case of Amazon</a:t>
            </a:r>
            <a:r>
              <a:rPr lang="en-US" sz="1000" baseline="0"/>
              <a:t> </a:t>
            </a:r>
            <a:r>
              <a:rPr lang="en-US" sz="1000"/>
              <a:t>EC2, you</a:t>
            </a:r>
            <a:r>
              <a:rPr lang="en-US" sz="1000" baseline="0"/>
              <a:t> set the metric to be monitored by EC2 Auto Scaling, and Auto Scaling does the rest of the work.</a:t>
            </a:r>
            <a:endParaRPr lang="en-US" sz="1000"/>
          </a:p>
          <a:p>
            <a:pPr marL="171450" indent="-171450">
              <a:buFont typeface="Arial" panose="020B0604020202020204" pitchFamily="34" charset="0"/>
              <a:buChar char="•"/>
            </a:pPr>
            <a:endParaRPr lang="en-US" sz="1000" b="1"/>
          </a:p>
          <a:p>
            <a:pPr marL="171450" indent="-171450">
              <a:buFont typeface="Arial" panose="020B0604020202020204" pitchFamily="34" charset="0"/>
              <a:buChar char="•"/>
            </a:pPr>
            <a:r>
              <a:rPr lang="en-US" sz="1000" b="0" i="1"/>
              <a:t>Step scaling</a:t>
            </a:r>
            <a:r>
              <a:rPr lang="en-US" sz="1000" b="0" i="0" baseline="0"/>
              <a:t> –</a:t>
            </a:r>
            <a:r>
              <a:rPr lang="en-US" sz="1000" b="0" baseline="0"/>
              <a:t> </a:t>
            </a:r>
            <a:r>
              <a:rPr lang="en-US" sz="1000"/>
              <a:t>Increase or decrease the current capacity of the group based on a set of scaling adjustments, which are known as step adjustments, that vary based on the size of the alarm breach. </a:t>
            </a:r>
          </a:p>
          <a:p>
            <a:pPr marL="628650" lvl="1" indent="-171450">
              <a:buFont typeface="Arial" panose="020B0604020202020204" pitchFamily="34" charset="0"/>
              <a:buChar char="•"/>
            </a:pPr>
            <a:r>
              <a:rPr lang="en-US" sz="1000" b="0" i="0" kern="1200">
                <a:solidFill>
                  <a:schemeClr val="tx1"/>
                </a:solidFill>
                <a:effectLst/>
              </a:rPr>
              <a:t>Amazon EC2 Auto Scaling does not support cooldown periods for step scaling policies. </a:t>
            </a:r>
          </a:p>
          <a:p>
            <a:pPr marL="628650" lvl="1" indent="-171450">
              <a:buFont typeface="Arial" panose="020B0604020202020204" pitchFamily="34" charset="0"/>
              <a:buChar char="•"/>
            </a:pPr>
            <a:r>
              <a:rPr lang="en-US" sz="1000" b="0" i="0" kern="1200">
                <a:solidFill>
                  <a:schemeClr val="tx1"/>
                </a:solidFill>
                <a:effectLst/>
              </a:rPr>
              <a:t>Therefore, you can't specify a cooldown period for these policies, and the default cooldown period for the group doesn't apply.</a:t>
            </a:r>
            <a:endParaRPr lang="en-US" sz="1000"/>
          </a:p>
          <a:p>
            <a:pPr marL="171450" indent="-171450">
              <a:buFont typeface="Arial" panose="020B0604020202020204" pitchFamily="34" charset="0"/>
              <a:buChar char="•"/>
            </a:pPr>
            <a:endParaRPr lang="en-US" sz="1000" b="1"/>
          </a:p>
          <a:p>
            <a:pPr marL="171450" indent="-171450">
              <a:buFont typeface="Arial" panose="020B0604020202020204" pitchFamily="34" charset="0"/>
              <a:buChar char="•"/>
            </a:pPr>
            <a:r>
              <a:rPr lang="en-US" sz="1000" b="0" i="1"/>
              <a:t>Simple scaling</a:t>
            </a:r>
            <a:r>
              <a:rPr lang="en-US" sz="1000" b="0" i="0" baseline="0"/>
              <a:t> –</a:t>
            </a:r>
            <a:r>
              <a:rPr lang="en-US" sz="1000" b="0" baseline="0"/>
              <a:t> </a:t>
            </a:r>
            <a:r>
              <a:rPr lang="en-US" sz="1000"/>
              <a:t>Increase or decrease the current capacity of the group based on a single scaling adjustment.</a:t>
            </a:r>
          </a:p>
          <a:p>
            <a:endParaRPr lang="en-US" sz="1000"/>
          </a:p>
          <a:p>
            <a:r>
              <a:rPr lang="en-US" sz="1000"/>
              <a:t>If you are scaling based on a utilization metric that increases or decreases proportionally to the number of instances in an Auto Scaling group, we recommend that you use target tracking scaling policies. Otherwise, we recommend</a:t>
            </a:r>
            <a:r>
              <a:rPr lang="en-US" sz="1000" baseline="0"/>
              <a:t> </a:t>
            </a:r>
            <a:r>
              <a:rPr lang="en-US" sz="1000"/>
              <a:t>that you use step scaling policies.</a:t>
            </a:r>
          </a:p>
        </p:txBody>
      </p:sp>
    </p:spTree>
    <p:extLst>
      <p:ext uri="{BB962C8B-B14F-4D97-AF65-F5344CB8AC3E}">
        <p14:creationId xmlns:p14="http://schemas.microsoft.com/office/powerpoint/2010/main" val="3140523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19188"/>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rPr>
              <a:t>AWS also provides </a:t>
            </a:r>
            <a:r>
              <a:rPr lang="en-US" sz="1000" b="0" i="1" kern="1200">
                <a:solidFill>
                  <a:schemeClr val="tx1"/>
                </a:solidFill>
                <a:effectLst/>
              </a:rPr>
              <a:t>predictive scaling</a:t>
            </a:r>
            <a:r>
              <a:rPr lang="en-US" sz="1000" b="0" i="0" kern="1200">
                <a:solidFill>
                  <a:schemeClr val="tx1"/>
                </a:solidFill>
                <a:effectLst/>
              </a:rPr>
              <a:t>. Predictive scaling</a:t>
            </a:r>
            <a:r>
              <a:rPr lang="en-US" sz="1000" b="0" i="0" kern="1200" baseline="0">
                <a:solidFill>
                  <a:schemeClr val="tx1"/>
                </a:solidFill>
                <a:effectLst/>
              </a:rPr>
              <a:t> uses machine learning models to predict your expected traffic (and Amazon EC2 usage)—including daily and weekly patterns—b</a:t>
            </a:r>
            <a:r>
              <a:rPr lang="en-US" sz="1000" b="0" i="0" kern="1200">
                <a:solidFill>
                  <a:schemeClr val="tx1"/>
                </a:solidFill>
                <a:effectLst/>
              </a:rPr>
              <a:t>y</a:t>
            </a:r>
            <a:r>
              <a:rPr lang="en-US" sz="1000" b="0" i="0" kern="1200" baseline="0">
                <a:solidFill>
                  <a:schemeClr val="tx1"/>
                </a:solidFill>
                <a:effectLst/>
              </a:rPr>
              <a:t> u</a:t>
            </a:r>
            <a:r>
              <a:rPr lang="en-US" sz="1000" b="0" i="0" kern="1200">
                <a:solidFill>
                  <a:schemeClr val="tx1"/>
                </a:solidFill>
                <a:effectLst/>
              </a:rPr>
              <a:t>sing data collected from your actual Amazon EC2 usage</a:t>
            </a:r>
            <a:r>
              <a:rPr lang="en-US" sz="1000" b="0" i="0" kern="1200" baseline="0">
                <a:solidFill>
                  <a:schemeClr val="tx1"/>
                </a:solidFill>
                <a:effectLst/>
              </a:rPr>
              <a:t> and</a:t>
            </a:r>
            <a:r>
              <a:rPr lang="en-US" sz="1000" b="0" i="0" kern="1200">
                <a:solidFill>
                  <a:schemeClr val="tx1"/>
                </a:solidFill>
                <a:effectLst/>
              </a:rPr>
              <a:t> data points that are drawn from</a:t>
            </a:r>
            <a:r>
              <a:rPr lang="en-US" sz="1000" b="0" i="0" kern="1200" baseline="0">
                <a:solidFill>
                  <a:schemeClr val="tx1"/>
                </a:solidFill>
                <a:effectLst/>
              </a:rPr>
              <a:t> our own observations</a:t>
            </a:r>
            <a:r>
              <a:rPr lang="en-US" sz="1000" b="0" i="0" kern="1200">
                <a:solidFill>
                  <a:schemeClr val="tx1"/>
                </a:solidFill>
                <a:effectLst/>
              </a:rPr>
              <a:t>. The model needs historical data from at least 1 day to start making predictions. The</a:t>
            </a:r>
            <a:r>
              <a:rPr lang="en-US" sz="1000" b="0" i="0" kern="1200" baseline="0">
                <a:solidFill>
                  <a:schemeClr val="tx1"/>
                </a:solidFill>
                <a:effectLst/>
              </a:rPr>
              <a:t> model</a:t>
            </a:r>
            <a:r>
              <a:rPr lang="en-US" sz="1000" b="0" i="0" kern="1200">
                <a:solidFill>
                  <a:schemeClr val="tx1"/>
                </a:solidFill>
                <a:effectLst/>
              </a:rPr>
              <a:t> is re-evaluated every 24 hours to create a forecast for the next 48 hours.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rgbClr val="333333"/>
              </a:solidFill>
              <a:latin typeface="AmazonEmber"/>
            </a:endParaRPr>
          </a:p>
          <a:p>
            <a:pPr marL="171450" indent="-171450">
              <a:buFont typeface="Arial" panose="020B0604020202020204" pitchFamily="34" charset="0"/>
              <a:buChar char="•"/>
            </a:pPr>
            <a:r>
              <a:rPr lang="en-US" sz="1000" b="0" i="0" kern="1200">
                <a:solidFill>
                  <a:schemeClr val="tx1"/>
                </a:solidFill>
                <a:effectLst/>
              </a:rPr>
              <a:t>Predictive scaling predicts future traffic based on daily and weekly trends, including regularly</a:t>
            </a:r>
            <a:r>
              <a:rPr lang="en-US" sz="1000" b="0" i="0" kern="1200" baseline="0">
                <a:solidFill>
                  <a:schemeClr val="tx1"/>
                </a:solidFill>
                <a:effectLst/>
              </a:rPr>
              <a:t> </a:t>
            </a:r>
            <a:r>
              <a:rPr lang="en-US" sz="1000" b="0" i="0" kern="1200">
                <a:solidFill>
                  <a:schemeClr val="tx1"/>
                </a:solidFill>
                <a:effectLst/>
              </a:rPr>
              <a:t>occurring spikes, and it provisions the right number of EC2 instances in advance of anticipated changes.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Predictive scaling removes the need for manually adjusting Auto Scaling parameters over time, making Auto Scaling simpler to configure and consume. </a:t>
            </a:r>
          </a:p>
          <a:p>
            <a:pPr marL="628650" lvl="1" indent="-171450">
              <a:buFont typeface="Arial" panose="020B0604020202020204" pitchFamily="34" charset="0"/>
              <a:buChar char="•"/>
            </a:pPr>
            <a:r>
              <a:rPr lang="en-US" sz="1000" b="0" i="0" kern="1200">
                <a:solidFill>
                  <a:schemeClr val="tx1"/>
                </a:solidFill>
                <a:effectLst/>
              </a:rPr>
              <a:t>To get started, navigate to AWS Auto Scaling page and create a scaling plan for Amazon EC2 resources that includes predictive scaling. </a:t>
            </a:r>
          </a:p>
          <a:p>
            <a:pPr marL="628650" lvl="1" indent="-171450">
              <a:buFont typeface="Arial" panose="020B0604020202020204" pitchFamily="34" charset="0"/>
              <a:buChar char="•"/>
            </a:pPr>
            <a:r>
              <a:rPr lang="en-US" sz="1000" b="0" i="0" kern="1200">
                <a:solidFill>
                  <a:schemeClr val="tx1"/>
                </a:solidFill>
                <a:effectLst/>
              </a:rPr>
              <a:t>After</a:t>
            </a:r>
            <a:r>
              <a:rPr lang="en-US" sz="1000" b="0" i="0" kern="1200" baseline="0">
                <a:solidFill>
                  <a:schemeClr val="tx1"/>
                </a:solidFill>
                <a:effectLst/>
              </a:rPr>
              <a:t> predictive scaling is</a:t>
            </a:r>
            <a:r>
              <a:rPr lang="en-US" sz="1000" b="0" i="0" kern="1200">
                <a:solidFill>
                  <a:schemeClr val="tx1"/>
                </a:solidFill>
                <a:effectLst/>
              </a:rPr>
              <a:t> enabled, you can visualize the</a:t>
            </a:r>
            <a:r>
              <a:rPr lang="en-US" sz="1000" b="0" i="0" kern="1200" baseline="0">
                <a:solidFill>
                  <a:schemeClr val="tx1"/>
                </a:solidFill>
                <a:effectLst/>
              </a:rPr>
              <a:t> </a:t>
            </a:r>
            <a:r>
              <a:rPr lang="en-US" sz="1000" b="0" i="0" kern="1200">
                <a:solidFill>
                  <a:schemeClr val="tx1"/>
                </a:solidFill>
                <a:effectLst/>
              </a:rPr>
              <a:t>forecasted traffic and the generated scaling actions.</a:t>
            </a:r>
          </a:p>
          <a:p>
            <a:pPr marL="171450" indent="-171450">
              <a:buFont typeface="Arial" panose="020B0604020202020204" pitchFamily="34" charset="0"/>
              <a:buChar char="•"/>
            </a:pPr>
            <a:endParaRPr lang="en-US" sz="1000" b="0" i="0" kern="120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srgbClr val="333333"/>
                </a:solidFill>
              </a:rPr>
              <a:t>You can use predictive scaling, dynamic scaling, or both.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srgbClr val="333333"/>
                </a:solidFill>
              </a:rPr>
              <a:t>Predictive scaling works by forecasting load and scheduling minimum capacity; dynamic scaling uses target tracking to adjust a designated CloudWatch metric to a specific target.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solidFill>
                  <a:srgbClr val="333333"/>
                </a:solidFill>
              </a:rPr>
              <a:t>The two models work well together because of the scheduled minimum capacity already set by predictive scaling.</a:t>
            </a:r>
            <a:r>
              <a:rPr lang="en-US" sz="1000" b="0" i="0" kern="1200">
                <a:solidFill>
                  <a:schemeClr val="tx1"/>
                </a:solidFill>
                <a:effectLst/>
              </a:rPr>
              <a:t> </a:t>
            </a:r>
          </a:p>
          <a:p>
            <a:pPr marL="171450" indent="-171450">
              <a:buFont typeface="Arial" panose="020B0604020202020204" pitchFamily="34" charset="0"/>
              <a:buChar char="•"/>
            </a:pPr>
            <a:endParaRPr lang="en-US" sz="1000" b="0" i="0" kern="120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a:solidFill>
                  <a:schemeClr val="tx1"/>
                </a:solidFill>
                <a:effectLst/>
              </a:rPr>
              <a:t>Predictive scaling is a good choice for websites and applications that undergo periodic traffic spikes. It is not designed to help in situations where spikes in load are not cyclic or predictable.</a:t>
            </a:r>
            <a:endParaRPr lang="en-US" sz="1000">
              <a:solidFill>
                <a:srgbClr val="333333"/>
              </a:solidFill>
            </a:endParaRPr>
          </a:p>
          <a:p>
            <a:endParaRPr lang="en-US" sz="1000" b="0" i="0" kern="120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p>
            <a:endParaRPr lang="en-US" sz="1000"/>
          </a:p>
        </p:txBody>
      </p:sp>
    </p:spTree>
    <p:extLst>
      <p:ext uri="{BB962C8B-B14F-4D97-AF65-F5344CB8AC3E}">
        <p14:creationId xmlns:p14="http://schemas.microsoft.com/office/powerpoint/2010/main" val="2892863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Some key</a:t>
            </a:r>
            <a:r>
              <a:rPr lang="en-US" sz="1000" baseline="0"/>
              <a:t> </a:t>
            </a:r>
            <a:r>
              <a:rPr lang="en-US" sz="1000"/>
              <a:t>t</a:t>
            </a:r>
            <a:r>
              <a:rPr lang="en-US" sz="1000" baseline="0"/>
              <a:t>akeaways from this section include:</a:t>
            </a:r>
          </a:p>
          <a:p>
            <a:pPr marL="228600" lvl="0" indent="-228600">
              <a:spcBef>
                <a:spcPts val="600"/>
              </a:spcBef>
              <a:spcAft>
                <a:spcPts val="600"/>
              </a:spcAft>
              <a:buFont typeface="Arial" panose="020B0604020202020204" pitchFamily="34" charset="0"/>
              <a:buChar char="•"/>
            </a:pPr>
            <a:endParaRPr lang="en-US" sz="1000">
              <a:solidFill>
                <a:srgbClr val="000000"/>
              </a:solidFill>
              <a:latin typeface="+mn-lt"/>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pPr>
            <a:r>
              <a:rPr lang="en-US" sz="1000">
                <a:solidFill>
                  <a:srgbClr val="000000"/>
                </a:solidFill>
                <a:latin typeface="+mn-lt"/>
                <a:ea typeface="Amazon Ember" panose="02000000000000000000" pitchFamily="2" charset="0"/>
                <a:cs typeface="Amazon Ember Light" panose="020B0403020204020204" pitchFamily="34" charset="0"/>
              </a:rPr>
              <a:t>Amazon EC2 Auto Scaling helps you maintain application availability and allows you to automatically add or remove EC2 instances according to conditions you define. </a:t>
            </a:r>
          </a:p>
          <a:p>
            <a:pPr marL="228600" lvl="0" indent="-228600">
              <a:spcBef>
                <a:spcPts val="600"/>
              </a:spcBef>
              <a:spcAft>
                <a:spcPts val="600"/>
              </a:spcAft>
              <a:buFont typeface="Arial" panose="020B0604020202020204" pitchFamily="34" charset="0"/>
              <a:buChar char="•"/>
            </a:pPr>
            <a:r>
              <a:rPr lang="en-US" sz="1000">
                <a:latin typeface="+mn-lt"/>
              </a:rPr>
              <a:t>EC2 Auto Scaling consists of three parts: </a:t>
            </a:r>
          </a:p>
          <a:p>
            <a:pPr marL="685800" lvl="1" indent="-228600">
              <a:buFont typeface="Arial" panose="020B0604020202020204" pitchFamily="34" charset="0"/>
              <a:buChar char="•"/>
            </a:pPr>
            <a:r>
              <a:rPr lang="en-US" sz="1000">
                <a:latin typeface="+mn-lt"/>
              </a:rPr>
              <a:t>Launch configuration/launch template</a:t>
            </a:r>
          </a:p>
          <a:p>
            <a:pPr marL="685800" lvl="1" indent="-228600">
              <a:buFont typeface="Arial" panose="020B0604020202020204" pitchFamily="34" charset="0"/>
              <a:buChar char="•"/>
            </a:pPr>
            <a:r>
              <a:rPr lang="en-US" sz="1000">
                <a:latin typeface="+mn-lt"/>
              </a:rPr>
              <a:t>Auto Scaling group</a:t>
            </a:r>
          </a:p>
          <a:p>
            <a:pPr marL="685800" lvl="1" indent="-228600">
              <a:buFont typeface="Arial" panose="020B0604020202020204" pitchFamily="34" charset="0"/>
              <a:buChar char="•"/>
            </a:pPr>
            <a:r>
              <a:rPr lang="en-US" sz="1000">
                <a:latin typeface="+mn-lt"/>
              </a:rPr>
              <a:t>Scaling policies</a:t>
            </a:r>
          </a:p>
          <a:p>
            <a:pPr marL="228600" lvl="0" indent="-228600">
              <a:spcBef>
                <a:spcPts val="600"/>
              </a:spcBef>
              <a:spcAft>
                <a:spcPts val="600"/>
              </a:spcAft>
              <a:buFont typeface="Arial" panose="020B0604020202020204" pitchFamily="34" charset="0"/>
              <a:buChar char="•"/>
            </a:pPr>
            <a:r>
              <a:rPr lang="en-US" sz="1000">
                <a:latin typeface="+mn-lt"/>
              </a:rPr>
              <a:t>Scaling can be based on: </a:t>
            </a:r>
          </a:p>
          <a:p>
            <a:pPr marL="685800" lvl="1" indent="-228600">
              <a:buFont typeface="Arial" panose="020B0604020202020204" pitchFamily="34" charset="0"/>
              <a:buChar char="•"/>
            </a:pPr>
            <a:r>
              <a:rPr lang="en-US" sz="1000">
                <a:latin typeface="+mn-lt"/>
              </a:rPr>
              <a:t>Instance health</a:t>
            </a:r>
          </a:p>
          <a:p>
            <a:pPr marL="685800" lvl="1" indent="-228600">
              <a:buFont typeface="Arial" panose="020B0604020202020204" pitchFamily="34" charset="0"/>
              <a:buChar char="•"/>
            </a:pPr>
            <a:r>
              <a:rPr lang="en-US" sz="1000">
                <a:latin typeface="+mn-lt"/>
              </a:rPr>
              <a:t>Amazon CloudWatch alarms</a:t>
            </a:r>
          </a:p>
          <a:p>
            <a:pPr marL="685800" lvl="1" indent="-228600">
              <a:buFont typeface="Arial" panose="020B0604020202020204" pitchFamily="34" charset="0"/>
              <a:buChar char="•"/>
            </a:pPr>
            <a:r>
              <a:rPr lang="en-US" sz="1000">
                <a:latin typeface="+mn-lt"/>
              </a:rPr>
              <a:t>Time schedule or past usage (prediction)</a:t>
            </a:r>
          </a:p>
          <a:p>
            <a:pPr marL="228600" lvl="0" indent="-228600">
              <a:spcBef>
                <a:spcPts val="600"/>
              </a:spcBef>
              <a:spcAft>
                <a:spcPts val="600"/>
              </a:spcAft>
              <a:buFont typeface="Arial" panose="020B0604020202020204" pitchFamily="34" charset="0"/>
              <a:buChar char="•"/>
            </a:pPr>
            <a:r>
              <a:rPr lang="en-US" sz="1000">
                <a:latin typeface="+mn-lt"/>
              </a:rPr>
              <a:t>To create a </a:t>
            </a:r>
            <a:r>
              <a:rPr lang="en-US" sz="1000" b="0" i="0">
                <a:latin typeface="+mn-lt"/>
              </a:rPr>
              <a:t>launch configuration</a:t>
            </a:r>
            <a:r>
              <a:rPr lang="en-US" sz="1000" b="0" i="0" baseline="0">
                <a:latin typeface="+mn-lt"/>
              </a:rPr>
              <a:t>, specify:</a:t>
            </a:r>
          </a:p>
          <a:p>
            <a:pPr marL="685800" lvl="1" indent="-228600">
              <a:buFont typeface="Arial" panose="020B0604020202020204" pitchFamily="34" charset="0"/>
              <a:buChar char="•"/>
            </a:pPr>
            <a:r>
              <a:rPr lang="en-US" sz="1000">
                <a:latin typeface="+mn-lt"/>
              </a:rPr>
              <a:t>AWS Identity and Access Management (IAM)</a:t>
            </a:r>
            <a:r>
              <a:rPr lang="en-US" sz="1000" baseline="0">
                <a:latin typeface="+mn-lt"/>
              </a:rPr>
              <a:t> </a:t>
            </a:r>
            <a:r>
              <a:rPr lang="en-US" sz="1000">
                <a:latin typeface="+mn-lt"/>
              </a:rPr>
              <a:t>roles</a:t>
            </a:r>
          </a:p>
          <a:p>
            <a:pPr marL="685800" lvl="1" indent="-228600">
              <a:buFont typeface="Arial" panose="020B0604020202020204" pitchFamily="34" charset="0"/>
              <a:buChar char="•"/>
            </a:pPr>
            <a:r>
              <a:rPr lang="en-US" sz="1000">
                <a:latin typeface="+mn-lt"/>
              </a:rPr>
              <a:t>Security groups</a:t>
            </a:r>
          </a:p>
          <a:p>
            <a:pPr marL="685800" lvl="1" indent="-228600">
              <a:buFont typeface="Arial" panose="020B0604020202020204" pitchFamily="34" charset="0"/>
              <a:buChar char="•"/>
            </a:pPr>
            <a:r>
              <a:rPr lang="en-US" sz="1000">
                <a:latin typeface="+mn-lt"/>
              </a:rPr>
              <a:t>Storage</a:t>
            </a:r>
          </a:p>
          <a:p>
            <a:pPr marL="685800" lvl="1" indent="-228600">
              <a:buFont typeface="Arial" panose="020B0604020202020204" pitchFamily="34" charset="0"/>
              <a:buChar char="•"/>
            </a:pPr>
            <a:r>
              <a:rPr lang="en-US" sz="1000">
                <a:latin typeface="+mn-lt"/>
              </a:rPr>
              <a:t>Instance type</a:t>
            </a:r>
          </a:p>
          <a:p>
            <a:pPr marL="685800" lvl="1" indent="-228600">
              <a:buFont typeface="Arial" panose="020B0604020202020204" pitchFamily="34" charset="0"/>
              <a:buChar char="•"/>
            </a:pPr>
            <a:r>
              <a:rPr lang="en-US" sz="1000">
                <a:latin typeface="+mn-lt"/>
              </a:rPr>
              <a:t>User data</a:t>
            </a:r>
          </a:p>
          <a:p>
            <a:pPr marL="685800" lvl="1" indent="-228600">
              <a:buFont typeface="Arial" panose="020B0604020202020204" pitchFamily="34" charset="0"/>
              <a:buChar char="•"/>
            </a:pPr>
            <a:r>
              <a:rPr lang="en-US" sz="1000">
                <a:latin typeface="+mn-lt"/>
              </a:rPr>
              <a:t>Key pairs</a:t>
            </a:r>
          </a:p>
          <a:p>
            <a:endParaRPr lang="en-US" sz="1000">
              <a:latin typeface="+mn-lt"/>
            </a:endParaRPr>
          </a:p>
        </p:txBody>
      </p:sp>
    </p:spTree>
    <p:extLst>
      <p:ext uri="{BB962C8B-B14F-4D97-AF65-F5344CB8AC3E}">
        <p14:creationId xmlns:p14="http://schemas.microsoft.com/office/powerpoint/2010/main" val="2415893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56270"/>
          </a:xfrm>
        </p:spPr>
        <p:txBody>
          <a:bodyPr/>
          <a:lstStyle/>
          <a:p>
            <a:r>
              <a:rPr lang="en-US" sz="1000" b="0" i="0" kern="1200">
                <a:solidFill>
                  <a:schemeClr val="tx1"/>
                </a:solidFill>
                <a:effectLst/>
                <a:latin typeface="+mn-lt"/>
              </a:rPr>
              <a:t>Thrashing is the condition where there is excessive use of a computer’s virtual memory, and the</a:t>
            </a:r>
            <a:r>
              <a:rPr lang="en-US" sz="1000" b="0" i="0" kern="1200" baseline="0">
                <a:solidFill>
                  <a:schemeClr val="tx1"/>
                </a:solidFill>
                <a:effectLst/>
                <a:latin typeface="+mn-lt"/>
              </a:rPr>
              <a:t> computer</a:t>
            </a:r>
            <a:r>
              <a:rPr lang="en-US" sz="1000" b="0" i="0" kern="1200">
                <a:solidFill>
                  <a:schemeClr val="tx1"/>
                </a:solidFill>
                <a:effectLst/>
                <a:latin typeface="+mn-lt"/>
              </a:rPr>
              <a:t> is no longer able to service the resource needs of applications that run on it. When you configure automatic scaling, make sure that you avoid thrashing. Thrashing could occur if </a:t>
            </a:r>
            <a:r>
              <a:rPr lang="en-US" sz="1000" b="0" i="0" kern="1200" baseline="0">
                <a:solidFill>
                  <a:schemeClr val="tx1"/>
                </a:solidFill>
                <a:effectLst/>
                <a:latin typeface="+mn-lt"/>
              </a:rPr>
              <a:t>instances are removed and added—or added and removed—in succession too quickly. </a:t>
            </a:r>
          </a:p>
          <a:p>
            <a:endParaRPr lang="en-US" sz="1000" b="0" i="0" kern="1200" baseline="0">
              <a:solidFill>
                <a:schemeClr val="tx1"/>
              </a:solidFill>
              <a:effectLst/>
              <a:latin typeface="+mn-lt"/>
            </a:endParaRPr>
          </a:p>
          <a:p>
            <a:r>
              <a:rPr lang="en-US" sz="1000">
                <a:latin typeface="+mn-lt"/>
              </a:rPr>
              <a:t>One way to avoid thrashing is to trigger alarms actions for </a:t>
            </a:r>
            <a:r>
              <a:rPr lang="en-US" sz="1000" b="0" i="1">
                <a:latin typeface="+mn-lt"/>
              </a:rPr>
              <a:t>sustained state changes</a:t>
            </a:r>
            <a:r>
              <a:rPr lang="en-US" sz="1000" b="1">
                <a:latin typeface="+mn-lt"/>
              </a:rPr>
              <a:t> </a:t>
            </a:r>
            <a:r>
              <a:rPr lang="en-US" sz="1000">
                <a:latin typeface="+mn-lt"/>
              </a:rPr>
              <a:t>only. Configure triggers for state changes that have been maintained for a reasonable period of time. </a:t>
            </a:r>
          </a:p>
          <a:p>
            <a:endParaRPr lang="en-US" sz="1000" b="0" i="0" kern="1200">
              <a:solidFill>
                <a:schemeClr val="tx1"/>
              </a:solidFill>
              <a:effectLst/>
              <a:latin typeface="+mn-lt"/>
            </a:endParaRPr>
          </a:p>
          <a:p>
            <a:r>
              <a:rPr lang="en-US" sz="1000" b="0" i="0" kern="1200">
                <a:solidFill>
                  <a:schemeClr val="tx1"/>
                </a:solidFill>
                <a:effectLst/>
                <a:latin typeface="+mn-lt"/>
              </a:rPr>
              <a:t>The EC2 Auto Scaling </a:t>
            </a:r>
            <a:r>
              <a:rPr lang="en-US" sz="1000" b="0" i="1" kern="1200">
                <a:solidFill>
                  <a:schemeClr val="tx1"/>
                </a:solidFill>
                <a:effectLst/>
                <a:latin typeface="+mn-lt"/>
              </a:rPr>
              <a:t>cooldown period</a:t>
            </a:r>
            <a:r>
              <a:rPr lang="en-US" sz="1000" b="1" i="0" kern="1200">
                <a:solidFill>
                  <a:schemeClr val="tx1"/>
                </a:solidFill>
                <a:effectLst/>
                <a:latin typeface="+mn-lt"/>
              </a:rPr>
              <a:t> </a:t>
            </a:r>
            <a:r>
              <a:rPr lang="en-US" sz="1000" b="0" i="0" kern="1200">
                <a:solidFill>
                  <a:schemeClr val="tx1"/>
                </a:solidFill>
                <a:effectLst/>
                <a:latin typeface="+mn-lt"/>
              </a:rPr>
              <a:t>is another configurable setting that helps to ensure that EC2 Auto Scaling doesn't launch or terminate additional instances before the previous scaling activity takes effect. </a:t>
            </a:r>
          </a:p>
          <a:p>
            <a:endParaRPr lang="en-US" sz="1000" b="0" i="0" kern="1200">
              <a:solidFill>
                <a:schemeClr val="tx1"/>
              </a:solidFill>
              <a:effectLst/>
              <a:latin typeface="+mn-lt"/>
            </a:endParaRPr>
          </a:p>
          <a:p>
            <a:r>
              <a:rPr lang="en-US" sz="1000" b="0" i="0" kern="1200">
                <a:solidFill>
                  <a:schemeClr val="tx1"/>
                </a:solidFill>
                <a:effectLst/>
                <a:latin typeface="+mn-lt"/>
              </a:rPr>
              <a:t>When you </a:t>
            </a:r>
            <a:r>
              <a:rPr lang="en-US" sz="1000" b="0" i="1" kern="1200">
                <a:solidFill>
                  <a:schemeClr val="tx1"/>
                </a:solidFill>
                <a:effectLst/>
                <a:latin typeface="+mn-lt"/>
              </a:rPr>
              <a:t>manually</a:t>
            </a:r>
            <a:r>
              <a:rPr lang="en-US" sz="1000" b="0" i="0" kern="1200">
                <a:solidFill>
                  <a:schemeClr val="tx1"/>
                </a:solidFill>
                <a:effectLst/>
                <a:latin typeface="+mn-lt"/>
              </a:rPr>
              <a:t> scale your EC2 Auto Scaling group, the default is not to wait for the cooldown period. However, you can override the default and honor the cooldown period. Note that if an instance becomes unhealthy, EC2 Auto Scaling does not wait for the cooldown period to complete before replacing the unhealthy instance. EC2 Auto Scaling supports both default cooldown periods and scaling-specific cooldown periods. It supports cooldown periods when using </a:t>
            </a:r>
            <a:r>
              <a:rPr lang="en-US" sz="1000" b="0" i="1" kern="1200">
                <a:solidFill>
                  <a:schemeClr val="tx1"/>
                </a:solidFill>
                <a:effectLst/>
                <a:latin typeface="+mn-lt"/>
              </a:rPr>
              <a:t>simple scaling policies</a:t>
            </a:r>
            <a:r>
              <a:rPr lang="en-US" sz="1000" b="0" i="0" kern="1200">
                <a:solidFill>
                  <a:schemeClr val="tx1"/>
                </a:solidFill>
                <a:effectLst/>
                <a:latin typeface="+mn-lt"/>
              </a:rPr>
              <a:t>, but not when using </a:t>
            </a:r>
            <a:r>
              <a:rPr lang="en-US" sz="1000" b="0" i="1" kern="1200">
                <a:solidFill>
                  <a:schemeClr val="tx1"/>
                </a:solidFill>
                <a:effectLst/>
                <a:latin typeface="+mn-lt"/>
              </a:rPr>
              <a:t>target tracking policies</a:t>
            </a:r>
            <a:r>
              <a:rPr lang="en-US" sz="1000" b="0" i="0" kern="1200">
                <a:solidFill>
                  <a:schemeClr val="tx1"/>
                </a:solidFill>
                <a:effectLst/>
                <a:latin typeface="+mn-lt"/>
              </a:rPr>
              <a:t>, </a:t>
            </a:r>
            <a:r>
              <a:rPr lang="en-US" sz="1000" b="0" i="1" kern="1200">
                <a:solidFill>
                  <a:schemeClr val="tx1"/>
                </a:solidFill>
                <a:effectLst/>
                <a:latin typeface="+mn-lt"/>
              </a:rPr>
              <a:t>step scaling policies</a:t>
            </a:r>
            <a:r>
              <a:rPr lang="en-US" sz="1000" b="0" i="0" kern="1200">
                <a:solidFill>
                  <a:schemeClr val="tx1"/>
                </a:solidFill>
                <a:effectLst/>
                <a:latin typeface="+mn-lt"/>
              </a:rPr>
              <a:t>, or </a:t>
            </a:r>
            <a:r>
              <a:rPr lang="en-US" sz="1000" b="0" i="1" kern="1200">
                <a:solidFill>
                  <a:schemeClr val="tx1"/>
                </a:solidFill>
                <a:effectLst/>
                <a:latin typeface="+mn-lt"/>
              </a:rPr>
              <a:t>scheduled scaling</a:t>
            </a:r>
            <a:r>
              <a:rPr lang="en-US" sz="1000" b="0" i="0" kern="1200">
                <a:solidFill>
                  <a:schemeClr val="tx1"/>
                </a:solidFill>
                <a:effectLst/>
                <a:latin typeface="+mn-lt"/>
              </a:rPr>
              <a:t>.</a:t>
            </a:r>
          </a:p>
          <a:p>
            <a:endParaRPr lang="en-US" sz="1000" b="1" i="0" kern="1200">
              <a:solidFill>
                <a:schemeClr val="tx1"/>
              </a:solidFill>
              <a:effectLst/>
              <a:latin typeface="+mn-lt"/>
            </a:endParaRPr>
          </a:p>
          <a:p>
            <a:r>
              <a:rPr lang="en-US" sz="1000" b="0" i="0" kern="1200">
                <a:solidFill>
                  <a:schemeClr val="tx1"/>
                </a:solidFill>
                <a:effectLst/>
                <a:latin typeface="+mn-lt"/>
              </a:rPr>
              <a:t>Also, with step scaling policies, you can specify the number of seconds that it takes for a newly launched instance to </a:t>
            </a:r>
            <a:r>
              <a:rPr lang="en-US" sz="1000" b="0" i="1" kern="1200">
                <a:solidFill>
                  <a:schemeClr val="tx1"/>
                </a:solidFill>
                <a:effectLst/>
                <a:latin typeface="+mn-lt"/>
              </a:rPr>
              <a:t>warm up</a:t>
            </a:r>
            <a:r>
              <a:rPr lang="en-US" sz="1000" b="0" i="0" kern="1200">
                <a:solidFill>
                  <a:schemeClr val="tx1"/>
                </a:solidFill>
                <a:effectLst/>
                <a:latin typeface="+mn-lt"/>
              </a:rPr>
              <a:t>. Until its specified warmup time has expired, an instance is not counted toward the aggregated metrics of the Auto Scaling group. When scaling out, AWS also does not consider instances that are warming up as part of the current capacity of the group. Therefore, multiple alarm breaches that fall in the range of the same step adjustment result in a single scaling activity. This ensures that EC2 Auto Scaling doesn’t add more instances than you need.</a:t>
            </a:r>
          </a:p>
        </p:txBody>
      </p:sp>
    </p:spTree>
    <p:extLst>
      <p:ext uri="{BB962C8B-B14F-4D97-AF65-F5344CB8AC3E}">
        <p14:creationId xmlns:p14="http://schemas.microsoft.com/office/powerpoint/2010/main" val="1776987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a:latin typeface="+mn-lt"/>
              </a:rPr>
              <a:t>In some cases, you might want to intervene before an EC2 Auto Scaling action adds to or subtracts from your EC2 Auto</a:t>
            </a:r>
            <a:r>
              <a:rPr lang="en-US" sz="1000" b="0" baseline="0">
                <a:latin typeface="+mn-lt"/>
              </a:rPr>
              <a:t> Scaling group. EC2 Auto Scaling group </a:t>
            </a:r>
            <a:r>
              <a:rPr lang="en-US" sz="1000" b="0" i="1" baseline="0">
                <a:latin typeface="+mn-lt"/>
              </a:rPr>
              <a:t>lifecycle hooks </a:t>
            </a:r>
            <a:r>
              <a:rPr lang="en-US" sz="1000" b="0" baseline="0">
                <a:latin typeface="+mn-lt"/>
              </a:rPr>
              <a:t>give you this flexibility.</a:t>
            </a:r>
          </a:p>
          <a:p>
            <a:endParaRPr lang="en-US" sz="1000" b="0" baseline="0">
              <a:latin typeface="+mn-lt"/>
            </a:endParaRPr>
          </a:p>
          <a:p>
            <a:pPr marL="171450" indent="-171450">
              <a:buFont typeface="Arial" panose="020B0604020202020204" pitchFamily="34" charset="0"/>
              <a:buChar char="•"/>
            </a:pPr>
            <a:r>
              <a:rPr lang="en-US" sz="1000" b="0" baseline="0">
                <a:latin typeface="+mn-lt"/>
              </a:rPr>
              <a:t>For example, during a </a:t>
            </a:r>
            <a:r>
              <a:rPr lang="en-US" sz="1000" b="0" i="1" baseline="0">
                <a:latin typeface="+mn-lt"/>
              </a:rPr>
              <a:t>scale-out event</a:t>
            </a:r>
            <a:r>
              <a:rPr lang="en-US" sz="1000" b="0" baseline="0">
                <a:latin typeface="+mn-lt"/>
              </a:rPr>
              <a:t>, EC2 Auto Scaling could launch an instance, send a preconfigured notification to a person or application, and then take no further action. In this example, it would then be up to the recipient of the notification to perform an action on the instance—such as install software on it—and then add it to the EC2 Auto Scaling group.</a:t>
            </a:r>
          </a:p>
          <a:p>
            <a:pPr marL="171450" indent="-171450">
              <a:buFont typeface="Arial" panose="020B0604020202020204" pitchFamily="34" charset="0"/>
              <a:buChar char="•"/>
            </a:pPr>
            <a:endParaRPr lang="en-US" sz="1000" b="0" baseline="0">
              <a:latin typeface="+mn-lt"/>
            </a:endParaRPr>
          </a:p>
          <a:p>
            <a:pPr marL="171450" indent="-171450">
              <a:buFont typeface="Arial" panose="020B0604020202020204" pitchFamily="34" charset="0"/>
              <a:buChar char="•"/>
            </a:pPr>
            <a:r>
              <a:rPr lang="en-US" sz="1000" b="0" baseline="0">
                <a:latin typeface="+mn-lt"/>
              </a:rPr>
              <a:t>Alternatively, during a </a:t>
            </a:r>
            <a:r>
              <a:rPr lang="en-US" sz="1000" b="0" i="1" baseline="0">
                <a:latin typeface="+mn-lt"/>
              </a:rPr>
              <a:t>scale-in event</a:t>
            </a:r>
            <a:r>
              <a:rPr lang="en-US" sz="1000" b="0" baseline="0">
                <a:latin typeface="+mn-lt"/>
              </a:rPr>
              <a:t>, an EC2 Auto Scaling lifecycle hook could be used to remove an instance from the Auto Scaling group and then send a notification. On receiving the notification, the user or programmed action could then perform an action on the instance—such as retrieve the instance’s logs—before terminating the instance.  </a:t>
            </a:r>
          </a:p>
          <a:p>
            <a:endParaRPr lang="en-US" sz="1000" b="0">
              <a:latin typeface="+mn-lt"/>
            </a:endParaRPr>
          </a:p>
          <a:p>
            <a:r>
              <a:rPr lang="en-US" sz="1000" b="0">
                <a:latin typeface="+mn-lt"/>
              </a:rPr>
              <a:t>For more information about the EC2 Auto</a:t>
            </a:r>
            <a:r>
              <a:rPr lang="en-US" sz="1000" b="0" baseline="0">
                <a:latin typeface="+mn-lt"/>
              </a:rPr>
              <a:t> Scaling lifecycle, see </a:t>
            </a:r>
            <a:r>
              <a:rPr lang="en-US" sz="1000" b="0" baseline="0">
                <a:latin typeface="+mn-lt"/>
                <a:hlinkClick r:id="rId3"/>
              </a:rPr>
              <a:t>http://docs.aws.amazon.com/AutoScaling/latest/DeveloperGuide/AutoScalingGroupLifecycle.html</a:t>
            </a:r>
            <a:r>
              <a:rPr lang="en-US" sz="1000" b="0">
                <a:latin typeface="+mn-lt"/>
              </a:rPr>
              <a:t>  </a:t>
            </a:r>
          </a:p>
        </p:txBody>
      </p:sp>
    </p:spTree>
    <p:extLst>
      <p:ext uri="{BB962C8B-B14F-4D97-AF65-F5344CB8AC3E}">
        <p14:creationId xmlns:p14="http://schemas.microsoft.com/office/powerpoint/2010/main" val="39772678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US" sz="1000"/>
              <a:t>The module will now explore Amazon Route</a:t>
            </a:r>
            <a:r>
              <a:rPr lang="en-US" sz="1000" baseline="0"/>
              <a:t> 53.</a:t>
            </a:r>
            <a:endParaRPr lang="en-US" sz="1000"/>
          </a:p>
          <a:p>
            <a:pPr eaLnBrk="1" hangingPunct="1"/>
            <a:endParaRPr lang="en-US" sz="1000">
              <a:latin typeface="Arial"/>
              <a:cs typeface="Arial"/>
            </a:endParaRPr>
          </a:p>
        </p:txBody>
      </p:sp>
    </p:spTree>
    <p:extLst>
      <p:ext uri="{BB962C8B-B14F-4D97-AF65-F5344CB8AC3E}">
        <p14:creationId xmlns:p14="http://schemas.microsoft.com/office/powerpoint/2010/main" val="31466723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2"/>
            <a:ext cx="5608319" cy="3986195"/>
          </a:xfrm>
        </p:spPr>
        <p:txBody>
          <a:bodyPr>
            <a:noAutofit/>
          </a:bodyPr>
          <a:lstStyle/>
          <a:p>
            <a:r>
              <a:rPr lang="en-US" sz="1000" b="0" i="1">
                <a:cs typeface="Arial"/>
              </a:rPr>
              <a:t>Elastic</a:t>
            </a:r>
            <a:r>
              <a:rPr lang="en-US" sz="1000" b="0" i="1" baseline="0">
                <a:cs typeface="Arial"/>
              </a:rPr>
              <a:t> Load Balancing </a:t>
            </a:r>
            <a:r>
              <a:rPr lang="en-US" sz="1000" b="0" baseline="0">
                <a:cs typeface="Arial"/>
              </a:rPr>
              <a:t>and </a:t>
            </a:r>
            <a:r>
              <a:rPr lang="en-US" sz="1000" b="0" i="1" baseline="0">
                <a:cs typeface="Arial"/>
              </a:rPr>
              <a:t>EC2 Auto Scaling </a:t>
            </a:r>
            <a:r>
              <a:rPr lang="en-US" sz="1000" b="0" baseline="0">
                <a:cs typeface="Arial"/>
              </a:rPr>
              <a:t>allow you to achieve highly flexible, scalable, and resilient architectural designs. But what if you want to distribute traffic across AWS Regions? You might have various reasons for distributing traffic across Regions, including: </a:t>
            </a:r>
          </a:p>
          <a:p>
            <a:pPr marL="171450" indent="-171450">
              <a:buFont typeface="Arial" panose="020B0604020202020204" pitchFamily="34" charset="0"/>
              <a:buChar char="•"/>
            </a:pPr>
            <a:endParaRPr lang="en-US" sz="1000" b="0" baseline="0">
              <a:cs typeface="Arial"/>
            </a:endParaRPr>
          </a:p>
          <a:p>
            <a:pPr marL="171450" indent="-171450">
              <a:buFont typeface="Arial" panose="020B0604020202020204" pitchFamily="34" charset="0"/>
              <a:buChar char="•"/>
            </a:pPr>
            <a:r>
              <a:rPr lang="en-US" sz="1000" b="0" baseline="0">
                <a:cs typeface="Arial"/>
              </a:rPr>
              <a:t>Disaster recovery for widespread outages</a:t>
            </a:r>
          </a:p>
          <a:p>
            <a:pPr marL="171450" indent="-171450">
              <a:buFont typeface="Arial" panose="020B0604020202020204" pitchFamily="34" charset="0"/>
              <a:buChar char="•"/>
            </a:pPr>
            <a:r>
              <a:rPr lang="en-US" sz="1000" b="0" baseline="0">
                <a:cs typeface="Arial"/>
              </a:rPr>
              <a:t>Reduced latency that provides services closer to where users are located</a:t>
            </a:r>
            <a:endParaRPr lang="en-US" sz="1000" b="0">
              <a:cs typeface="Arial"/>
            </a:endParaRPr>
          </a:p>
          <a:p>
            <a:endParaRPr lang="en-US" sz="1000">
              <a:cs typeface="Arial"/>
            </a:endParaRPr>
          </a:p>
          <a:p>
            <a:r>
              <a:rPr lang="en-US" sz="1000" b="0" i="1"/>
              <a:t>Amazon Route 53 </a:t>
            </a:r>
            <a:r>
              <a:rPr lang="en-US" sz="1000"/>
              <a:t>provides a highly available and scalable cloud </a:t>
            </a:r>
            <a:r>
              <a:rPr lang="en-US" sz="1000" b="0" i="1"/>
              <a:t>Domain Name System (DNS) </a:t>
            </a:r>
            <a:r>
              <a:rPr lang="en-US" sz="1000"/>
              <a:t>web service. </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a:t>Amazon Route 53 is designed to provide a reliable and cost-effective way to route end users to internet applications.</a:t>
            </a:r>
            <a:r>
              <a:rPr lang="en-US" sz="1000" baseline="0"/>
              <a:t> It </a:t>
            </a:r>
            <a:r>
              <a:rPr lang="en-US" sz="1000"/>
              <a:t>translates URLs—like </a:t>
            </a:r>
            <a:r>
              <a:rPr lang="en-US" sz="1000" i="0"/>
              <a:t>www.example.com</a:t>
            </a:r>
            <a:r>
              <a:rPr lang="en-US" sz="1000"/>
              <a:t>—into the numeric IP addresses that computers use to connect to each other, such as </a:t>
            </a:r>
            <a:r>
              <a:rPr lang="en-US" sz="1000" i="0"/>
              <a:t>192.0.2.1</a:t>
            </a:r>
            <a:r>
              <a:rPr lang="en-US" sz="1000"/>
              <a:t>.</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a:t>Amazon Route 53 connects user requests to infrastructure that is running in AWS, such as EC2 instances, ELB</a:t>
            </a:r>
            <a:r>
              <a:rPr lang="en-US" sz="1000" baseline="0"/>
              <a:t> </a:t>
            </a:r>
            <a:r>
              <a:rPr lang="en-US" sz="1000"/>
              <a:t>load balancers, or Amazon Simple Storage Service (Amazon S3) buckets. </a:t>
            </a:r>
          </a:p>
          <a:p>
            <a:pPr marL="628650" lvl="1" indent="-171450">
              <a:buFont typeface="Arial" panose="020B0604020202020204" pitchFamily="34" charset="0"/>
              <a:buChar char="•"/>
            </a:pPr>
            <a:r>
              <a:rPr lang="en-US" sz="1000"/>
              <a:t>It can also be used to route users to infrastructure outside of AWS.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You can use Amazon Route 53 to configure DNS health checks so it can route traffic to healthy endpoints, or to independently monitor the health of your application and its endpoints. </a:t>
            </a:r>
          </a:p>
          <a:p>
            <a:endParaRPr lang="en-US" sz="1000"/>
          </a:p>
          <a:p>
            <a:pPr marL="171450" indent="-171450">
              <a:buFont typeface="Arial" panose="020B0604020202020204" pitchFamily="34" charset="0"/>
              <a:buChar char="•"/>
            </a:pPr>
            <a:r>
              <a:rPr lang="en-US" sz="1000"/>
              <a:t>Amazon Route 53 makes it possible for you to manage traffic globally through a variety of routing types, including latency-based routing, geoproximity or geolocation-based routing, and weighted round robin</a:t>
            </a:r>
            <a:r>
              <a:rPr lang="en-US" sz="1000" baseline="0"/>
              <a:t>.</a:t>
            </a:r>
          </a:p>
          <a:p>
            <a:pPr marL="628650" lvl="1" indent="-171450">
              <a:buFont typeface="Arial" panose="020B0604020202020204" pitchFamily="34" charset="0"/>
              <a:buChar char="•"/>
            </a:pPr>
            <a:r>
              <a:rPr lang="en-US" sz="1000" baseline="0"/>
              <a:t>These routing types can be </a:t>
            </a:r>
            <a:r>
              <a:rPr lang="en-US" sz="1000"/>
              <a:t>combined with DNS failover in order to enable a variety of low-latency, fault-tolerant architectures. </a:t>
            </a:r>
          </a:p>
          <a:p>
            <a:pPr marL="628650" lvl="1" indent="-171450">
              <a:buFont typeface="Arial" panose="020B0604020202020204" pitchFamily="34" charset="0"/>
              <a:buChar char="•"/>
            </a:pPr>
            <a:r>
              <a:rPr lang="en-US" sz="1000"/>
              <a:t>Amazon Route 53 also offers domain name registration.</a:t>
            </a:r>
          </a:p>
          <a:p>
            <a:pPr marL="628650" lvl="1" indent="-171450">
              <a:buFont typeface="Arial" panose="020B0604020202020204" pitchFamily="34" charset="0"/>
              <a:buChar char="•"/>
            </a:pPr>
            <a:r>
              <a:rPr lang="en-US" sz="1000" baseline="0"/>
              <a:t>Y</a:t>
            </a:r>
            <a:r>
              <a:rPr lang="en-US" sz="1000"/>
              <a:t>ou can purchase and manage domain names, such as </a:t>
            </a:r>
            <a:r>
              <a:rPr lang="en-US" sz="1000" i="1"/>
              <a:t>example.com</a:t>
            </a:r>
            <a:r>
              <a:rPr lang="en-US" sz="1000"/>
              <a:t>, and Amazon Route 53 will automatically configure the DNS settings for your domains.</a:t>
            </a:r>
          </a:p>
        </p:txBody>
      </p:sp>
    </p:spTree>
    <p:extLst>
      <p:ext uri="{BB962C8B-B14F-4D97-AF65-F5344CB8AC3E}">
        <p14:creationId xmlns:p14="http://schemas.microsoft.com/office/powerpoint/2010/main" val="28324229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a:t>Recall that an</a:t>
            </a:r>
            <a:r>
              <a:rPr lang="en-US" sz="1000" b="1"/>
              <a:t> </a:t>
            </a:r>
            <a:r>
              <a:rPr lang="en-US" sz="1000" b="0" i="1"/>
              <a:t>ELB load balancer </a:t>
            </a:r>
            <a:r>
              <a:rPr lang="en-US" sz="1000" b="0"/>
              <a:t>distributes workloads across multiple compute resources, such as virtual servers. Using a load balancer increases the availability and fault tolerance of your applications. </a:t>
            </a:r>
          </a:p>
          <a:p>
            <a:endParaRPr lang="en-US" sz="1000" b="0"/>
          </a:p>
          <a:p>
            <a:r>
              <a:rPr lang="en-US" sz="1000" b="0"/>
              <a:t>When you create an ELB</a:t>
            </a:r>
            <a:r>
              <a:rPr lang="en-US" sz="1000" b="0" baseline="0"/>
              <a:t> load </a:t>
            </a:r>
            <a:r>
              <a:rPr lang="en-US" sz="1000" b="0"/>
              <a:t>balancer, it is given a default DNS name, like in the example. You can choose to use the default DNS name, or you can associate your own DNS name,</a:t>
            </a:r>
            <a:r>
              <a:rPr lang="en-US" sz="1000" b="0" baseline="0"/>
              <a:t> which </a:t>
            </a:r>
            <a:r>
              <a:rPr lang="en-US" sz="1000" b="0"/>
              <a:t>you could manage by using Route 53. For example, you could register a domain name—such as example.com—for your website or web application. Then, you could route internet traffic to the resources in your AWS account. </a:t>
            </a:r>
          </a:p>
          <a:p>
            <a:endParaRPr lang="en-US" sz="1000" b="0"/>
          </a:p>
          <a:p>
            <a:r>
              <a:rPr lang="en-US" sz="1000" b="0"/>
              <a:t>A </a:t>
            </a:r>
            <a:r>
              <a:rPr lang="en-US" sz="1000" b="0" i="1"/>
              <a:t>CNAME</a:t>
            </a:r>
            <a:r>
              <a:rPr lang="en-US" sz="1000" b="0"/>
              <a:t> record can redirect DNS queries to any DNS record. For example, you can create a CNAME record that redirects queries from apex.example.com to acme.example.com, or to acme.example.org. </a:t>
            </a:r>
          </a:p>
          <a:p>
            <a:endParaRPr lang="en-US" sz="1000" b="0"/>
          </a:p>
          <a:p>
            <a:r>
              <a:rPr lang="en-US" sz="1000" b="0"/>
              <a:t>An </a:t>
            </a:r>
            <a:r>
              <a:rPr lang="en-US" sz="1000" b="0" i="1"/>
              <a:t>alias</a:t>
            </a:r>
            <a:r>
              <a:rPr lang="en-US" sz="1000" b="0"/>
              <a:t> record can only redirect queries to selected AWS resources, such as Amazon S3 buckets, Amazon CloudFront distributions, or another record in the Route 53 hosted zone where you are creating the alias. </a:t>
            </a:r>
          </a:p>
          <a:p>
            <a:endParaRPr lang="en-US" sz="1000" b="0"/>
          </a:p>
          <a:p>
            <a:endParaRPr lang="en-US" sz="1000" b="0"/>
          </a:p>
        </p:txBody>
      </p:sp>
    </p:spTree>
    <p:extLst>
      <p:ext uri="{BB962C8B-B14F-4D97-AF65-F5344CB8AC3E}">
        <p14:creationId xmlns:p14="http://schemas.microsoft.com/office/powerpoint/2010/main" val="31224639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69089"/>
          </a:xfrm>
        </p:spPr>
        <p:txBody>
          <a:bodyPr/>
          <a:lstStyle/>
          <a:p>
            <a:r>
              <a:rPr lang="en-US" sz="1000" b="0"/>
              <a:t>Amazon Route 53 supports seven different routing policies.</a:t>
            </a:r>
          </a:p>
          <a:p>
            <a:pPr marL="228600" indent="-228600">
              <a:buFont typeface="+mj-lt"/>
              <a:buAutoNum type="arabicPeriod"/>
            </a:pPr>
            <a:endParaRPr lang="en-US" sz="1000" b="1"/>
          </a:p>
          <a:p>
            <a:pPr marL="228600" indent="-228600">
              <a:buFont typeface="+mj-lt"/>
              <a:buAutoNum type="arabicPeriod"/>
            </a:pPr>
            <a:r>
              <a:rPr lang="en-US" sz="1000" b="0" i="1"/>
              <a:t>Simple routing policy </a:t>
            </a:r>
            <a:r>
              <a:rPr lang="en-US" sz="1000" b="1"/>
              <a:t>– </a:t>
            </a:r>
            <a:r>
              <a:rPr lang="en-US" sz="1000" b="0"/>
              <a:t>Use </a:t>
            </a:r>
            <a:r>
              <a:rPr lang="en-US" sz="1000"/>
              <a:t>for a single resource that performs a given function for your domain—for example, a web server that serves content for the example.com website.</a:t>
            </a:r>
          </a:p>
          <a:p>
            <a:pPr marL="228600" indent="-228600">
              <a:buFont typeface="+mj-lt"/>
              <a:buAutoNum type="arabicPeriod"/>
            </a:pPr>
            <a:endParaRPr lang="en-US" sz="1000" b="1"/>
          </a:p>
          <a:p>
            <a:pPr marL="228600" indent="-228600">
              <a:buFont typeface="+mj-lt"/>
              <a:buAutoNum type="arabicPeriod"/>
            </a:pPr>
            <a:r>
              <a:rPr lang="en-US" sz="1000" b="0" i="1"/>
              <a:t>Weighted routing policy </a:t>
            </a:r>
            <a:r>
              <a:rPr lang="en-US" sz="1000" b="1"/>
              <a:t>– </a:t>
            </a:r>
            <a:r>
              <a:rPr lang="en-US" sz="1000"/>
              <a:t>Use to route traffic to multiple resources in proportions that you specify.</a:t>
            </a:r>
          </a:p>
          <a:p>
            <a:pPr marL="228600" indent="-228600">
              <a:buFont typeface="+mj-lt"/>
              <a:buAutoNum type="arabicPeriod"/>
            </a:pPr>
            <a:endParaRPr lang="en-US" sz="1000" b="1"/>
          </a:p>
          <a:p>
            <a:pPr marL="228600" indent="-228600">
              <a:buFont typeface="+mj-lt"/>
              <a:buAutoNum type="arabicPeriod"/>
            </a:pPr>
            <a:r>
              <a:rPr lang="en-US" sz="1000" b="0" i="1"/>
              <a:t>Latency routing policy </a:t>
            </a:r>
            <a:r>
              <a:rPr lang="en-US" sz="1000" b="1"/>
              <a:t>– </a:t>
            </a:r>
            <a:r>
              <a:rPr lang="en-US" sz="1000"/>
              <a:t>Use when you have resources in multiple AWS Regions and you want to route traffic to the Region that provides the lowest latency.</a:t>
            </a:r>
          </a:p>
          <a:p>
            <a:pPr marL="228600" indent="-228600">
              <a:buFont typeface="+mj-lt"/>
              <a:buAutoNum type="arabicPeriod"/>
            </a:pPr>
            <a:endParaRPr lang="en-US" sz="1000" b="1"/>
          </a:p>
          <a:p>
            <a:pPr marL="228600" indent="-228600">
              <a:buFont typeface="+mj-lt"/>
              <a:buAutoNum type="arabicPeriod"/>
            </a:pPr>
            <a:r>
              <a:rPr lang="en-US" sz="1000" b="0" i="1"/>
              <a:t>Failover routing policy </a:t>
            </a:r>
            <a:r>
              <a:rPr lang="en-US" sz="1000" b="1"/>
              <a:t>– </a:t>
            </a:r>
            <a:r>
              <a:rPr lang="en-US" sz="1000"/>
              <a:t>Use when you want to configure active-passive failover.</a:t>
            </a:r>
          </a:p>
          <a:p>
            <a:pPr marL="228600" indent="-228600">
              <a:buFont typeface="+mj-lt"/>
              <a:buAutoNum type="arabicPeriod"/>
            </a:pPr>
            <a:endParaRPr lang="en-US" sz="1000" b="1"/>
          </a:p>
          <a:p>
            <a:pPr marL="228600" indent="-228600">
              <a:buFont typeface="+mj-lt"/>
              <a:buAutoNum type="arabicPeriod"/>
            </a:pPr>
            <a:r>
              <a:rPr lang="en-US" sz="1000" b="0" i="1"/>
              <a:t>Geolocation routing policy </a:t>
            </a:r>
            <a:r>
              <a:rPr lang="en-US" sz="1000" b="1"/>
              <a:t>– </a:t>
            </a:r>
            <a:r>
              <a:rPr lang="en-US" sz="1000"/>
              <a:t>Use when you want to route traffic based on the location of your users.</a:t>
            </a:r>
          </a:p>
          <a:p>
            <a:pPr marL="228600" indent="-228600">
              <a:buFont typeface="+mj-lt"/>
              <a:buAutoNum type="arabicPeriod"/>
            </a:pPr>
            <a:endParaRPr lang="en-US" sz="1000" b="1"/>
          </a:p>
          <a:p>
            <a:pPr marL="228600" indent="-228600">
              <a:buFont typeface="+mj-lt"/>
              <a:buAutoNum type="arabicPeriod"/>
            </a:pPr>
            <a:r>
              <a:rPr lang="en-US" sz="1000" b="0" i="1"/>
              <a:t>Geoproximity routing policy </a:t>
            </a:r>
            <a:r>
              <a:rPr lang="en-US" sz="1000" b="1"/>
              <a:t>– </a:t>
            </a:r>
            <a:r>
              <a:rPr lang="en-US" sz="1000"/>
              <a:t>Use when you want to route traffic based on the location of your resources and, optionally, shift traffic from resources in one location to resources in another</a:t>
            </a:r>
            <a:r>
              <a:rPr lang="en-US" sz="1000" baseline="0"/>
              <a:t> location</a:t>
            </a:r>
            <a:r>
              <a:rPr lang="en-US" sz="1000"/>
              <a:t>.</a:t>
            </a:r>
          </a:p>
          <a:p>
            <a:pPr marL="228600" indent="-228600">
              <a:buFont typeface="+mj-lt"/>
              <a:buAutoNum type="arabicPeriod"/>
            </a:pPr>
            <a:endParaRPr lang="en-US" sz="1000" b="1"/>
          </a:p>
          <a:p>
            <a:pPr marL="228600" indent="-228600">
              <a:buFont typeface="+mj-lt"/>
              <a:buAutoNum type="arabicPeriod"/>
            </a:pPr>
            <a:r>
              <a:rPr lang="en-US" sz="1000" b="0" i="1"/>
              <a:t>Multivalue answer routing policy </a:t>
            </a:r>
            <a:r>
              <a:rPr lang="en-US" sz="1000" b="1"/>
              <a:t>– </a:t>
            </a:r>
            <a:r>
              <a:rPr lang="en-US" sz="1000"/>
              <a:t>Use when you want Route 53 to respond to DNS queries, with up to eight healthy records selected at random.</a:t>
            </a:r>
          </a:p>
          <a:p>
            <a:pPr marL="228600" indent="-228600">
              <a:buFont typeface="+mj-lt"/>
              <a:buAutoNum type="arabicPeriod"/>
            </a:pPr>
            <a:endParaRPr lang="en-US" sz="1000"/>
          </a:p>
          <a:p>
            <a:pPr marL="0" indent="0">
              <a:buFont typeface="+mj-lt"/>
              <a:buNone/>
            </a:pPr>
            <a:r>
              <a:rPr lang="en-US" sz="1000"/>
              <a:t>For more information</a:t>
            </a:r>
            <a:r>
              <a:rPr lang="en-US" sz="1000" baseline="0"/>
              <a:t> on routing policies, s</a:t>
            </a:r>
            <a:r>
              <a:rPr lang="en-US" sz="1000"/>
              <a:t>ee </a:t>
            </a:r>
            <a:r>
              <a:rPr lang="en-US" sz="1000">
                <a:hlinkClick r:id="rId3"/>
              </a:rPr>
              <a:t>https://docs.aws.amazon.com/Route53/latest/DeveloperGuide/routing-policy.html</a:t>
            </a:r>
            <a:endParaRPr lang="en-US" sz="1000"/>
          </a:p>
        </p:txBody>
      </p:sp>
    </p:spTree>
    <p:extLst>
      <p:ext uri="{BB962C8B-B14F-4D97-AF65-F5344CB8AC3E}">
        <p14:creationId xmlns:p14="http://schemas.microsoft.com/office/powerpoint/2010/main" val="28704946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2"/>
            <a:ext cx="5608319" cy="3244182"/>
          </a:xfrm>
        </p:spPr>
        <p:txBody>
          <a:bodyPr/>
          <a:lstStyle/>
          <a:p>
            <a:r>
              <a:rPr lang="en-US" sz="1000" b="0" baseline="0">
                <a:latin typeface="+mn-lt"/>
                <a:cs typeface="Arial"/>
              </a:rPr>
              <a:t>Assume that you want to distribute your deployment architecture across several Regions around the world, and provide users with the fastest response time. Often, but not always, the Region that’s geographically closest to the user provides the fastest response times. </a:t>
            </a:r>
          </a:p>
          <a:p>
            <a:endParaRPr lang="en-US" sz="1000" b="0" baseline="0">
              <a:latin typeface="+mn-lt"/>
              <a:cs typeface="Arial"/>
            </a:endParaRPr>
          </a:p>
          <a:p>
            <a:r>
              <a:rPr lang="en-US" sz="1000" b="0" baseline="0">
                <a:latin typeface="+mn-lt"/>
                <a:cs typeface="Arial"/>
              </a:rPr>
              <a:t>For these situations, you can use Amazon Route 53 to perform what is known as </a:t>
            </a:r>
            <a:r>
              <a:rPr lang="en-US" sz="1000" b="0" i="1" baseline="0">
                <a:latin typeface="+mn-lt"/>
                <a:cs typeface="Arial"/>
              </a:rPr>
              <a:t>latency-based routing (LBR)</a:t>
            </a:r>
            <a:r>
              <a:rPr lang="en-US" sz="1000" b="0" i="0" baseline="0">
                <a:latin typeface="+mn-lt"/>
                <a:cs typeface="Arial"/>
              </a:rPr>
              <a:t>. LBR </a:t>
            </a:r>
            <a:r>
              <a:rPr lang="en-US" sz="1000">
                <a:latin typeface="+mn-lt"/>
              </a:rPr>
              <a:t>enables</a:t>
            </a:r>
            <a:r>
              <a:rPr lang="en-US" sz="1000" baseline="0">
                <a:latin typeface="+mn-lt"/>
              </a:rPr>
              <a:t> </a:t>
            </a:r>
            <a:r>
              <a:rPr lang="en-US" sz="1000">
                <a:latin typeface="+mn-lt"/>
              </a:rPr>
              <a:t>you to use DNS to route user requests to the AWS Region that will give your users the fastest response.</a:t>
            </a:r>
          </a:p>
          <a:p>
            <a:endParaRPr lang="en-US" sz="1000">
              <a:latin typeface="+mn-lt"/>
            </a:endParaRPr>
          </a:p>
          <a:p>
            <a:r>
              <a:rPr lang="en-US" sz="1000">
                <a:latin typeface="+mn-lt"/>
              </a:rPr>
              <a:t>For example, assume</a:t>
            </a:r>
            <a:r>
              <a:rPr lang="en-US" sz="1000" baseline="0">
                <a:latin typeface="+mn-lt"/>
              </a:rPr>
              <a:t> that</a:t>
            </a:r>
            <a:r>
              <a:rPr lang="en-US" sz="1000">
                <a:latin typeface="+mn-lt"/>
              </a:rPr>
              <a:t> you have load balancers in the US West (Oregon) Region and in the Asia Pacific (Sydney) Region.</a:t>
            </a:r>
            <a:r>
              <a:rPr lang="en-US" sz="1000" baseline="0">
                <a:latin typeface="+mn-lt"/>
              </a:rPr>
              <a:t> Y</a:t>
            </a:r>
            <a:r>
              <a:rPr lang="en-US" sz="1000">
                <a:latin typeface="+mn-lt"/>
              </a:rPr>
              <a:t>ou created a latency resource record set in Amazon Route 53 for each load balancer. A user in Barcelona enters the name of your domain in a browser, and DNS routes the request to an Amazon Route 53 name server. Amazon Route 53 refers to its data on latency between the different Regions and routes the request appropriately. </a:t>
            </a:r>
          </a:p>
          <a:p>
            <a:endParaRPr lang="en-US" sz="1000">
              <a:latin typeface="+mn-lt"/>
            </a:endParaRPr>
          </a:p>
          <a:p>
            <a:r>
              <a:rPr lang="en-US" sz="1000">
                <a:latin typeface="+mn-lt"/>
              </a:rPr>
              <a:t>In most cases, this means that your request is routed to the nearest geographical location</a:t>
            </a:r>
            <a:r>
              <a:rPr lang="en-US" sz="1000" kern="1200">
                <a:solidFill>
                  <a:schemeClr val="tx1"/>
                </a:solidFill>
                <a:effectLst/>
                <a:latin typeface="+mn-lt"/>
              </a:rPr>
              <a:t>:</a:t>
            </a:r>
            <a:r>
              <a:rPr lang="en-US" sz="1000" kern="1200" baseline="0">
                <a:solidFill>
                  <a:schemeClr val="tx1"/>
                </a:solidFill>
                <a:effectLst/>
                <a:latin typeface="+mn-lt"/>
              </a:rPr>
              <a:t> </a:t>
            </a:r>
            <a:r>
              <a:rPr lang="en-US" sz="1000">
                <a:latin typeface="+mn-lt"/>
              </a:rPr>
              <a:t>Australia for a user in New Zealand, or Oregon for a user in Canada. </a:t>
            </a:r>
            <a:r>
              <a:rPr lang="en-US" sz="1000" b="0">
                <a:latin typeface="+mn-lt"/>
                <a:cs typeface="Arial"/>
              </a:rPr>
              <a:t>  </a:t>
            </a:r>
          </a:p>
        </p:txBody>
      </p:sp>
    </p:spTree>
    <p:extLst>
      <p:ext uri="{BB962C8B-B14F-4D97-AF65-F5344CB8AC3E}">
        <p14:creationId xmlns:p14="http://schemas.microsoft.com/office/powerpoint/2010/main" val="12081504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a:latin typeface="+mn-lt"/>
              </a:rPr>
              <a:t>A </a:t>
            </a:r>
            <a:r>
              <a:rPr lang="en-US" sz="1000" b="0" i="1">
                <a:latin typeface="+mn-lt"/>
              </a:rPr>
              <a:t>blue/green deployment </a:t>
            </a:r>
            <a:r>
              <a:rPr lang="en-US" sz="1000" b="0">
                <a:latin typeface="+mn-lt"/>
              </a:rPr>
              <a:t>refers to a deployment where the risk of the site or application becoming unavailable is reduced because you are running two matching production environments.</a:t>
            </a:r>
            <a:r>
              <a:rPr lang="en-US" sz="1000" b="0" baseline="0">
                <a:latin typeface="+mn-lt"/>
              </a:rPr>
              <a:t> O</a:t>
            </a:r>
            <a:r>
              <a:rPr lang="en-US" sz="1000" b="0">
                <a:latin typeface="+mn-lt"/>
              </a:rPr>
              <a:t>ne environment is referred to as the blue environment, and the other environment is referred to as the green environment.</a:t>
            </a:r>
          </a:p>
          <a:p>
            <a:endParaRPr lang="en-US" sz="1000" b="0">
              <a:latin typeface="+mn-lt"/>
            </a:endParaRPr>
          </a:p>
          <a:p>
            <a:r>
              <a:rPr lang="en-US" sz="1000" b="0">
                <a:latin typeface="+mn-lt"/>
              </a:rPr>
              <a:t>Here</a:t>
            </a:r>
            <a:r>
              <a:rPr lang="en-US" sz="1000" b="0" baseline="0">
                <a:latin typeface="+mn-lt"/>
              </a:rPr>
              <a:t> is an example of a blue/green deployment. Notice that there are two parallel environments, each with its own ELB load balancer and EC2 Auto Scaling configuration. The Amazon Route 53 feature called</a:t>
            </a:r>
            <a:r>
              <a:rPr lang="en-US" sz="1000" b="0" i="1" baseline="0">
                <a:latin typeface="+mn-lt"/>
              </a:rPr>
              <a:t> weighted routing</a:t>
            </a:r>
            <a:r>
              <a:rPr lang="en-US" sz="1000" b="1" i="1" baseline="0">
                <a:latin typeface="+mn-lt"/>
              </a:rPr>
              <a:t> </a:t>
            </a:r>
            <a:r>
              <a:rPr lang="en-US" sz="1000" b="0" baseline="0">
                <a:latin typeface="+mn-lt"/>
              </a:rPr>
              <a:t>is then used to begin shifting users over from the existing (blue) environment to the new (green) environment. This process might be done to migrate users to the new or upgraded green environment.</a:t>
            </a:r>
          </a:p>
          <a:p>
            <a:endParaRPr lang="en-US" sz="1000" b="0" baseline="0">
              <a:latin typeface="+mn-lt"/>
            </a:endParaRPr>
          </a:p>
          <a:p>
            <a:r>
              <a:rPr lang="en-US" sz="1000" b="0" baseline="0">
                <a:latin typeface="+mn-lt"/>
              </a:rPr>
              <a:t>Technologies such as Amazon CloudWatch and Amazon CloudWatch Logs can be used to monitor the green environment. If problems are found anywhere in the new environment, Route 53 weighted routing can be deployed to shift users back to the running blue servers.</a:t>
            </a:r>
          </a:p>
          <a:p>
            <a:endParaRPr lang="en-US" sz="1000" b="0" baseline="0">
              <a:latin typeface="+mn-lt"/>
            </a:endParaRPr>
          </a:p>
          <a:p>
            <a:r>
              <a:rPr lang="en-US" sz="1000" b="0" baseline="0">
                <a:latin typeface="+mn-lt"/>
              </a:rPr>
              <a:t>When the new green environment is fully up and running without issues, the blue environment can gradually be shut down. Due to the potential latency of DNS records, a full shutdown of the blue environment can take anywhere from a day to a week.</a:t>
            </a:r>
          </a:p>
        </p:txBody>
      </p:sp>
    </p:spTree>
    <p:extLst>
      <p:ext uri="{BB962C8B-B14F-4D97-AF65-F5344CB8AC3E}">
        <p14:creationId xmlns:p14="http://schemas.microsoft.com/office/powerpoint/2010/main" val="42721420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Some key</a:t>
            </a:r>
            <a:r>
              <a:rPr lang="en-US" sz="1000" baseline="0"/>
              <a:t> </a:t>
            </a:r>
            <a:r>
              <a:rPr lang="en-US" sz="1000"/>
              <a:t>t</a:t>
            </a:r>
            <a:r>
              <a:rPr lang="en-US" sz="1000" baseline="0"/>
              <a:t>akeaways from this section include:</a:t>
            </a:r>
          </a:p>
          <a:p>
            <a:pPr marL="228600" lvl="0" indent="-228600">
              <a:spcBef>
                <a:spcPts val="600"/>
              </a:spcBef>
              <a:spcAft>
                <a:spcPts val="600"/>
              </a:spcAft>
              <a:buFont typeface="Arial" panose="020B0604020202020204" pitchFamily="34" charset="0"/>
              <a:buChar char="•"/>
            </a:pPr>
            <a:endParaRPr lang="en-US" sz="1000">
              <a:solidFill>
                <a:srgbClr val="000000"/>
              </a:solidFill>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pPr>
            <a:r>
              <a:rPr lang="en-US" sz="1000">
                <a:solidFill>
                  <a:srgbClr val="000000"/>
                </a:solidFill>
                <a:ea typeface="Amazon Ember" panose="02000000000000000000" pitchFamily="2" charset="0"/>
                <a:cs typeface="Amazon Ember Light" panose="020B0403020204020204" pitchFamily="34" charset="0"/>
              </a:rPr>
              <a:t>Amazon Route 53 supports multiple routing policies.</a:t>
            </a:r>
          </a:p>
          <a:p>
            <a:pPr marL="685800" lvl="1" indent="-228600">
              <a:buFont typeface="Arial" panose="020B0604020202020204" pitchFamily="34" charset="0"/>
              <a:buChar char="•"/>
            </a:pPr>
            <a:r>
              <a:rPr lang="en-US" sz="1000" b="0" i="0"/>
              <a:t>Simple routing policy</a:t>
            </a:r>
            <a:endParaRPr lang="en-US" sz="1000" b="1" i="0"/>
          </a:p>
          <a:p>
            <a:pPr marL="685800" lvl="1" indent="-228600">
              <a:buFont typeface="Arial" panose="020B0604020202020204" pitchFamily="34" charset="0"/>
              <a:buChar char="•"/>
            </a:pPr>
            <a:r>
              <a:rPr lang="en-US" sz="1000" b="0" i="0"/>
              <a:t>Weighted routing policy</a:t>
            </a:r>
            <a:endParaRPr lang="en-US" sz="1000" b="1" i="0"/>
          </a:p>
          <a:p>
            <a:pPr marL="685800" lvl="1" indent="-228600">
              <a:buFont typeface="Arial" panose="020B0604020202020204" pitchFamily="34" charset="0"/>
              <a:buChar char="•"/>
            </a:pPr>
            <a:r>
              <a:rPr lang="en-US" sz="1000" b="0" i="0"/>
              <a:t>Latency routing policy</a:t>
            </a:r>
            <a:endParaRPr lang="en-US" sz="1000" b="1" i="0"/>
          </a:p>
          <a:p>
            <a:pPr marL="685800" lvl="1" indent="-228600">
              <a:buFont typeface="Arial" panose="020B0604020202020204" pitchFamily="34" charset="0"/>
              <a:buChar char="•"/>
            </a:pPr>
            <a:r>
              <a:rPr lang="en-US" sz="1000" b="0" i="0"/>
              <a:t>Failover routing policy</a:t>
            </a:r>
            <a:endParaRPr lang="en-US" sz="1000" b="1" i="0"/>
          </a:p>
          <a:p>
            <a:pPr marL="685800" lvl="1" indent="-228600">
              <a:buFont typeface="Arial" panose="020B0604020202020204" pitchFamily="34" charset="0"/>
              <a:buChar char="•"/>
            </a:pPr>
            <a:r>
              <a:rPr lang="en-US" sz="1000" b="0" i="0"/>
              <a:t>Geolocation routing policy</a:t>
            </a:r>
            <a:endParaRPr lang="en-US" sz="1000" b="1" i="0"/>
          </a:p>
          <a:p>
            <a:pPr marL="685800" lvl="1" indent="-228600">
              <a:buFont typeface="Arial" panose="020B0604020202020204" pitchFamily="34" charset="0"/>
              <a:buChar char="•"/>
            </a:pPr>
            <a:r>
              <a:rPr lang="en-US" sz="1000" b="0" i="0" dirty="0" err="1"/>
              <a:t>Geoproximity</a:t>
            </a:r>
            <a:r>
              <a:rPr lang="en-US" sz="1000" b="0" i="0" dirty="0"/>
              <a:t> routing policy</a:t>
            </a:r>
            <a:endParaRPr lang="en-US" sz="1000" b="1" i="0" dirty="0"/>
          </a:p>
          <a:p>
            <a:pPr marL="685800" lvl="1" indent="-228600">
              <a:spcBef>
                <a:spcPts val="0"/>
              </a:spcBef>
              <a:buFont typeface="Arial" panose="020B0604020202020204" pitchFamily="34" charset="0"/>
              <a:buChar char="•"/>
            </a:pPr>
            <a:r>
              <a:rPr lang="en-US" sz="1000" b="0" i="0" dirty="0" err="1"/>
              <a:t>Multivalue</a:t>
            </a:r>
            <a:r>
              <a:rPr lang="en-US" sz="1000" b="0" i="0" dirty="0"/>
              <a:t> answer routing policy</a:t>
            </a:r>
            <a:endParaRPr lang="en-US" sz="1000" b="0" i="0" baseline="0" dirty="0">
              <a:cs typeface="Arial"/>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mn-cs"/>
              </a:rPr>
              <a:t>Amazon Route53 helps: </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mn-cs"/>
              </a:rPr>
              <a:t>Register / transfer domain names.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mn-cs"/>
              </a:rPr>
              <a:t>Resolve domain names to IP address.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mn-cs"/>
              </a:rPr>
              <a:t>Amazon Route53 supports multiple routing policies.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mn-cs"/>
              </a:rPr>
              <a:t>Amazon Route53 can route traffic to resources in different AWS regions as well as on premises resources.</a:t>
            </a:r>
            <a:endPar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Amazon Ember Light" panose="020B0403020204020204" pitchFamily="34" charset="0"/>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b="0" i="0" baseline="0">
                <a:cs typeface="Arial"/>
              </a:rPr>
              <a:t>Latency-based routing (LBR) </a:t>
            </a:r>
            <a:r>
              <a:rPr lang="en-US" sz="1000"/>
              <a:t>enables</a:t>
            </a:r>
            <a:r>
              <a:rPr lang="en-US" sz="1000" baseline="0"/>
              <a:t> </a:t>
            </a:r>
            <a:r>
              <a:rPr lang="en-US" sz="1000"/>
              <a:t>you to use DNS to route user requests to the AWS Region that will give your users the fastest response.</a:t>
            </a:r>
          </a:p>
        </p:txBody>
      </p:sp>
    </p:spTree>
    <p:extLst>
      <p:ext uri="{BB962C8B-B14F-4D97-AF65-F5344CB8AC3E}">
        <p14:creationId xmlns:p14="http://schemas.microsoft.com/office/powerpoint/2010/main" val="27461442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kern="1200">
                <a:solidFill>
                  <a:schemeClr val="tx1"/>
                </a:solidFill>
                <a:effectLst/>
              </a:rPr>
              <a:t>In summary, this module</a:t>
            </a:r>
            <a:r>
              <a:rPr lang="en-US" sz="1000" b="0" kern="1200" baseline="0">
                <a:solidFill>
                  <a:schemeClr val="tx1"/>
                </a:solidFill>
                <a:effectLst/>
              </a:rPr>
              <a:t> discussed:</a:t>
            </a:r>
            <a:br>
              <a:rPr lang="en-US" sz="1000" b="0" kern="1200" baseline="0">
                <a:solidFill>
                  <a:schemeClr val="tx1"/>
                </a:solidFill>
                <a:effectLst/>
              </a:rPr>
            </a:br>
            <a:endParaRPr lang="en-US" sz="1000" b="0" kern="1200" baseline="0">
              <a:solidFill>
                <a:schemeClr val="tx1"/>
              </a:solidFill>
              <a:effectLst/>
            </a:endParaRPr>
          </a:p>
          <a:p>
            <a:pPr marL="171450" lvl="0" indent="-171450">
              <a:buFont typeface="Arial" panose="020B0604020202020204" pitchFamily="34" charset="0"/>
              <a:buChar char="•"/>
            </a:pPr>
            <a:r>
              <a:rPr lang="en-US" sz="1000">
                <a:ea typeface="Amazon Ember" panose="02000000000000000000" pitchFamily="2" charset="0"/>
                <a:cs typeface="Amazon Ember Light" panose="020B0403020204020204" pitchFamily="34" charset="0"/>
              </a:rPr>
              <a:t>Elastic Load Balancing (ELB) features</a:t>
            </a:r>
          </a:p>
          <a:p>
            <a:pPr marL="171450" lvl="0" indent="-171450">
              <a:buFont typeface="Arial" panose="020B0604020202020204" pitchFamily="34" charset="0"/>
              <a:buChar char="•"/>
            </a:pPr>
            <a:r>
              <a:rPr lang="en-US" sz="1000">
                <a:ea typeface="Amazon Ember" panose="02000000000000000000" pitchFamily="2" charset="0"/>
                <a:cs typeface="Amazon Ember Light" panose="020B0403020204020204" pitchFamily="34" charset="0"/>
              </a:rPr>
              <a:t>Types of ELB load balancers</a:t>
            </a:r>
          </a:p>
          <a:p>
            <a:pPr marL="171450" lvl="0" indent="-171450">
              <a:buFont typeface="Arial" panose="020B0604020202020204" pitchFamily="34" charset="0"/>
              <a:buChar char="•"/>
            </a:pPr>
            <a:r>
              <a:rPr lang="en-US" sz="1000">
                <a:ea typeface="Amazon Ember" panose="02000000000000000000" pitchFamily="2" charset="0"/>
                <a:cs typeface="Amazon Ember Light" panose="020B0403020204020204" pitchFamily="34" charset="0"/>
              </a:rPr>
              <a:t>Amazon EC2 Auto Scaling and launch configurations</a:t>
            </a:r>
          </a:p>
          <a:p>
            <a:pPr marL="171450" lvl="0" indent="-171450">
              <a:buFont typeface="Arial" panose="020B0604020202020204" pitchFamily="34" charset="0"/>
              <a:buChar char="•"/>
            </a:pPr>
            <a:r>
              <a:rPr lang="en-US" sz="1000">
                <a:ea typeface="Amazon Ember" panose="02000000000000000000" pitchFamily="2" charset="0"/>
                <a:cs typeface="Amazon Ember Light" panose="020B0403020204020204" pitchFamily="34" charset="0"/>
              </a:rPr>
              <a:t>Amazon Route 53 features</a:t>
            </a:r>
          </a:p>
          <a:p>
            <a:pPr marL="171450" lvl="0" indent="-171450">
              <a:buFont typeface="Arial" panose="020B0604020202020204" pitchFamily="34" charset="0"/>
              <a:buChar char="•"/>
            </a:pPr>
            <a:r>
              <a:rPr lang="en-US" sz="1000">
                <a:ea typeface="Amazon Ember" panose="02000000000000000000" pitchFamily="2" charset="0"/>
                <a:cs typeface="Amazon Ember Light" panose="020B0403020204020204" pitchFamily="34" charset="0"/>
              </a:rPr>
              <a:t>Failover routing configuration</a:t>
            </a:r>
          </a:p>
        </p:txBody>
      </p:sp>
    </p:spTree>
    <p:extLst>
      <p:ext uri="{BB962C8B-B14F-4D97-AF65-F5344CB8AC3E}">
        <p14:creationId xmlns:p14="http://schemas.microsoft.com/office/powerpoint/2010/main" val="3305338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Thank you for participating in this module.</a:t>
            </a:r>
          </a:p>
          <a:p>
            <a:endParaRPr lang="en-US"/>
          </a:p>
        </p:txBody>
      </p:sp>
    </p:spTree>
    <p:extLst>
      <p:ext uri="{BB962C8B-B14F-4D97-AF65-F5344CB8AC3E}">
        <p14:creationId xmlns:p14="http://schemas.microsoft.com/office/powerpoint/2010/main" val="32052787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8.xml"/><Relationship Id="rId6" Type="http://schemas.openxmlformats.org/officeDocument/2006/relationships/image" Target="../media/image10.png"/><Relationship Id="rId5" Type="http://schemas.openxmlformats.org/officeDocument/2006/relationships/oleObject" Target="../embeddings/oleObject2.bin"/><Relationship Id="rId4"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31.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oleObject" Target="../embeddings/oleObject3.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4.xm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5.xml"/><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6.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7.xml"/><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48.xml"/><Relationship Id="rId4" Type="http://schemas.openxmlformats.org/officeDocument/2006/relationships/image" Target="../media/image5.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49.xml"/><Relationship Id="rId4"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0.xml"/><Relationship Id="rId4"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1.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2.xml"/><Relationship Id="rId4"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5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5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5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ags" Target="../tags/tag57.xml"/><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3.xml"/><Relationship Id="rId1" Type="http://schemas.openxmlformats.org/officeDocument/2006/relationships/tags" Target="../tags/tag58.xml"/><Relationship Id="rId4"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4.xml"/><Relationship Id="rId1" Type="http://schemas.openxmlformats.org/officeDocument/2006/relationships/tags" Target="../tags/tag60.xml"/><Relationship Id="rId4"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6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4.xml"/><Relationship Id="rId1" Type="http://schemas.openxmlformats.org/officeDocument/2006/relationships/tags" Target="../tags/tag62.xml"/><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4.xml"/><Relationship Id="rId1" Type="http://schemas.openxmlformats.org/officeDocument/2006/relationships/tags" Target="../tags/tag63.xml"/><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4.xml"/><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5.xml"/><Relationship Id="rId4"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6.xml"/><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7.xml"/><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8.xml"/><Relationship Id="rId4"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69.xml"/><Relationship Id="rId4"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0.xml"/><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1.xml"/><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2.xml"/><Relationship Id="rId4"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73.xml"/><Relationship Id="rId4" Type="http://schemas.openxmlformats.org/officeDocument/2006/relationships/image" Target="../media/image5.jpe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4.xml"/><Relationship Id="rId4"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5.xml"/><Relationship Id="rId4"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6.xml"/><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77.xml"/><Relationship Id="rId4"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7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79.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80.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8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4.xml"/><Relationship Id="rId1" Type="http://schemas.openxmlformats.org/officeDocument/2006/relationships/tags" Target="../tags/tag82.xml"/><Relationship Id="rId4"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83.xml"/><Relationship Id="rId4" Type="http://schemas.openxmlformats.org/officeDocument/2006/relationships/image" Target="../media/image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5.xml"/><Relationship Id="rId1" Type="http://schemas.openxmlformats.org/officeDocument/2006/relationships/tags" Target="../tags/tag85.xml"/><Relationship Id="rId4"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86.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5.xml"/><Relationship Id="rId1" Type="http://schemas.openxmlformats.org/officeDocument/2006/relationships/tags" Target="../tags/tag87.xml"/><Relationship Id="rId4"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5.xml"/><Relationship Id="rId1" Type="http://schemas.openxmlformats.org/officeDocument/2006/relationships/tags" Target="../tags/tag88.xml"/><Relationship Id="rId4"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89.xml"/><Relationship Id="rId4"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0.xml"/><Relationship Id="rId4"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1.xml"/><Relationship Id="rId4"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2.xml"/><Relationship Id="rId4"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3.xml"/><Relationship Id="rId4"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4.xml"/><Relationship Id="rId4"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5.xml"/><Relationship Id="rId4"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6.xml"/><Relationship Id="rId4"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7.xml"/><Relationship Id="rId4"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98.xml"/><Relationship Id="rId4" Type="http://schemas.openxmlformats.org/officeDocument/2006/relationships/image" Target="../media/image5.jpe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99.xml"/><Relationship Id="rId4"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100.xml"/><Relationship Id="rId4"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101.xml"/><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5.xml"/><Relationship Id="rId1" Type="http://schemas.openxmlformats.org/officeDocument/2006/relationships/tags" Target="../tags/tag102.xml"/><Relationship Id="rId4"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10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10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10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10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5.xml"/><Relationship Id="rId1" Type="http://schemas.openxmlformats.org/officeDocument/2006/relationships/tags" Target="../tags/tag107.xml"/><Relationship Id="rId4"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5.xml"/><Relationship Id="rId1" Type="http://schemas.openxmlformats.org/officeDocument/2006/relationships/tags" Target="../tags/tag108.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pPr>
              <a:defRPr/>
            </a:pPr>
            <a:fld id="{B6A95138-A96E-2F42-A959-2EFD44FE4AB7}" type="slidenum">
              <a:rPr lang="en-US" smtClean="0"/>
              <a:pPr>
                <a:defRPr/>
              </a:pPr>
              <a:t>‹#›</a:t>
            </a:fld>
            <a:endParaRPr lang="en-US"/>
          </a:p>
        </p:txBody>
      </p:sp>
      <p:sp>
        <p:nvSpPr>
          <p:cNvPr id="3" name="Footer Placeholder 2"/>
          <p:cNvSpPr>
            <a:spLocks noGrp="1"/>
          </p:cNvSpPr>
          <p:nvPr>
            <p:ph type="ftr" sz="quarter" idx="11"/>
          </p:nvPr>
        </p:nvSpPr>
        <p:spPr/>
        <p:txBody>
          <a:bodyPr/>
          <a:lstStyle>
            <a:lvl1pPr>
              <a:defRPr>
                <a:solidFill>
                  <a:schemeClr val="bg1"/>
                </a:solidFill>
              </a:defRPr>
            </a:lvl1pPr>
          </a:lstStyle>
          <a:p>
            <a:pPr>
              <a:defRPr/>
            </a:pPr>
            <a:r>
              <a:rPr lang="en-US"/>
              <a:t>© 2019 Amazon Web Services, Inc. or its Affiliates. All rights reserved.</a:t>
            </a:r>
          </a:p>
        </p:txBody>
      </p:sp>
    </p:spTree>
    <p:custDataLst>
      <p:tags r:id="rId1"/>
    </p:custDataLst>
    <p:extLst>
      <p:ext uri="{BB962C8B-B14F-4D97-AF65-F5344CB8AC3E}">
        <p14:creationId xmlns:p14="http://schemas.microsoft.com/office/powerpoint/2010/main" val="209157448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43345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FFFFFF"/>
                </a:solidFill>
              </a:rPr>
              <a:pPr>
                <a:defRPr/>
              </a:pPr>
              <a:t>‹#›</a:t>
            </a:fld>
            <a:endParaRPr lang="en-US">
              <a:solidFill>
                <a:srgbClr val="FFFFFF"/>
              </a:solidFill>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249988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031916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1"/>
    </p:custDataLst>
    <p:extLst>
      <p:ext uri="{BB962C8B-B14F-4D97-AF65-F5344CB8AC3E}">
        <p14:creationId xmlns:p14="http://schemas.microsoft.com/office/powerpoint/2010/main" val="144329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238390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01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554453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492911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218306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292437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4028334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878152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530358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51584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622604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461707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4222997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490185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14606237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101012"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76278"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4392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43923"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52" y="907271"/>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84659"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10101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76522" y="1330958"/>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76522" y="2757077"/>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lumMod val="50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lumMod val="50000"/>
                  </a:srgbClr>
                </a:solidFill>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27523038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99899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294991661"/>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26928158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Amazon Ember" panose="02000000000000000000" pitchFamily="2" charset="0"/>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2019 Amazon Web Services, Inc. or its Affiliates. All rights reserved.</a:t>
            </a:r>
          </a:p>
        </p:txBody>
      </p:sp>
      <p:sp>
        <p:nvSpPr>
          <p:cNvPr id="7" name="Slide Number Placeholder 6"/>
          <p:cNvSpPr>
            <a:spLocks noGrp="1"/>
          </p:cNvSpPr>
          <p:nvPr>
            <p:ph type="sldNum" sz="quarter" idx="12"/>
          </p:nvPr>
        </p:nvSpPr>
        <p:spPr/>
        <p:txBody>
          <a:bodyPr/>
          <a:lstStyle>
            <a:lvl1pPr>
              <a:defRPr/>
            </a:lvl1pPr>
          </a:lstStyle>
          <a:p>
            <a:fld id="{47EAE77F-F397-4ABF-8CC2-5AF67E05FE9F}" type="slidenum">
              <a:rPr lang="en-US" smtClean="0"/>
              <a:pPr/>
              <a:t>‹#›</a:t>
            </a:fld>
            <a:endParaRPr lang="en-US"/>
          </a:p>
        </p:txBody>
      </p:sp>
    </p:spTree>
    <p:extLst>
      <p:ext uri="{BB962C8B-B14F-4D97-AF65-F5344CB8AC3E}">
        <p14:creationId xmlns:p14="http://schemas.microsoft.com/office/powerpoint/2010/main" val="20962867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36732" y="2688719"/>
            <a:ext cx="6609493" cy="834496"/>
          </a:xfrm>
        </p:spPr>
        <p:txBody>
          <a:bodyPr anchor="b">
            <a:noAutofit/>
          </a:bodyPr>
          <a:lstStyle>
            <a:lvl1pPr algn="l">
              <a:defRPr sz="4000"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Subtitle 2"/>
          <p:cNvSpPr>
            <a:spLocks noGrp="1"/>
          </p:cNvSpPr>
          <p:nvPr>
            <p:ph type="subTitle" idx="1"/>
          </p:nvPr>
        </p:nvSpPr>
        <p:spPr>
          <a:xfrm>
            <a:off x="5436733" y="3523215"/>
            <a:ext cx="6056582" cy="418570"/>
          </a:xfrm>
        </p:spPr>
        <p:txBody>
          <a:bodyPr>
            <a:normAutofit/>
          </a:bodyPr>
          <a:lstStyle>
            <a:lvl1pPr marL="0" indent="0" algn="l">
              <a:buNone/>
              <a:defRPr sz="2000" b="0" i="0">
                <a:solidFill>
                  <a:schemeClr val="bg1"/>
                </a:solidFill>
                <a:latin typeface="Amazon Ember" panose="02000000000000000000" pitchFamily="2" charset="0"/>
                <a:ea typeface="Amazon Ember" panose="02000000000000000000" pitchFamily="2" charset="0"/>
                <a:cs typeface="Amazon Ember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aphicFrame>
        <p:nvGraphicFramePr>
          <p:cNvPr id="12" name="Object 11">
            <a:extLst>
              <a:ext uri="{FF2B5EF4-FFF2-40B4-BE49-F238E27FC236}">
                <a16:creationId xmlns:a16="http://schemas.microsoft.com/office/drawing/2014/main" id="{80DEBD7B-5FA9-4992-A601-EB72CF549893}"/>
              </a:ext>
            </a:extLst>
          </p:cNvPr>
          <p:cNvGraphicFramePr>
            <a:graphicFrameLocks noChangeAspect="1"/>
          </p:cNvGraphicFramePr>
          <p:nvPr userDrawn="1">
            <p:extLst>
              <p:ext uri="{D42A27DB-BD31-4B8C-83A1-F6EECF244321}">
                <p14:modId xmlns:p14="http://schemas.microsoft.com/office/powerpoint/2010/main" val="1557464044"/>
              </p:ext>
            </p:extLst>
          </p:nvPr>
        </p:nvGraphicFramePr>
        <p:xfrm>
          <a:off x="12185650" y="25400"/>
          <a:ext cx="9525" cy="6858000"/>
        </p:xfrm>
        <a:graphic>
          <a:graphicData uri="http://schemas.openxmlformats.org/presentationml/2006/ole">
            <mc:AlternateContent xmlns:mc="http://schemas.openxmlformats.org/markup-compatibility/2006">
              <mc:Choice xmlns:v="urn:schemas-microsoft-com:vml" Requires="v">
                <p:oleObj name="Image" r:id="rId3" imgW="12600" imgH="9142560" progId="">
                  <p:embed/>
                </p:oleObj>
              </mc:Choice>
              <mc:Fallback>
                <p:oleObj name="Image" r:id="rId3" imgW="12600" imgH="9142560" progId="">
                  <p:embed/>
                  <p:pic>
                    <p:nvPicPr>
                      <p:cNvPr id="0" name="Picture 3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5650" y="25400"/>
                        <a:ext cx="9525" cy="685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7120EA26-A6C6-4FDA-A6D6-DC0B8AAABE75}"/>
              </a:ext>
            </a:extLst>
          </p:cNvPr>
          <p:cNvGraphicFramePr>
            <a:graphicFrameLocks noChangeAspect="1"/>
          </p:cNvGraphicFramePr>
          <p:nvPr userDrawn="1">
            <p:extLst>
              <p:ext uri="{D42A27DB-BD31-4B8C-83A1-F6EECF244321}">
                <p14:modId xmlns:p14="http://schemas.microsoft.com/office/powerpoint/2010/main" val="2681500795"/>
              </p:ext>
            </p:extLst>
          </p:nvPr>
        </p:nvGraphicFramePr>
        <p:xfrm>
          <a:off x="12186206" y="0"/>
          <a:ext cx="9525" cy="6858000"/>
        </p:xfrm>
        <a:graphic>
          <a:graphicData uri="http://schemas.openxmlformats.org/presentationml/2006/ole">
            <mc:AlternateContent xmlns:mc="http://schemas.openxmlformats.org/markup-compatibility/2006">
              <mc:Choice xmlns:v="urn:schemas-microsoft-com:vml" Requires="v">
                <p:oleObj name="Image" r:id="rId5" imgW="12600" imgH="9142560" progId="">
                  <p:embed/>
                </p:oleObj>
              </mc:Choice>
              <mc:Fallback>
                <p:oleObj name="Image" r:id="rId5" imgW="12600" imgH="9142560" progId="">
                  <p:embed/>
                  <p:pic>
                    <p:nvPicPr>
                      <p:cNvPr id="0" name="Picture 3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6206" y="0"/>
                        <a:ext cx="9525" cy="685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Slide Number Placeholder 5"/>
          <p:cNvSpPr>
            <a:spLocks noGrp="1"/>
          </p:cNvSpPr>
          <p:nvPr>
            <p:ph type="sldNum" sz="quarter" idx="12"/>
          </p:nvPr>
        </p:nvSpPr>
        <p:spPr>
          <a:xfrm>
            <a:off x="9183478" y="6413166"/>
            <a:ext cx="2743200" cy="365125"/>
          </a:xfrm>
        </p:spPr>
        <p:txBody>
          <a:bodyPr/>
          <a:lstStyle>
            <a:lvl1pPr>
              <a:defRPr lang="en-US" sz="900" b="0" i="0" kern="1200" smtClean="0">
                <a:solidFill>
                  <a:schemeClr val="bg1"/>
                </a:solidFill>
                <a:latin typeface="Amazon Ember" panose="02000000000000000000" pitchFamily="2" charset="0"/>
                <a:ea typeface="Amazon Ember" panose="02000000000000000000" pitchFamily="2" charset="0"/>
                <a:cs typeface="Amazon Ember Light" charset="0"/>
              </a:defRPr>
            </a:lvl1pPr>
          </a:lstStyle>
          <a:p>
            <a:fld id="{9FC43BFD-8FF7-A343-A8A6-E2338FCE8046}" type="slidenum">
              <a:rPr lang="en-US" smtClean="0"/>
              <a:pPr/>
              <a:t>‹#›</a:t>
            </a:fld>
            <a:endParaRPr lang="en-US"/>
          </a:p>
        </p:txBody>
      </p:sp>
    </p:spTree>
    <p:custDataLst>
      <p:tags r:id="rId1"/>
    </p:custDataLst>
    <p:extLst>
      <p:ext uri="{BB962C8B-B14F-4D97-AF65-F5344CB8AC3E}">
        <p14:creationId xmlns:p14="http://schemas.microsoft.com/office/powerpoint/2010/main" val="4672792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4000"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12" name="Slide Number Placeholder 5"/>
          <p:cNvSpPr>
            <a:spLocks noGrp="1"/>
          </p:cNvSpPr>
          <p:nvPr>
            <p:ph type="sldNum" sz="quarter" idx="12"/>
          </p:nvPr>
        </p:nvSpPr>
        <p:spPr>
          <a:xfrm>
            <a:off x="9183478" y="6413166"/>
            <a:ext cx="2743200" cy="365125"/>
          </a:xfrm>
        </p:spPr>
        <p:txBody>
          <a:bodyPr/>
          <a:lstStyle>
            <a:lvl1pPr>
              <a:defRPr lang="en-US" sz="900" b="0" i="0" kern="1200" smtClean="0">
                <a:solidFill>
                  <a:schemeClr val="bg1"/>
                </a:solidFill>
                <a:latin typeface="Amazon Ember" panose="02000000000000000000" pitchFamily="2" charset="0"/>
                <a:ea typeface="Amazon Ember" panose="02000000000000000000" pitchFamily="2" charset="0"/>
                <a:cs typeface="Amazon Ember Light" charset="0"/>
              </a:defRPr>
            </a:lvl1pPr>
          </a:lstStyle>
          <a:p>
            <a:fld id="{9FC43BFD-8FF7-A343-A8A6-E2338FCE8046}" type="slidenum">
              <a:rPr lang="en-US" smtClean="0"/>
              <a:pPr/>
              <a:t>‹#›</a:t>
            </a:fld>
            <a:endParaRPr lang="en-US"/>
          </a:p>
        </p:txBody>
      </p:sp>
    </p:spTree>
    <p:custDataLst>
      <p:tags r:id="rId1"/>
    </p:custData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12193268" cy="6858713"/>
          </a:xfrm>
          <a:prstGeom prst="rect">
            <a:avLst/>
          </a:prstGeom>
        </p:spPr>
      </p:pic>
      <p:sp>
        <p:nvSpPr>
          <p:cNvPr id="2" name="Title 1"/>
          <p:cNvSpPr>
            <a:spLocks noGrp="1"/>
          </p:cNvSpPr>
          <p:nvPr userDrawn="1">
            <p:ph type="title"/>
          </p:nvPr>
        </p:nvSpPr>
        <p:spPr>
          <a:xfrm>
            <a:off x="238540" y="263527"/>
            <a:ext cx="9048680" cy="779463"/>
          </a:xfrm>
        </p:spPr>
        <p:txBody>
          <a:bodyPr>
            <a:normAutofit/>
          </a:bodyPr>
          <a:lstStyle>
            <a:lvl1pPr>
              <a:defRPr sz="4000"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userDrawn="1">
            <p:ph idx="1" hasCustomPrompt="1"/>
          </p:nvPr>
        </p:nvSpPr>
        <p:spPr>
          <a:xfrm>
            <a:off x="238539" y="1440305"/>
            <a:ext cx="10515600" cy="4913308"/>
          </a:xfrm>
        </p:spPr>
        <p:txBody>
          <a:bodyPr/>
          <a:lstStyle>
            <a:lvl1pPr marL="285750" indent="-285750">
              <a:spcAft>
                <a:spcPts val="600"/>
              </a:spcAft>
              <a:buClr>
                <a:srgbClr val="FF9900"/>
              </a:buClr>
              <a:buSzPct val="75000"/>
              <a:buFont typeface="Wingdings" panose="05000000000000000000" pitchFamily="2" charset="2"/>
              <a:buChar char="q"/>
              <a:defRPr b="0" i="0">
                <a:solidFill>
                  <a:schemeClr val="tx1"/>
                </a:solidFill>
                <a:latin typeface="Amazon Ember" panose="02000000000000000000" pitchFamily="2" charset="0"/>
                <a:ea typeface="Amazon Ember" panose="02000000000000000000" pitchFamily="2" charset="0"/>
                <a:cs typeface="Amazon Ember Light" charset="0"/>
              </a:defRPr>
            </a:lvl1pPr>
            <a:lvl2pPr marL="514350" indent="-228600">
              <a:spcAft>
                <a:spcPts val="600"/>
              </a:spcAft>
              <a:buClr>
                <a:srgbClr val="FF9900"/>
              </a:buClr>
              <a:buSzPct val="75000"/>
              <a:buFont typeface="Wingdings 2" panose="05020102010507070707" pitchFamily="18" charset="2"/>
              <a:buChar char="P"/>
              <a:defRPr b="0" i="0">
                <a:solidFill>
                  <a:schemeClr val="tx1"/>
                </a:solidFill>
                <a:latin typeface="Amazon Ember" panose="02000000000000000000" pitchFamily="2" charset="0"/>
                <a:ea typeface="Amazon Ember" panose="02000000000000000000" pitchFamily="2" charset="0"/>
                <a:cs typeface="Amazon Ember Light" charset="0"/>
              </a:defRPr>
            </a:lvl2pPr>
            <a:lvl3pPr marL="800100" indent="-285750">
              <a:spcAft>
                <a:spcPts val="600"/>
              </a:spcAft>
              <a:buClr>
                <a:srgbClr val="FF9900"/>
              </a:buClr>
              <a:buSzPct val="75000"/>
              <a:buFont typeface="Courier New" panose="02070309020205020404" pitchFamily="49" charset="0"/>
              <a:buChar char="o"/>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Clr>
                <a:srgbClr val="FD9900"/>
              </a:buClr>
              <a:buSzPct val="75000"/>
              <a:buFont typeface="Courier New" panose="02070309020205020404" pitchFamily="49" charset="0"/>
              <a:buChar char="o"/>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userDrawn="1">
            <p:ph type="sldNum" sz="quarter" idx="12"/>
          </p:nvPr>
        </p:nvSpPr>
        <p:spPr>
          <a:xfrm>
            <a:off x="9183478" y="6413166"/>
            <a:ext cx="2743200" cy="365125"/>
          </a:xfrm>
        </p:spPr>
        <p:txBody>
          <a:bodyPr/>
          <a:lstStyle>
            <a:lvl1pPr>
              <a:defRPr lang="en-US" sz="900" b="0" i="0" kern="1200" smtClean="0">
                <a:solidFill>
                  <a:schemeClr val="tx1">
                    <a:lumMod val="85000"/>
                    <a:lumOff val="15000"/>
                  </a:schemeClr>
                </a:solidFill>
                <a:latin typeface="Amazon Ember" panose="02000000000000000000" pitchFamily="2" charset="0"/>
                <a:ea typeface="Amazon Ember" panose="02000000000000000000" pitchFamily="2" charset="0"/>
                <a:cs typeface="Amazon Ember Light" charset="0"/>
              </a:defRPr>
            </a:lvl1pPr>
          </a:lstStyle>
          <a:p>
            <a:fld id="{9FC43BFD-8FF7-A343-A8A6-E2338FCE8046}" type="slidenum">
              <a:rPr lang="en-US" smtClean="0"/>
              <a:pPr/>
              <a:t>‹#›</a:t>
            </a:fld>
            <a:endParaRPr lang="en-US"/>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userDrawn="1"/>
        </p:nvSpPr>
        <p:spPr>
          <a:xfrm>
            <a:off x="251791" y="6480313"/>
            <a:ext cx="4108174" cy="230832"/>
          </a:xfrm>
          <a:prstGeom prst="rect">
            <a:avLst/>
          </a:prstGeom>
          <a:noFill/>
        </p:spPr>
        <p:txBody>
          <a:bodyPr wrap="square" rtlCol="0">
            <a:spAutoFit/>
          </a:bodyPr>
          <a:lstStyle/>
          <a:p>
            <a:r>
              <a:rPr lang="en-US" sz="900" b="0" i="0">
                <a:solidFill>
                  <a:schemeClr val="tx1">
                    <a:lumMod val="85000"/>
                    <a:lumOff val="15000"/>
                  </a:schemeClr>
                </a:solidFill>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12193268" cy="6858713"/>
          </a:xfrm>
          <a:prstGeom prst="rect">
            <a:avLst/>
          </a:prstGeom>
        </p:spPr>
      </p:pic>
      <p:sp>
        <p:nvSpPr>
          <p:cNvPr id="2" name="Title 1"/>
          <p:cNvSpPr>
            <a:spLocks noGrp="1"/>
          </p:cNvSpPr>
          <p:nvPr userDrawn="1">
            <p:ph type="title"/>
          </p:nvPr>
        </p:nvSpPr>
        <p:spPr>
          <a:xfrm>
            <a:off x="238539" y="263527"/>
            <a:ext cx="9059697"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name="Image" r:id="rId4" imgW="12600" imgH="9142560" progId="">
                  <p:embed/>
                </p:oleObj>
              </mc:Choice>
              <mc:Fallback>
                <p:oleObj name="Image" r:id="rId4" imgW="12600" imgH="9142560" progId="">
                  <p:embed/>
                  <p:pic>
                    <p:nvPicPr>
                      <p:cNvPr id="0" name="Picture 6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75800" y="-31440"/>
                        <a:ext cx="9525" cy="685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userDrawn="1"/>
        </p:nvSpPr>
        <p:spPr>
          <a:xfrm>
            <a:off x="251791" y="6480313"/>
            <a:ext cx="4108174" cy="230832"/>
          </a:xfrm>
          <a:prstGeom prst="rect">
            <a:avLst/>
          </a:prstGeom>
          <a:noFill/>
        </p:spPr>
        <p:txBody>
          <a:bodyPr wrap="square" rtlCol="0">
            <a:spAutoFit/>
          </a:bodyPr>
          <a:lstStyle/>
          <a:p>
            <a:r>
              <a:rPr lang="en-US" sz="900" b="0" i="0">
                <a:solidFill>
                  <a:schemeClr val="tx1">
                    <a:lumMod val="85000"/>
                    <a:lumOff val="15000"/>
                  </a:schemeClr>
                </a:solidFill>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
        <p:nvSpPr>
          <p:cNvPr id="13" name="Content Placeholder 2"/>
          <p:cNvSpPr>
            <a:spLocks noGrp="1"/>
          </p:cNvSpPr>
          <p:nvPr>
            <p:ph idx="1" hasCustomPrompt="1"/>
          </p:nvPr>
        </p:nvSpPr>
        <p:spPr>
          <a:xfrm>
            <a:off x="238539" y="1440305"/>
            <a:ext cx="5291928" cy="4913308"/>
          </a:xfrm>
        </p:spPr>
        <p:txBody>
          <a:bodyPr/>
          <a:lstStyle>
            <a:lvl1pPr marL="285750" indent="-285750">
              <a:spcAft>
                <a:spcPts val="600"/>
              </a:spcAft>
              <a:buClr>
                <a:srgbClr val="FF9900"/>
              </a:buClr>
              <a:buSzPct val="75000"/>
              <a:buFont typeface="Wingdings" panose="05000000000000000000" pitchFamily="2" charset="2"/>
              <a:buChar char="q"/>
              <a:defRPr b="0" i="0">
                <a:solidFill>
                  <a:schemeClr val="tx1"/>
                </a:solidFill>
                <a:latin typeface="Amazon Ember" panose="02000000000000000000" pitchFamily="2" charset="0"/>
                <a:ea typeface="Amazon Ember" panose="02000000000000000000" pitchFamily="2" charset="0"/>
                <a:cs typeface="Amazon Ember Light" charset="0"/>
              </a:defRPr>
            </a:lvl1pPr>
            <a:lvl2pPr marL="514350" indent="-228600">
              <a:spcAft>
                <a:spcPts val="600"/>
              </a:spcAft>
              <a:buClr>
                <a:srgbClr val="FF9900"/>
              </a:buClr>
              <a:buSzPct val="75000"/>
              <a:buFont typeface="Wingdings 2" panose="05020102010507070707" pitchFamily="18" charset="2"/>
              <a:buChar char="P"/>
              <a:defRPr b="0" i="0">
                <a:solidFill>
                  <a:schemeClr val="tx1"/>
                </a:solidFill>
                <a:latin typeface="Amazon Ember" panose="02000000000000000000" pitchFamily="2" charset="0"/>
                <a:ea typeface="Amazon Ember" panose="02000000000000000000" pitchFamily="2" charset="0"/>
                <a:cs typeface="Amazon Ember Light" charset="0"/>
              </a:defRPr>
            </a:lvl2pPr>
            <a:lvl3pPr marL="800100" indent="-285750">
              <a:spcAft>
                <a:spcPts val="600"/>
              </a:spcAft>
              <a:buClr>
                <a:srgbClr val="FF9900"/>
              </a:buClr>
              <a:buSzPct val="75000"/>
              <a:buFont typeface="Courier New" panose="02070309020205020404" pitchFamily="49" charset="0"/>
              <a:buChar char="o"/>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Clr>
                <a:srgbClr val="FD9900"/>
              </a:buClr>
              <a:buSzPct val="75000"/>
              <a:buFont typeface="Courier New" panose="02070309020205020404" pitchFamily="49" charset="0"/>
              <a:buChar char="o"/>
              <a:defRPr b="0" i="0">
                <a:solidFill>
                  <a:schemeClr val="tx1"/>
                </a:solidFill>
                <a:latin typeface="Amazon Ember Light" charset="0"/>
                <a:ea typeface="Amazon Ember Light" charset="0"/>
                <a:cs typeface="Amazon Ember Light" charset="0"/>
              </a:defRPr>
            </a:lvl4pPr>
            <a:lvl5pPr marL="2057400" indent="-228600">
              <a:buFontTx/>
              <a:buBlip>
                <a:blip r:embed="rId6"/>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14" name="Content Placeholder 2"/>
          <p:cNvSpPr>
            <a:spLocks noGrp="1"/>
          </p:cNvSpPr>
          <p:nvPr>
            <p:ph idx="13" hasCustomPrompt="1"/>
          </p:nvPr>
        </p:nvSpPr>
        <p:spPr>
          <a:xfrm>
            <a:off x="6061872" y="1440305"/>
            <a:ext cx="5291928" cy="4913308"/>
          </a:xfrm>
        </p:spPr>
        <p:txBody>
          <a:bodyPr/>
          <a:lstStyle>
            <a:lvl1pPr marL="285750" indent="-285750">
              <a:spcAft>
                <a:spcPts val="600"/>
              </a:spcAft>
              <a:buClr>
                <a:srgbClr val="FF9900"/>
              </a:buClr>
              <a:buSzPct val="75000"/>
              <a:buFont typeface="Wingdings" panose="05000000000000000000" pitchFamily="2" charset="2"/>
              <a:buChar char="q"/>
              <a:defRPr b="0" i="0">
                <a:solidFill>
                  <a:schemeClr val="tx1"/>
                </a:solidFill>
                <a:latin typeface="Amazon Ember" panose="02000000000000000000" pitchFamily="2" charset="0"/>
                <a:ea typeface="Amazon Ember" panose="02000000000000000000" pitchFamily="2" charset="0"/>
                <a:cs typeface="Amazon Ember Light" charset="0"/>
              </a:defRPr>
            </a:lvl1pPr>
            <a:lvl2pPr marL="514350" indent="-228600">
              <a:spcAft>
                <a:spcPts val="600"/>
              </a:spcAft>
              <a:buClr>
                <a:srgbClr val="FF9900"/>
              </a:buClr>
              <a:buSzPct val="75000"/>
              <a:buFont typeface="Wingdings 2" panose="05020102010507070707" pitchFamily="18" charset="2"/>
              <a:buChar char="P"/>
              <a:defRPr b="0" i="0">
                <a:solidFill>
                  <a:schemeClr val="tx1"/>
                </a:solidFill>
                <a:latin typeface="Amazon Ember" panose="02000000000000000000" pitchFamily="2" charset="0"/>
                <a:ea typeface="Amazon Ember" panose="02000000000000000000" pitchFamily="2" charset="0"/>
                <a:cs typeface="Amazon Ember Light" charset="0"/>
              </a:defRPr>
            </a:lvl2pPr>
            <a:lvl3pPr marL="800100" indent="-285750">
              <a:spcAft>
                <a:spcPts val="600"/>
              </a:spcAft>
              <a:buClr>
                <a:srgbClr val="FF9900"/>
              </a:buClr>
              <a:buSzPct val="75000"/>
              <a:buFont typeface="Courier New" panose="02070309020205020404" pitchFamily="49" charset="0"/>
              <a:buChar char="o"/>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Clr>
                <a:srgbClr val="FD9900"/>
              </a:buClr>
              <a:buSzPct val="75000"/>
              <a:buFont typeface="Courier New" panose="02070309020205020404" pitchFamily="49" charset="0"/>
              <a:buChar char="o"/>
              <a:defRPr b="0" i="0">
                <a:solidFill>
                  <a:schemeClr val="tx1"/>
                </a:solidFill>
                <a:latin typeface="Amazon Ember Light" charset="0"/>
                <a:ea typeface="Amazon Ember Light" charset="0"/>
                <a:cs typeface="Amazon Ember Light" charset="0"/>
              </a:defRPr>
            </a:lvl4pPr>
            <a:lvl5pPr marL="2057400" indent="-228600">
              <a:buFontTx/>
              <a:buBlip>
                <a:blip r:embed="rId6"/>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p:txBody>
      </p:sp>
      <p:sp>
        <p:nvSpPr>
          <p:cNvPr id="15" name="Slide Number Placeholder 5"/>
          <p:cNvSpPr>
            <a:spLocks noGrp="1"/>
          </p:cNvSpPr>
          <p:nvPr>
            <p:ph type="sldNum" sz="quarter" idx="12"/>
          </p:nvPr>
        </p:nvSpPr>
        <p:spPr>
          <a:xfrm>
            <a:off x="9183478" y="6413166"/>
            <a:ext cx="2743200" cy="365125"/>
          </a:xfrm>
        </p:spPr>
        <p:txBody>
          <a:bodyPr/>
          <a:lstStyle>
            <a:lvl1pPr>
              <a:defRPr lang="en-US" sz="900" b="0" i="0" kern="1200" smtClean="0">
                <a:solidFill>
                  <a:schemeClr val="tx1">
                    <a:lumMod val="85000"/>
                    <a:lumOff val="15000"/>
                  </a:schemeClr>
                </a:solidFill>
                <a:latin typeface="Amazon Ember" panose="02000000000000000000" pitchFamily="2" charset="0"/>
                <a:ea typeface="Amazon Ember" panose="02000000000000000000" pitchFamily="2" charset="0"/>
                <a:cs typeface="Amazon Ember Light" charset="0"/>
              </a:defRPr>
            </a:lvl1pPr>
          </a:lstStyle>
          <a:p>
            <a:fld id="{9FC43BFD-8FF7-A343-A8A6-E2338FCE8046}" type="slidenum">
              <a:rPr lang="en-US" smtClean="0"/>
              <a:pPr/>
              <a:t>‹#›</a:t>
            </a:fld>
            <a:endParaRPr lang="en-US"/>
          </a:p>
        </p:txBody>
      </p:sp>
    </p:spTree>
    <p:custDataLst>
      <p:tags r:id="rId1"/>
    </p:custData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atin typeface="Amazon Ember" panose="02000000000000000000" pitchFamily="2" charset="0"/>
                <a:ea typeface="Amazon Ember" panose="02000000000000000000" pitchFamily="2" charset="0"/>
              </a:defRPr>
            </a:lvl1pPr>
          </a:lstStyle>
          <a:p>
            <a:pPr>
              <a:defRPr/>
            </a:pPr>
            <a:r>
              <a:rPr lang="en-US" sz="900">
                <a:solidFill>
                  <a:srgbClr val="000000">
                    <a:tint val="75000"/>
                  </a:srgbClr>
                </a:solidFill>
                <a:cs typeface="Amazon Ember Light" panose="020B0403020204020204" pitchFamily="34" charset="0"/>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latin typeface="Amazon Ember" panose="02000000000000000000" pitchFamily="2" charset="0"/>
                <a:ea typeface="Amazon Ember" panose="02000000000000000000" pitchFamily="2" charset="0"/>
              </a:defRPr>
            </a:lvl1pPr>
          </a:lstStyle>
          <a:p>
            <a:pPr>
              <a:defRPr/>
            </a:pPr>
            <a:fld id="{B6A95138-A96E-2F42-A959-2EFD44FE4AB7}" type="slidenum">
              <a:rPr lang="en-US" sz="900" smtClean="0">
                <a:solidFill>
                  <a:srgbClr val="FFFFFF"/>
                </a:solidFill>
                <a:cs typeface="Amazon Ember Light" panose="020B0403020204020204" pitchFamily="34" charset="0"/>
              </a:rPr>
              <a:pPr>
                <a:defRPr/>
              </a:pPr>
              <a:t>‹#›</a:t>
            </a:fld>
            <a:endParaRPr lang="en-US" sz="900">
              <a:solidFill>
                <a:srgbClr val="FFFFFF"/>
              </a:solidFill>
              <a:cs typeface="Amazon Ember Light" panose="020B0403020204020204" pitchFamily="34" charset="0"/>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6541850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z="900" smtClean="0">
                <a:solidFill>
                  <a:srgbClr val="000000">
                    <a:tint val="75000"/>
                  </a:srgbClr>
                </a:solidFill>
                <a:cs typeface="Amazon Ember Light" panose="020B0403020204020204" pitchFamily="34" charset="0"/>
              </a:rPr>
              <a:pPr>
                <a:defRPr/>
              </a:pPr>
              <a:t>‹#›</a:t>
            </a:fld>
            <a:endParaRPr lang="en-US" sz="900">
              <a:solidFill>
                <a:srgbClr val="000000">
                  <a:tint val="75000"/>
                </a:srgbClr>
              </a:solidFill>
              <a:cs typeface="Amazon Ember Light" panose="020B0403020204020204" pitchFamily="34" charset="0"/>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7318084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070334507"/>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775669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9265342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0554815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Tree>
    <p:custDataLst>
      <p:tags r:id="rId1"/>
    </p:custDataLst>
    <p:extLst>
      <p:ext uri="{BB962C8B-B14F-4D97-AF65-F5344CB8AC3E}">
        <p14:creationId xmlns:p14="http://schemas.microsoft.com/office/powerpoint/2010/main" val="16283611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467872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3879699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vl1pPr>
          </a:lstStyle>
          <a:p>
            <a:fld id="{B6A95138-A96E-2F42-A959-2EFD44FE4AB7}" type="slidenum">
              <a:rPr lang="en-US" smtClean="0"/>
              <a:pPr/>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9758587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9364529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vl1pPr>
          </a:lstStyle>
          <a:p>
            <a:fld id="{B6A95138-A96E-2F42-A959-2EFD44FE4AB7}" type="slidenum">
              <a:rPr lang="en-US" smtClean="0"/>
              <a:pPr/>
              <a:t>‹#›</a:t>
            </a:fld>
            <a:endParaRPr lang="en-US"/>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096353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40617108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855080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vl1pPr>
          </a:lstStyle>
          <a:p>
            <a:fld id="{B6A95138-A96E-2F42-A959-2EFD44FE4AB7}" type="slidenum">
              <a:rPr lang="en-US" smtClean="0"/>
              <a:pPr/>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3038365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a:solidFill>
            <a:srgbClr val="4B7EAD"/>
          </a:solidFill>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30350864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8042938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27363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600971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28501652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23278665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38077098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101012"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76278"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4392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43923"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52" y="907271"/>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84659"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10101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76522" y="1330958"/>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76522" y="2757077"/>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lumMod val="50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36288844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5669769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a:solidFill>
                  <a:schemeClr val="bg1"/>
                </a:solidFill>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a:solidFill>
                  <a:schemeClr val="bg1"/>
                </a:solidFill>
                <a:latin typeface="Amazon Ember" panose="02000000000000000000" pitchFamily="2" charset="0"/>
                <a:ea typeface="Amazon Ember" panose="02000000000000000000" pitchFamily="2" charset="0"/>
                <a:cs typeface="Amazon Ember Light" charset="0"/>
              </a:rPr>
              <a:t>aws-course-feedback@amazon.com</a:t>
            </a:r>
            <a:r>
              <a:rPr lang="en-US" sz="900">
                <a:solidFill>
                  <a:schemeClr val="bg1"/>
                </a:solidFill>
                <a:latin typeface="Amazon Ember" panose="02000000000000000000" pitchFamily="2" charset="0"/>
                <a:ea typeface="Amazon Ember" panose="02000000000000000000" pitchFamily="2" charset="0"/>
                <a:cs typeface="Amazon Ember Light" charset="0"/>
              </a:rPr>
              <a:t>. For all other questions, contact us at: </a:t>
            </a:r>
            <a:r>
              <a:rPr lang="en-US" sz="900" u="sng">
                <a:solidFill>
                  <a:schemeClr val="bg1"/>
                </a:solidFill>
                <a:latin typeface="Amazon Ember" panose="02000000000000000000" pitchFamily="2" charset="0"/>
                <a:ea typeface="Amazon Ember" panose="02000000000000000000" pitchFamily="2" charset="0"/>
                <a:cs typeface="Amazon Ember Light" charset="0"/>
              </a:rPr>
              <a:t>https://aws.amazon.com/contact-us/aws-training/</a:t>
            </a:r>
            <a:r>
              <a:rPr lang="en-US" sz="900">
                <a:solidFill>
                  <a:schemeClr val="bg1"/>
                </a:solidFill>
                <a:latin typeface="Amazon Ember" panose="02000000000000000000" pitchFamily="2" charset="0"/>
                <a:ea typeface="Amazon Ember" panose="02000000000000000000" pitchFamily="2" charset="0"/>
                <a:cs typeface="Amazon Ember Light" charset="0"/>
              </a:rPr>
              <a:t>. All trademarks are the property of their owners.</a:t>
            </a:r>
          </a:p>
          <a:p>
            <a:pPr algn="just"/>
            <a:endParaRPr lang="en-US" sz="900">
              <a:latin typeface="Amazon Ember" panose="02000000000000000000" pitchFamily="2" charset="0"/>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269174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r>
              <a:rPr lang="en-US" sz="1000" b="0" i="0">
                <a:solidFill>
                  <a:schemeClr val="tx1">
                    <a:lumMod val="85000"/>
                    <a:lumOff val="15000"/>
                  </a:schemeClr>
                </a:solidFill>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30585560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3" name="Footer Placeholder 2"/>
          <p:cNvSpPr>
            <a:spLocks noGrp="1"/>
          </p:cNvSpPr>
          <p:nvPr>
            <p:ph type="ftr" sz="quarter" idx="11"/>
          </p:nvPr>
        </p:nvSpPr>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6" name="Slide Number Placeholder 5"/>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85230361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5982352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FFFFFF"/>
                </a:solidFill>
              </a:rPr>
              <a:pPr>
                <a:defRPr/>
              </a:pPr>
              <a:t>‹#›</a:t>
            </a:fld>
            <a:endParaRPr lang="en-US">
              <a:solidFill>
                <a:srgbClr val="FFFFFF"/>
              </a:solidFill>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7308676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9155177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1"/>
    </p:custDataLst>
    <p:extLst>
      <p:ext uri="{BB962C8B-B14F-4D97-AF65-F5344CB8AC3E}">
        <p14:creationId xmlns:p14="http://schemas.microsoft.com/office/powerpoint/2010/main" val="38669441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733709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9708896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9619988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41955689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5085063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40856924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6229340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7928801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09819908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10203325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68394983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8184822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255891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3028445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306246936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24" name="TextBox 23"/>
          <p:cNvSpPr txBox="1"/>
          <p:nvPr userDrawn="1"/>
        </p:nvSpPr>
        <p:spPr>
          <a:xfrm>
            <a:off x="290923" y="3889248"/>
            <a:ext cx="770467" cy="23084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401" b="0" i="0" u="none" strike="noStrike" kern="1200" cap="none" spc="0" normalizeH="0" baseline="3000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a:t>
            </a:r>
            <a:endParaRPr kumimoji="0" lang="en-US" sz="14401" b="0" i="0" u="none" strike="noStrike" kern="1200" cap="none" spc="0" normalizeH="0" baseline="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31456784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8764910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52522471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179027645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Amazon Ember" panose="02000000000000000000" pitchFamily="2" charset="0"/>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2019 Amazon Web Services, Inc. or its Affiliates. All rights reserved.</a:t>
            </a:r>
          </a:p>
        </p:txBody>
      </p:sp>
      <p:sp>
        <p:nvSpPr>
          <p:cNvPr id="7" name="Slide Number Placeholder 6"/>
          <p:cNvSpPr>
            <a:spLocks noGrp="1"/>
          </p:cNvSpPr>
          <p:nvPr>
            <p:ph type="sldNum" sz="quarter" idx="12"/>
          </p:nvPr>
        </p:nvSpPr>
        <p:spPr/>
        <p:txBody>
          <a:bodyPr/>
          <a:lstStyle>
            <a:lvl1pPr>
              <a:defRPr/>
            </a:lvl1pPr>
          </a:lstStyle>
          <a:p>
            <a:fld id="{6C47991C-E129-4F74-8F6E-9664FAB5CE8D}" type="slidenum">
              <a:rPr lang="en-US" smtClean="0"/>
              <a:pPr/>
              <a:t>‹#›</a:t>
            </a:fld>
            <a:endParaRPr lang="en-US"/>
          </a:p>
        </p:txBody>
      </p:sp>
    </p:spTree>
    <p:extLst>
      <p:ext uri="{BB962C8B-B14F-4D97-AF65-F5344CB8AC3E}">
        <p14:creationId xmlns:p14="http://schemas.microsoft.com/office/powerpoint/2010/main" val="30457285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pPr>
              <a:defRPr/>
            </a:pPr>
            <a:fld id="{B6A95138-A96E-2F42-A959-2EFD44FE4AB7}" type="slidenum">
              <a:rPr lang="en-US" smtClean="0"/>
              <a:pPr>
                <a:defRPr/>
              </a:pPr>
              <a:t>‹#›</a:t>
            </a:fld>
            <a:endParaRPr lang="en-US"/>
          </a:p>
        </p:txBody>
      </p:sp>
      <p:sp>
        <p:nvSpPr>
          <p:cNvPr id="3" name="Footer Placeholder 2"/>
          <p:cNvSpPr>
            <a:spLocks noGrp="1"/>
          </p:cNvSpPr>
          <p:nvPr>
            <p:ph type="ftr" sz="quarter" idx="11"/>
          </p:nvPr>
        </p:nvSpPr>
        <p:spPr/>
        <p:txBody>
          <a:bodyPr/>
          <a:lstStyle>
            <a:lvl1pPr>
              <a:defRPr>
                <a:solidFill>
                  <a:schemeClr val="bg1"/>
                </a:solidFill>
              </a:defRPr>
            </a:lvl1pPr>
          </a:lstStyle>
          <a:p>
            <a:pPr>
              <a:defRPr/>
            </a:pPr>
            <a:r>
              <a:rPr lang="en-US"/>
              <a:t>© 2019 Amazon Web Services, Inc. or its Affiliates. All rights reserved.</a:t>
            </a:r>
          </a:p>
        </p:txBody>
      </p:sp>
    </p:spTree>
    <p:custDataLst>
      <p:tags r:id="rId1"/>
    </p:custDataLst>
    <p:extLst>
      <p:ext uri="{BB962C8B-B14F-4D97-AF65-F5344CB8AC3E}">
        <p14:creationId xmlns:p14="http://schemas.microsoft.com/office/powerpoint/2010/main" val="346796863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08020149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9964031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67873552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Tree>
    <p:custDataLst>
      <p:tags r:id="rId1"/>
    </p:custDataLst>
    <p:extLst>
      <p:ext uri="{BB962C8B-B14F-4D97-AF65-F5344CB8AC3E}">
        <p14:creationId xmlns:p14="http://schemas.microsoft.com/office/powerpoint/2010/main" val="230760658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41310811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013244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86440978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6980620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07503769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58456252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88932243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26368816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7757837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5851891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0647126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422801585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9492059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4567454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20087114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101012"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76278"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4392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43923"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52" y="907271"/>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84659"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10101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76522" y="1330958"/>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76522" y="2757077"/>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lumMod val="50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FFFFFF">
                    <a:lumMod val="50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214415322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4751393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Light"/>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5542519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Light" charset="0"/>
                <a:ea typeface="Amazon Ember Light" charset="0"/>
                <a:cs typeface="Amazon Ember Light" charset="0"/>
              </a:defRPr>
            </a:lvl1pPr>
            <a:lvl2pPr marL="974725" indent="-457200">
              <a:buFontTx/>
              <a:buBlip>
                <a:blip r:embed="rId4"/>
              </a:buBlip>
              <a:defRPr b="0" i="0">
                <a:solidFill>
                  <a:schemeClr val="tx1"/>
                </a:solidFill>
                <a:latin typeface="Amazon Ember Light" charset="0"/>
                <a:ea typeface="Amazon Ember Light" charset="0"/>
                <a:cs typeface="Amazon Ember Light" charset="0"/>
              </a:defRPr>
            </a:lvl2pPr>
            <a:lvl3pPr marL="1428750" indent="-457200">
              <a:buFontTx/>
              <a:buBlip>
                <a:blip r:embed="rId4"/>
              </a:buBlip>
              <a:defRPr b="0" i="0">
                <a:solidFill>
                  <a:schemeClr val="tx1"/>
                </a:solidFill>
                <a:latin typeface="Amazon Ember Light" charset="0"/>
                <a:ea typeface="Amazon Ember Light" charset="0"/>
                <a:cs typeface="Amazon Ember Light" charset="0"/>
              </a:defRPr>
            </a:lvl3pPr>
            <a:lvl4pPr marL="1600200" indent="-228600">
              <a:buFontTx/>
              <a:buBlip>
                <a:blip r:embed="rId4"/>
              </a:buBlip>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0" name="TextBox 9"/>
          <p:cNvSpPr txBox="1"/>
          <p:nvPr userDrawn="1"/>
        </p:nvSpPr>
        <p:spPr>
          <a:xfrm>
            <a:off x="251791" y="6480313"/>
            <a:ext cx="410817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Light" charset="0"/>
                <a:ea typeface="Amazon Ember Light"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3219052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slideLayout" Target="../slideLayouts/slideLayout28.xml"/><Relationship Id="rId7"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tags" Target="../tags/tag34.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theme" Target="../theme/theme4.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tags" Target="../tags/tag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26" Type="http://schemas.openxmlformats.org/officeDocument/2006/relationships/tags" Target="../tags/tag84.xml"/><Relationship Id="rId3" Type="http://schemas.openxmlformats.org/officeDocument/2006/relationships/slideLayout" Target="../slideLayouts/slideLayout83.xml"/><Relationship Id="rId21" Type="http://schemas.openxmlformats.org/officeDocument/2006/relationships/slideLayout" Target="../slideLayouts/slideLayout101.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theme" Target="../theme/theme5.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slideLayout" Target="../slideLayouts/slideLayout104.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t>© 2019 Amazon Web Services, Inc. or its Affiliates. All rights reserved</a:t>
            </a:r>
            <a:r>
              <a:rPr lang="en-US">
                <a:solidFill>
                  <a:srgbClr val="000000">
                    <a:tint val="75000"/>
                  </a:srgbClr>
                </a:solidFill>
              </a:rPr>
              <a:t> </a:t>
            </a:r>
          </a:p>
        </p:txBody>
      </p:sp>
    </p:spTree>
    <p:custDataLst>
      <p:tags r:id="rId27"/>
    </p:custDataLst>
    <p:extLst>
      <p:ext uri="{BB962C8B-B14F-4D97-AF65-F5344CB8AC3E}">
        <p14:creationId xmlns:p14="http://schemas.microsoft.com/office/powerpoint/2010/main" val="387460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27" r:id="rId25"/>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2019 Amazon Web Services, Inc. or its Affiliates. All rights reserved.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43BFD-8FF7-A343-A8A6-E2338FCE8046}" type="slidenum">
              <a:rPr lang="en-US" smtClean="0"/>
              <a:pPr/>
              <a:t>‹#›</a:t>
            </a:fld>
            <a:endParaRPr lang="en-US"/>
          </a:p>
        </p:txBody>
      </p:sp>
    </p:spTree>
    <p:custDataLst>
      <p:tags r:id="rId8"/>
    </p:custDataLst>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72" r:id="rId3"/>
    <p:sldLayoutId id="2147483674" r:id="rId4"/>
    <p:sldLayoutId id="2147483700" r:id="rId5"/>
    <p:sldLayoutId id="2147483701"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fld id="{B6A95138-A96E-2F42-A959-2EFD44FE4AB7}" type="slidenum">
              <a:rPr lang="en-US" smtClean="0"/>
              <a:pPr/>
              <a:t>‹#›</a:t>
            </a:fld>
            <a:endParaRPr lang="en-US"/>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Tree>
    <p:custDataLst>
      <p:tags r:id="rId26"/>
    </p:custDataLst>
    <p:extLst>
      <p:ext uri="{BB962C8B-B14F-4D97-AF65-F5344CB8AC3E}">
        <p14:creationId xmlns:p14="http://schemas.microsoft.com/office/powerpoint/2010/main" val="119535838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27"/>
    </p:custDataLst>
    <p:extLst>
      <p:ext uri="{BB962C8B-B14F-4D97-AF65-F5344CB8AC3E}">
        <p14:creationId xmlns:p14="http://schemas.microsoft.com/office/powerpoint/2010/main" val="1129747433"/>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Tree>
    <p:custDataLst>
      <p:tags r:id="rId26"/>
    </p:custDataLst>
    <p:extLst>
      <p:ext uri="{BB962C8B-B14F-4D97-AF65-F5344CB8AC3E}">
        <p14:creationId xmlns:p14="http://schemas.microsoft.com/office/powerpoint/2010/main" val="1631144020"/>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1.xml"/><Relationship Id="rId1" Type="http://schemas.openxmlformats.org/officeDocument/2006/relationships/tags" Target="../tags/tag10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5.xml"/><Relationship Id="rId1" Type="http://schemas.openxmlformats.org/officeDocument/2006/relationships/tags" Target="../tags/tag11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5.xml"/><Relationship Id="rId1" Type="http://schemas.openxmlformats.org/officeDocument/2006/relationships/tags" Target="../tags/tag11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6.svg"/><Relationship Id="rId4" Type="http://schemas.openxmlformats.org/officeDocument/2006/relationships/diagramData" Target="../diagrams/data1.xml"/><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xml"/><Relationship Id="rId7" Type="http://schemas.openxmlformats.org/officeDocument/2006/relationships/image" Target="../media/image20.svg"/><Relationship Id="rId2" Type="http://schemas.openxmlformats.org/officeDocument/2006/relationships/slideLayout" Target="../slideLayouts/slideLayout5.xml"/><Relationship Id="rId1" Type="http://schemas.openxmlformats.org/officeDocument/2006/relationships/tags" Target="../tags/tag11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6.xml"/><Relationship Id="rId7" Type="http://schemas.openxmlformats.org/officeDocument/2006/relationships/image" Target="../media/image24.svg"/><Relationship Id="rId2" Type="http://schemas.openxmlformats.org/officeDocument/2006/relationships/slideLayout" Target="../slideLayouts/slideLayout5.xml"/><Relationship Id="rId1" Type="http://schemas.openxmlformats.org/officeDocument/2006/relationships/tags" Target="../tags/tag114.xml"/><Relationship Id="rId6" Type="http://schemas.openxmlformats.org/officeDocument/2006/relationships/image" Target="../media/image23.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1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17.xml"/></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0.xml"/><Relationship Id="rId7" Type="http://schemas.openxmlformats.org/officeDocument/2006/relationships/diagramColors" Target="../diagrams/colors2.xml"/><Relationship Id="rId2" Type="http://schemas.openxmlformats.org/officeDocument/2006/relationships/slideLayout" Target="../slideLayouts/slideLayout5.xml"/><Relationship Id="rId1" Type="http://schemas.openxmlformats.org/officeDocument/2006/relationships/tags" Target="../tags/tag118.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8.svg"/><Relationship Id="rId4" Type="http://schemas.openxmlformats.org/officeDocument/2006/relationships/diagramData" Target="../diagrams/data2.xml"/><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1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ags" Target="../tags/tag12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2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4.svg"/><Relationship Id="rId2" Type="http://schemas.openxmlformats.org/officeDocument/2006/relationships/slideLayout" Target="../slideLayouts/slideLayout5.xml"/><Relationship Id="rId1" Type="http://schemas.openxmlformats.org/officeDocument/2006/relationships/tags" Target="../tags/tag122.xml"/><Relationship Id="rId6" Type="http://schemas.openxmlformats.org/officeDocument/2006/relationships/image" Target="../media/image23.png"/><Relationship Id="rId5" Type="http://schemas.openxmlformats.org/officeDocument/2006/relationships/image" Target="../media/image18.sv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2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2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2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2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12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0.xml"/><Relationship Id="rId1" Type="http://schemas.openxmlformats.org/officeDocument/2006/relationships/tags" Target="../tags/tag128.xml"/><Relationship Id="rId5" Type="http://schemas.openxmlformats.org/officeDocument/2006/relationships/image" Target="../media/image27.jpe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130.xml"/><Relationship Id="rId5" Type="http://schemas.openxmlformats.org/officeDocument/2006/relationships/image" Target="../media/image29.sv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131.xml"/><Relationship Id="rId5" Type="http://schemas.openxmlformats.org/officeDocument/2006/relationships/image" Target="../media/image29.sv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132.xml"/></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25.xml"/><Relationship Id="rId7" Type="http://schemas.openxmlformats.org/officeDocument/2006/relationships/image" Target="../media/image31.svg"/><Relationship Id="rId2" Type="http://schemas.openxmlformats.org/officeDocument/2006/relationships/slideLayout" Target="../slideLayouts/slideLayout5.xml"/><Relationship Id="rId1" Type="http://schemas.openxmlformats.org/officeDocument/2006/relationships/tags" Target="../tags/tag133.xml"/><Relationship Id="rId6" Type="http://schemas.openxmlformats.org/officeDocument/2006/relationships/image" Target="../media/image30.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2.sv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134.xml"/></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27.xml"/><Relationship Id="rId7" Type="http://schemas.openxmlformats.org/officeDocument/2006/relationships/image" Target="../media/image22.svg"/><Relationship Id="rId2" Type="http://schemas.openxmlformats.org/officeDocument/2006/relationships/slideLayout" Target="../slideLayouts/slideLayout5.xml"/><Relationship Id="rId1" Type="http://schemas.openxmlformats.org/officeDocument/2006/relationships/tags" Target="../tags/tag135.xml"/><Relationship Id="rId6" Type="http://schemas.openxmlformats.org/officeDocument/2006/relationships/image" Target="../media/image21.png"/><Relationship Id="rId5" Type="http://schemas.openxmlformats.org/officeDocument/2006/relationships/image" Target="../media/image24.sv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136.xml"/></Relationships>
</file>

<file path=ppt/slides/_rels/slide2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29.xml"/><Relationship Id="rId7" Type="http://schemas.openxmlformats.org/officeDocument/2006/relationships/diagramColors" Target="../diagrams/colors3.xml"/><Relationship Id="rId2" Type="http://schemas.openxmlformats.org/officeDocument/2006/relationships/slideLayout" Target="../slideLayouts/slideLayout5.xml"/><Relationship Id="rId1" Type="http://schemas.openxmlformats.org/officeDocument/2006/relationships/tags" Target="../tags/tag13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138.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5.xml"/><Relationship Id="rId1" Type="http://schemas.openxmlformats.org/officeDocument/2006/relationships/tags" Target="../tags/tag139.xml"/><Relationship Id="rId5" Type="http://schemas.openxmlformats.org/officeDocument/2006/relationships/image" Target="../media/image27.jpe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140.xml"/></Relationships>
</file>

<file path=ppt/slides/_rels/slide3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33.xml"/><Relationship Id="rId7" Type="http://schemas.openxmlformats.org/officeDocument/2006/relationships/image" Target="../media/image31.svg"/><Relationship Id="rId2" Type="http://schemas.openxmlformats.org/officeDocument/2006/relationships/slideLayout" Target="../slideLayouts/slideLayout5.xml"/><Relationship Id="rId1" Type="http://schemas.openxmlformats.org/officeDocument/2006/relationships/tags" Target="../tags/tag141.xml"/><Relationship Id="rId6" Type="http://schemas.openxmlformats.org/officeDocument/2006/relationships/image" Target="../media/image30.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2.sv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143.xml"/><Relationship Id="rId5" Type="http://schemas.openxmlformats.org/officeDocument/2006/relationships/image" Target="../media/image20.sv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144.xml"/></Relationships>
</file>

<file path=ppt/slides/_rels/slide3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notesSlide" Target="../notesSlides/notesSlide37.xml"/><Relationship Id="rId7" Type="http://schemas.openxmlformats.org/officeDocument/2006/relationships/image" Target="../media/image19.png"/><Relationship Id="rId2" Type="http://schemas.openxmlformats.org/officeDocument/2006/relationships/slideLayout" Target="../slideLayouts/slideLayout5.xml"/><Relationship Id="rId1" Type="http://schemas.openxmlformats.org/officeDocument/2006/relationships/tags" Target="../tags/tag14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34.png"/></Relationships>
</file>

<file path=ppt/slides/_rels/slide3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38.xml"/><Relationship Id="rId7" Type="http://schemas.openxmlformats.org/officeDocument/2006/relationships/image" Target="../media/image18.svg"/><Relationship Id="rId2" Type="http://schemas.openxmlformats.org/officeDocument/2006/relationships/slideLayout" Target="../slideLayouts/slideLayout5.xml"/><Relationship Id="rId1" Type="http://schemas.openxmlformats.org/officeDocument/2006/relationships/tags" Target="../tags/tag146.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35.png"/><Relationship Id="rId9" Type="http://schemas.openxmlformats.org/officeDocument/2006/relationships/image" Target="../media/image37.svg"/></Relationships>
</file>

<file path=ppt/slides/_rels/slide3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1.svg"/><Relationship Id="rId3" Type="http://schemas.openxmlformats.org/officeDocument/2006/relationships/notesSlide" Target="../notesSlides/notesSlide39.xml"/><Relationship Id="rId7" Type="http://schemas.openxmlformats.org/officeDocument/2006/relationships/image" Target="../media/image37.svg"/><Relationship Id="rId12" Type="http://schemas.openxmlformats.org/officeDocument/2006/relationships/image" Target="../media/image30.png"/><Relationship Id="rId2" Type="http://schemas.openxmlformats.org/officeDocument/2006/relationships/slideLayout" Target="../slideLayouts/slideLayout5.xml"/><Relationship Id="rId1" Type="http://schemas.openxmlformats.org/officeDocument/2006/relationships/tags" Target="../tags/tag147.xml"/><Relationship Id="rId6" Type="http://schemas.openxmlformats.org/officeDocument/2006/relationships/image" Target="../media/image36.png"/><Relationship Id="rId11" Type="http://schemas.openxmlformats.org/officeDocument/2006/relationships/image" Target="../media/image18.svg"/><Relationship Id="rId5" Type="http://schemas.openxmlformats.org/officeDocument/2006/relationships/image" Target="../media/image39.svg"/><Relationship Id="rId15" Type="http://schemas.openxmlformats.org/officeDocument/2006/relationships/image" Target="../media/image41.svg"/><Relationship Id="rId10" Type="http://schemas.openxmlformats.org/officeDocument/2006/relationships/image" Target="../media/image17.png"/><Relationship Id="rId4" Type="http://schemas.openxmlformats.org/officeDocument/2006/relationships/image" Target="../media/image38.png"/><Relationship Id="rId9" Type="http://schemas.openxmlformats.org/officeDocument/2006/relationships/image" Target="../media/image20.svg"/><Relationship Id="rId1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0.xml"/><Relationship Id="rId1" Type="http://schemas.openxmlformats.org/officeDocument/2006/relationships/tags" Target="../tags/tag148.xml"/><Relationship Id="rId5" Type="http://schemas.openxmlformats.org/officeDocument/2006/relationships/image" Target="../media/image27.jpe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149.xml"/><Relationship Id="rId5" Type="http://schemas.openxmlformats.org/officeDocument/2006/relationships/image" Target="../media/image42.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3.xml"/><Relationship Id="rId1" Type="http://schemas.openxmlformats.org/officeDocument/2006/relationships/tags" Target="../tags/tag1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Autofit/>
          </a:bodyPr>
          <a:lstStyle/>
          <a:p>
            <a:r>
              <a:rPr lang="en-US" sz="4800"/>
              <a:t>Module 4: Computing (Scaling and Name Resolution)</a:t>
            </a:r>
            <a:br>
              <a:rPr lang="en-US" sz="3600"/>
            </a:br>
            <a:endParaRPr lang="en-US" sz="3600"/>
          </a:p>
        </p:txBody>
      </p:sp>
      <p:sp>
        <p:nvSpPr>
          <p:cNvPr id="3" name="Footer Placeholder 2"/>
          <p:cNvSpPr>
            <a:spLocks noGrp="1"/>
          </p:cNvSpPr>
          <p:nvPr>
            <p:ph type="ftr" sz="quarter" idx="11"/>
          </p:nvPr>
        </p:nvSpPr>
        <p:spPr>
          <a:xfrm>
            <a:off x="419100" y="6356350"/>
            <a:ext cx="6871048" cy="36512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pPr>
                <a:defRPr/>
              </a:pPr>
              <a:t>1</a:t>
            </a:fld>
            <a:endParaRPr lang="en-US"/>
          </a:p>
        </p:txBody>
      </p:sp>
    </p:spTree>
    <p:custDataLst>
      <p:tags r:id="rId1"/>
    </p:custDataLst>
    <p:extLst>
      <p:ext uri="{BB962C8B-B14F-4D97-AF65-F5344CB8AC3E}">
        <p14:creationId xmlns:p14="http://schemas.microsoft.com/office/powerpoint/2010/main" val="311740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b="1"/>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a:xfrm>
            <a:off x="419100" y="1528175"/>
            <a:ext cx="11772900" cy="4648788"/>
          </a:xfrm>
        </p:spPr>
        <p:txBody>
          <a:bodyPr anchor="t">
            <a:noAutofit/>
          </a:bodyPr>
          <a:lstStyle/>
          <a:p>
            <a:pPr marL="0" indent="0">
              <a:lnSpc>
                <a:spcPct val="100000"/>
              </a:lnSpc>
              <a:spcAft>
                <a:spcPts val="600"/>
              </a:spcAft>
              <a:buNone/>
            </a:pPr>
            <a:r>
              <a:rPr lang="en-US" b="1"/>
              <a:t>At the end of this module, you will be able to:</a:t>
            </a:r>
          </a:p>
          <a:p>
            <a:pPr lvl="0"/>
            <a:r>
              <a:rPr lang="en-US" b="1"/>
              <a:t>Describe </a:t>
            </a:r>
            <a:r>
              <a:rPr lang="en-US"/>
              <a:t>Elastic Load Balancing features.</a:t>
            </a:r>
          </a:p>
          <a:p>
            <a:r>
              <a:rPr lang="en-US" b="1"/>
              <a:t>Differentiate</a:t>
            </a:r>
            <a:r>
              <a:rPr lang="en-US"/>
              <a:t> the types of ELB load balancers.</a:t>
            </a:r>
          </a:p>
          <a:p>
            <a:pPr lvl="0"/>
            <a:r>
              <a:rPr lang="en-US" b="1"/>
              <a:t>Describe</a:t>
            </a:r>
            <a:r>
              <a:rPr lang="en-US"/>
              <a:t> Amazon EC2 Auto Scaling and launch configurations.</a:t>
            </a:r>
          </a:p>
          <a:p>
            <a:pPr lvl="0"/>
            <a:r>
              <a:rPr lang="en-US" b="1"/>
              <a:t>Use </a:t>
            </a:r>
            <a:r>
              <a:rPr lang="en-US"/>
              <a:t>EC2 Auto Scaling in AWS.</a:t>
            </a:r>
          </a:p>
          <a:p>
            <a:pPr lvl="0"/>
            <a:r>
              <a:rPr lang="en-US" b="1"/>
              <a:t>Describe</a:t>
            </a:r>
            <a:r>
              <a:rPr lang="en-US"/>
              <a:t> Amazon Route 53 features and routing options.</a:t>
            </a:r>
          </a:p>
          <a:p>
            <a:pPr lvl="0"/>
            <a:r>
              <a:rPr lang="en-US" b="1"/>
              <a:t>Configure</a:t>
            </a:r>
            <a:r>
              <a:rPr lang="en-US"/>
              <a:t> failover routing.</a:t>
            </a:r>
          </a:p>
        </p:txBody>
      </p:sp>
      <p:cxnSp>
        <p:nvCxnSpPr>
          <p:cNvPr id="8" name="Straight Connector 7">
            <a:extLst>
              <a:ext uri="{FF2B5EF4-FFF2-40B4-BE49-F238E27FC236}">
                <a16:creationId xmlns:a16="http://schemas.microsoft.com/office/drawing/2014/main" id="{EA3EC7A9-69B3-AD42-ADAA-1D3FED9900EB}"/>
              </a:ext>
            </a:extLst>
          </p:cNvPr>
          <p:cNvCxnSpPr/>
          <p:nvPr/>
        </p:nvCxnSpPr>
        <p:spPr>
          <a:xfrm>
            <a:off x="419100" y="6187794"/>
            <a:ext cx="11132820" cy="22169"/>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282588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Scaling on demand: Overview</a:t>
            </a:r>
          </a:p>
        </p:txBody>
      </p:sp>
      <p:sp>
        <p:nvSpPr>
          <p:cNvPr id="3" name="Content Placeholder 2"/>
          <p:cNvSpPr>
            <a:spLocks noGrp="1"/>
          </p:cNvSpPr>
          <p:nvPr>
            <p:ph idx="1"/>
          </p:nvPr>
        </p:nvSpPr>
        <p:spPr>
          <a:xfrm>
            <a:off x="419100" y="1528175"/>
            <a:ext cx="4292385" cy="4648788"/>
          </a:xfrm>
        </p:spPr>
        <p:txBody>
          <a:bodyPr/>
          <a:lstStyle/>
          <a:p>
            <a:pPr>
              <a:lnSpc>
                <a:spcPct val="100000"/>
              </a:lnSpc>
              <a:spcBef>
                <a:spcPts val="600"/>
              </a:spcBef>
              <a:spcAft>
                <a:spcPts val="600"/>
              </a:spcAft>
            </a:pPr>
            <a:r>
              <a:rPr lang="en-US"/>
              <a:t>Buying hardware to meet short-term demand creates waste</a:t>
            </a:r>
          </a:p>
          <a:p>
            <a:pPr>
              <a:lnSpc>
                <a:spcPct val="100000"/>
              </a:lnSpc>
              <a:spcBef>
                <a:spcPts val="600"/>
              </a:spcBef>
              <a:spcAft>
                <a:spcPts val="600"/>
              </a:spcAft>
            </a:pPr>
            <a:r>
              <a:rPr lang="en-US"/>
              <a:t>Hardware is idle during off-peak periods and constrained during peak periods</a:t>
            </a:r>
          </a:p>
        </p:txBody>
      </p:sp>
      <p:graphicFrame>
        <p:nvGraphicFramePr>
          <p:cNvPr id="5" name="Diagram 4"/>
          <p:cNvGraphicFramePr/>
          <p:nvPr>
            <p:extLst>
              <p:ext uri="{D42A27DB-BD31-4B8C-83A1-F6EECF244321}">
                <p14:modId xmlns:p14="http://schemas.microsoft.com/office/powerpoint/2010/main" val="1049987062"/>
              </p:ext>
            </p:extLst>
          </p:nvPr>
        </p:nvGraphicFramePr>
        <p:xfrm>
          <a:off x="5138846" y="1225064"/>
          <a:ext cx="6595954" cy="5353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97104151-6779-134A-B240-03AC2BE6CB9B}"/>
              </a:ext>
            </a:extLst>
          </p:cNvPr>
          <p:cNvSpPr txBox="1"/>
          <p:nvPr/>
        </p:nvSpPr>
        <p:spPr>
          <a:xfrm>
            <a:off x="5176417" y="3933613"/>
            <a:ext cx="1513305" cy="369332"/>
          </a:xfrm>
          <a:prstGeom prst="rect">
            <a:avLst/>
          </a:prstGeom>
          <a:noFill/>
        </p:spPr>
        <p:txBody>
          <a:bodyPr wrap="square" rtlCol="0">
            <a:spAutoFit/>
          </a:bodyPr>
          <a:lstStyle/>
          <a:p>
            <a:pPr algn="ctr"/>
            <a:r>
              <a:rPr lang="en-US">
                <a:solidFill>
                  <a:schemeClr val="bg1"/>
                </a:solidFill>
                <a:latin typeface="Amazon Ember" panose="02000000000000000000" pitchFamily="2" charset="0"/>
              </a:rPr>
              <a:t>Auto Scaling</a:t>
            </a:r>
          </a:p>
        </p:txBody>
      </p:sp>
      <p:pic>
        <p:nvPicPr>
          <p:cNvPr id="8" name="Graphic 12">
            <a:extLst>
              <a:ext uri="{FF2B5EF4-FFF2-40B4-BE49-F238E27FC236}">
                <a16:creationId xmlns:a16="http://schemas.microsoft.com/office/drawing/2014/main" id="{2103433A-BC87-AC4F-9F6B-E213FB3564B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08324" y="2988604"/>
            <a:ext cx="866779" cy="866779"/>
          </a:xfrm>
          <a:prstGeom prst="rect">
            <a:avLst/>
          </a:prstGeom>
        </p:spPr>
      </p:pic>
      <p:sp>
        <p:nvSpPr>
          <p:cNvPr id="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439712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Components discussed</a:t>
            </a:r>
          </a:p>
        </p:txBody>
      </p:sp>
      <p:cxnSp>
        <p:nvCxnSpPr>
          <p:cNvPr id="25" name="Straight Arrow Connector 24">
            <a:extLst>
              <a:ext uri="{FF2B5EF4-FFF2-40B4-BE49-F238E27FC236}">
                <a16:creationId xmlns:a16="http://schemas.microsoft.com/office/drawing/2014/main" id="{4EF07E8A-5268-414F-9139-466CF7697139}"/>
              </a:ext>
            </a:extLst>
          </p:cNvPr>
          <p:cNvCxnSpPr>
            <a:cxnSpLocks/>
          </p:cNvCxnSpPr>
          <p:nvPr/>
        </p:nvCxnSpPr>
        <p:spPr>
          <a:xfrm>
            <a:off x="2061350" y="3655268"/>
            <a:ext cx="1463040" cy="0"/>
          </a:xfrm>
          <a:prstGeom prst="straightConnector1">
            <a:avLst/>
          </a:prstGeom>
          <a:ln w="12700">
            <a:solidFill>
              <a:srgbClr val="545B64"/>
            </a:solidFill>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EF07E8A-5268-414F-9139-466CF7697139}"/>
              </a:ext>
            </a:extLst>
          </p:cNvPr>
          <p:cNvCxnSpPr>
            <a:cxnSpLocks/>
          </p:cNvCxnSpPr>
          <p:nvPr/>
        </p:nvCxnSpPr>
        <p:spPr>
          <a:xfrm>
            <a:off x="5141512" y="3655268"/>
            <a:ext cx="1463040" cy="0"/>
          </a:xfrm>
          <a:prstGeom prst="straightConnector1">
            <a:avLst/>
          </a:prstGeom>
          <a:ln w="12700">
            <a:solidFill>
              <a:srgbClr val="545B64"/>
            </a:solidFill>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3C0960A-3D31-6D47-8EAA-93DE09090CDD}"/>
              </a:ext>
            </a:extLst>
          </p:cNvPr>
          <p:cNvSpPr txBox="1"/>
          <p:nvPr/>
        </p:nvSpPr>
        <p:spPr>
          <a:xfrm>
            <a:off x="3350115" y="4350878"/>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Balancing (ELB)</a:t>
            </a:r>
          </a:p>
        </p:txBody>
      </p:sp>
      <p:pic>
        <p:nvPicPr>
          <p:cNvPr id="28" name="Graphic 7">
            <a:extLst>
              <a:ext uri="{FF2B5EF4-FFF2-40B4-BE49-F238E27FC236}">
                <a16:creationId xmlns:a16="http://schemas.microsoft.com/office/drawing/2014/main" id="{708E5D6B-3B0D-7E46-91EF-00B2766437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32666" y="2985587"/>
            <a:ext cx="1308846" cy="1308846"/>
          </a:xfrm>
          <a:prstGeom prst="rect">
            <a:avLst/>
          </a:prstGeom>
        </p:spPr>
      </p:pic>
      <p:sp>
        <p:nvSpPr>
          <p:cNvPr id="29" name="TextBox 28">
            <a:extLst>
              <a:ext uri="{FF2B5EF4-FFF2-40B4-BE49-F238E27FC236}">
                <a16:creationId xmlns:a16="http://schemas.microsoft.com/office/drawing/2014/main" id="{70F1D858-0A61-B249-BFE8-EC03E7D2639D}"/>
              </a:ext>
            </a:extLst>
          </p:cNvPr>
          <p:cNvSpPr txBox="1"/>
          <p:nvPr/>
        </p:nvSpPr>
        <p:spPr>
          <a:xfrm>
            <a:off x="189627" y="4348746"/>
            <a:ext cx="2301904" cy="338554"/>
          </a:xfrm>
          <a:prstGeom prst="rect">
            <a:avLst/>
          </a:prstGeom>
          <a:noFill/>
        </p:spPr>
        <p:txBody>
          <a:bodyPr wrap="square" rtlCol="0">
            <a:spAutoFit/>
          </a:bodyPr>
          <a:lstStyle/>
          <a:p>
            <a:pPr algn="ctr"/>
            <a:r>
              <a:rPr lang="en-US" sz="1600">
                <a:latin typeface="Amazon Ember" panose="02000000000000000000" pitchFamily="2" charset="0"/>
              </a:rPr>
              <a:t>Amazon Route 53</a:t>
            </a:r>
          </a:p>
        </p:txBody>
      </p:sp>
      <p:pic>
        <p:nvPicPr>
          <p:cNvPr id="30" name="Graphic 41">
            <a:extLst>
              <a:ext uri="{FF2B5EF4-FFF2-40B4-BE49-F238E27FC236}">
                <a16:creationId xmlns:a16="http://schemas.microsoft.com/office/drawing/2014/main" id="{5B1FEEC0-A82C-C940-A6B4-4A85ED521E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2484" y="2946630"/>
            <a:ext cx="1312949" cy="1312949"/>
          </a:xfrm>
          <a:prstGeom prst="rect">
            <a:avLst/>
          </a:prstGeom>
        </p:spPr>
      </p:pic>
      <p:sp>
        <p:nvSpPr>
          <p:cNvPr id="31" name="Rectangle 30">
            <a:extLst>
              <a:ext uri="{FF2B5EF4-FFF2-40B4-BE49-F238E27FC236}">
                <a16:creationId xmlns:a16="http://schemas.microsoft.com/office/drawing/2014/main" id="{A285CBAF-6050-B84E-B02C-2F2DABE2E15B}"/>
              </a:ext>
            </a:extLst>
          </p:cNvPr>
          <p:cNvSpPr/>
          <p:nvPr/>
        </p:nvSpPr>
        <p:spPr>
          <a:xfrm>
            <a:off x="6968744" y="2771971"/>
            <a:ext cx="4476495" cy="2326501"/>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400">
              <a:solidFill>
                <a:srgbClr val="D86613"/>
              </a:solidFill>
              <a:latin typeface="Amazon Ember" panose="02000000000000000000" pitchFamily="2" charset="0"/>
            </a:endParaRPr>
          </a:p>
          <a:p>
            <a:pPr algn="ctr"/>
            <a:endParaRPr lang="en-US" sz="14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32" name="Graphic 34">
            <a:extLst>
              <a:ext uri="{FF2B5EF4-FFF2-40B4-BE49-F238E27FC236}">
                <a16:creationId xmlns:a16="http://schemas.microsoft.com/office/drawing/2014/main" id="{BF9C51F4-A082-1A4E-80CA-9A5AC4F1C6C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68745" y="2792778"/>
            <a:ext cx="330200" cy="330200"/>
          </a:xfrm>
          <a:prstGeom prst="rect">
            <a:avLst/>
          </a:prstGeom>
        </p:spPr>
      </p:pic>
      <p:grpSp>
        <p:nvGrpSpPr>
          <p:cNvPr id="7" name="Group 6"/>
          <p:cNvGrpSpPr/>
          <p:nvPr/>
        </p:nvGrpSpPr>
        <p:grpSpPr>
          <a:xfrm>
            <a:off x="6718075" y="3888417"/>
            <a:ext cx="1485100" cy="713043"/>
            <a:chOff x="6702835" y="3885090"/>
            <a:chExt cx="1485100" cy="713043"/>
          </a:xfrm>
        </p:grpSpPr>
        <p:pic>
          <p:nvPicPr>
            <p:cNvPr id="33" name="Graphic 20">
              <a:extLst>
                <a:ext uri="{FF2B5EF4-FFF2-40B4-BE49-F238E27FC236}">
                  <a16:creationId xmlns:a16="http://schemas.microsoft.com/office/drawing/2014/main" id="{7A14C722-6428-F644-AAFC-49DE6CD659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47909" y="3885090"/>
              <a:ext cx="394953" cy="394953"/>
            </a:xfrm>
            <a:prstGeom prst="rect">
              <a:avLst/>
            </a:prstGeom>
          </p:spPr>
        </p:pic>
        <p:sp>
          <p:nvSpPr>
            <p:cNvPr id="34" name="TextBox 33">
              <a:extLst>
                <a:ext uri="{FF2B5EF4-FFF2-40B4-BE49-F238E27FC236}">
                  <a16:creationId xmlns:a16="http://schemas.microsoft.com/office/drawing/2014/main" id="{A2E66441-9232-CE4C-A615-A53B805B95E2}"/>
                </a:ext>
              </a:extLst>
            </p:cNvPr>
            <p:cNvSpPr txBox="1"/>
            <p:nvPr/>
          </p:nvSpPr>
          <p:spPr>
            <a:xfrm>
              <a:off x="6702835" y="4259579"/>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grpSp>
      <p:grpSp>
        <p:nvGrpSpPr>
          <p:cNvPr id="6" name="Group 5"/>
          <p:cNvGrpSpPr/>
          <p:nvPr/>
        </p:nvGrpSpPr>
        <p:grpSpPr>
          <a:xfrm>
            <a:off x="7593635" y="3888417"/>
            <a:ext cx="1485100" cy="713043"/>
            <a:chOff x="7313143" y="3889278"/>
            <a:chExt cx="1485100" cy="713043"/>
          </a:xfrm>
        </p:grpSpPr>
        <p:pic>
          <p:nvPicPr>
            <p:cNvPr id="35" name="Graphic 20">
              <a:extLst>
                <a:ext uri="{FF2B5EF4-FFF2-40B4-BE49-F238E27FC236}">
                  <a16:creationId xmlns:a16="http://schemas.microsoft.com/office/drawing/2014/main" id="{7A14C722-6428-F644-AAFC-49DE6CD659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58217" y="3889278"/>
              <a:ext cx="394953" cy="394953"/>
            </a:xfrm>
            <a:prstGeom prst="rect">
              <a:avLst/>
            </a:prstGeom>
          </p:spPr>
        </p:pic>
        <p:sp>
          <p:nvSpPr>
            <p:cNvPr id="36" name="TextBox 35">
              <a:extLst>
                <a:ext uri="{FF2B5EF4-FFF2-40B4-BE49-F238E27FC236}">
                  <a16:creationId xmlns:a16="http://schemas.microsoft.com/office/drawing/2014/main" id="{A2E66441-9232-CE4C-A615-A53B805B95E2}"/>
                </a:ext>
              </a:extLst>
            </p:cNvPr>
            <p:cNvSpPr txBox="1"/>
            <p:nvPr/>
          </p:nvSpPr>
          <p:spPr>
            <a:xfrm>
              <a:off x="7313143" y="4263767"/>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grpSp>
      <p:grpSp>
        <p:nvGrpSpPr>
          <p:cNvPr id="5" name="Group 4"/>
          <p:cNvGrpSpPr/>
          <p:nvPr/>
        </p:nvGrpSpPr>
        <p:grpSpPr>
          <a:xfrm>
            <a:off x="8469195" y="3888417"/>
            <a:ext cx="1485100" cy="713043"/>
            <a:chOff x="7997939" y="3885090"/>
            <a:chExt cx="1485100" cy="713043"/>
          </a:xfrm>
        </p:grpSpPr>
        <p:pic>
          <p:nvPicPr>
            <p:cNvPr id="37" name="Graphic 20">
              <a:extLst>
                <a:ext uri="{FF2B5EF4-FFF2-40B4-BE49-F238E27FC236}">
                  <a16:creationId xmlns:a16="http://schemas.microsoft.com/office/drawing/2014/main" id="{7A14C722-6428-F644-AAFC-49DE6CD659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3013" y="3885090"/>
              <a:ext cx="394953" cy="394953"/>
            </a:xfrm>
            <a:prstGeom prst="rect">
              <a:avLst/>
            </a:prstGeom>
          </p:spPr>
        </p:pic>
        <p:sp>
          <p:nvSpPr>
            <p:cNvPr id="38" name="TextBox 37">
              <a:extLst>
                <a:ext uri="{FF2B5EF4-FFF2-40B4-BE49-F238E27FC236}">
                  <a16:creationId xmlns:a16="http://schemas.microsoft.com/office/drawing/2014/main" id="{A2E66441-9232-CE4C-A615-A53B805B95E2}"/>
                </a:ext>
              </a:extLst>
            </p:cNvPr>
            <p:cNvSpPr txBox="1"/>
            <p:nvPr/>
          </p:nvSpPr>
          <p:spPr>
            <a:xfrm>
              <a:off x="7997939" y="4259579"/>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grpSp>
      <p:grpSp>
        <p:nvGrpSpPr>
          <p:cNvPr id="4" name="Group 3"/>
          <p:cNvGrpSpPr/>
          <p:nvPr/>
        </p:nvGrpSpPr>
        <p:grpSpPr>
          <a:xfrm>
            <a:off x="9344756" y="3888417"/>
            <a:ext cx="1485100" cy="713043"/>
            <a:chOff x="8608247" y="3889278"/>
            <a:chExt cx="1485100" cy="713043"/>
          </a:xfrm>
        </p:grpSpPr>
        <p:pic>
          <p:nvPicPr>
            <p:cNvPr id="39" name="Graphic 20">
              <a:extLst>
                <a:ext uri="{FF2B5EF4-FFF2-40B4-BE49-F238E27FC236}">
                  <a16:creationId xmlns:a16="http://schemas.microsoft.com/office/drawing/2014/main" id="{7A14C722-6428-F644-AAFC-49DE6CD659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53321" y="3889278"/>
              <a:ext cx="394953" cy="394953"/>
            </a:xfrm>
            <a:prstGeom prst="rect">
              <a:avLst/>
            </a:prstGeom>
          </p:spPr>
        </p:pic>
        <p:sp>
          <p:nvSpPr>
            <p:cNvPr id="40" name="TextBox 39">
              <a:extLst>
                <a:ext uri="{FF2B5EF4-FFF2-40B4-BE49-F238E27FC236}">
                  <a16:creationId xmlns:a16="http://schemas.microsoft.com/office/drawing/2014/main" id="{A2E66441-9232-CE4C-A615-A53B805B95E2}"/>
                </a:ext>
              </a:extLst>
            </p:cNvPr>
            <p:cNvSpPr txBox="1"/>
            <p:nvPr/>
          </p:nvSpPr>
          <p:spPr>
            <a:xfrm>
              <a:off x="8608247" y="4263767"/>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grpSp>
      <p:grpSp>
        <p:nvGrpSpPr>
          <p:cNvPr id="3" name="Group 2"/>
          <p:cNvGrpSpPr/>
          <p:nvPr/>
        </p:nvGrpSpPr>
        <p:grpSpPr>
          <a:xfrm>
            <a:off x="10220317" y="3888417"/>
            <a:ext cx="1485100" cy="713043"/>
            <a:chOff x="9275730" y="3880882"/>
            <a:chExt cx="1485100" cy="713043"/>
          </a:xfrm>
        </p:grpSpPr>
        <p:pic>
          <p:nvPicPr>
            <p:cNvPr id="41" name="Graphic 20">
              <a:extLst>
                <a:ext uri="{FF2B5EF4-FFF2-40B4-BE49-F238E27FC236}">
                  <a16:creationId xmlns:a16="http://schemas.microsoft.com/office/drawing/2014/main" id="{7A14C722-6428-F644-AAFC-49DE6CD659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820804" y="3880882"/>
              <a:ext cx="394953" cy="394953"/>
            </a:xfrm>
            <a:prstGeom prst="rect">
              <a:avLst/>
            </a:prstGeom>
          </p:spPr>
        </p:pic>
        <p:sp>
          <p:nvSpPr>
            <p:cNvPr id="42" name="TextBox 41">
              <a:extLst>
                <a:ext uri="{FF2B5EF4-FFF2-40B4-BE49-F238E27FC236}">
                  <a16:creationId xmlns:a16="http://schemas.microsoft.com/office/drawing/2014/main" id="{A2E66441-9232-CE4C-A615-A53B805B95E2}"/>
                </a:ext>
              </a:extLst>
            </p:cNvPr>
            <p:cNvSpPr txBox="1"/>
            <p:nvPr/>
          </p:nvSpPr>
          <p:spPr>
            <a:xfrm>
              <a:off x="9275730" y="4255371"/>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grpSp>
      <p:sp>
        <p:nvSpPr>
          <p:cNvPr id="43"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8" name="Slide Number Placeholder 7"/>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828478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Elastic Load Balancing (ELB)</a:t>
            </a:r>
          </a:p>
        </p:txBody>
      </p:sp>
      <p:sp>
        <p:nvSpPr>
          <p:cNvPr id="3" name="Text Placeholder 2"/>
          <p:cNvSpPr>
            <a:spLocks noGrp="1"/>
          </p:cNvSpPr>
          <p:nvPr>
            <p:ph type="body" sz="quarter" idx="10"/>
          </p:nvPr>
        </p:nvSpPr>
        <p:spPr/>
        <p:txBody>
          <a:bodyPr>
            <a:normAutofit fontScale="92500"/>
          </a:bodyPr>
          <a:lstStyle/>
          <a:p>
            <a:r>
              <a:rPr lang="en-US"/>
              <a:t>Module 4: Computing (Scaling and Name Resolution)</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195213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5D3CB61-F5B0-DD41-AA5C-655CB0E4E48E}"/>
              </a:ext>
            </a:extLst>
          </p:cNvPr>
          <p:cNvGrpSpPr/>
          <p:nvPr/>
        </p:nvGrpSpPr>
        <p:grpSpPr>
          <a:xfrm>
            <a:off x="5472166" y="3406817"/>
            <a:ext cx="5065418" cy="2260477"/>
            <a:chOff x="5408500" y="3457071"/>
            <a:chExt cx="5065418" cy="2260477"/>
          </a:xfrm>
        </p:grpSpPr>
        <p:sp>
          <p:nvSpPr>
            <p:cNvPr id="20" name="TextBox 19">
              <a:extLst>
                <a:ext uri="{FF2B5EF4-FFF2-40B4-BE49-F238E27FC236}">
                  <a16:creationId xmlns:a16="http://schemas.microsoft.com/office/drawing/2014/main" id="{D41626EB-4B9C-4D41-A0DD-A1858E72F964}"/>
                </a:ext>
              </a:extLst>
            </p:cNvPr>
            <p:cNvSpPr txBox="1"/>
            <p:nvPr/>
          </p:nvSpPr>
          <p:spPr>
            <a:xfrm>
              <a:off x="5408500" y="5063175"/>
              <a:ext cx="1333264" cy="646331"/>
            </a:xfrm>
            <a:prstGeom prst="rect">
              <a:avLst/>
            </a:prstGeom>
            <a:noFill/>
          </p:spPr>
          <p:txBody>
            <a:bodyPr wrap="square" rtlCol="0">
              <a:spAutoFit/>
            </a:bodyPr>
            <a:lstStyle/>
            <a:p>
              <a:pPr algn="ctr"/>
              <a:r>
                <a:rPr lang="en-US">
                  <a:latin typeface="Amazon Ember" panose="02000000000000000000" pitchFamily="2" charset="0"/>
                  <a:ea typeface="Amazon Ember" panose="02000000000000000000" pitchFamily="2" charset="0"/>
                  <a:cs typeface="Amazon Ember Light" panose="020B0403020204020204" pitchFamily="34" charset="0"/>
                </a:rPr>
                <a:t>User traffic</a:t>
              </a:r>
            </a:p>
          </p:txBody>
        </p:sp>
        <p:sp>
          <p:nvSpPr>
            <p:cNvPr id="22" name="TextBox 21">
              <a:extLst>
                <a:ext uri="{FF2B5EF4-FFF2-40B4-BE49-F238E27FC236}">
                  <a16:creationId xmlns:a16="http://schemas.microsoft.com/office/drawing/2014/main" id="{68CE53C1-4319-3F41-8444-308A0AEACBE4}"/>
                </a:ext>
              </a:extLst>
            </p:cNvPr>
            <p:cNvSpPr txBox="1"/>
            <p:nvPr/>
          </p:nvSpPr>
          <p:spPr>
            <a:xfrm>
              <a:off x="9117260" y="3457071"/>
              <a:ext cx="1333264" cy="369012"/>
            </a:xfrm>
            <a:prstGeom prst="rect">
              <a:avLst/>
            </a:prstGeom>
            <a:noFill/>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App </a:t>
              </a:r>
            </a:p>
          </p:txBody>
        </p:sp>
        <p:sp>
          <p:nvSpPr>
            <p:cNvPr id="23" name="TextBox 22">
              <a:extLst>
                <a:ext uri="{FF2B5EF4-FFF2-40B4-BE49-F238E27FC236}">
                  <a16:creationId xmlns:a16="http://schemas.microsoft.com/office/drawing/2014/main" id="{F4A2BBEA-08FB-7C45-AB72-8461206A61FB}"/>
                </a:ext>
              </a:extLst>
            </p:cNvPr>
            <p:cNvSpPr txBox="1"/>
            <p:nvPr/>
          </p:nvSpPr>
          <p:spPr>
            <a:xfrm>
              <a:off x="9117260" y="4390071"/>
              <a:ext cx="1333264" cy="369012"/>
            </a:xfrm>
            <a:prstGeom prst="rect">
              <a:avLst/>
            </a:prstGeom>
            <a:noFill/>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App </a:t>
              </a:r>
            </a:p>
          </p:txBody>
        </p:sp>
        <p:sp>
          <p:nvSpPr>
            <p:cNvPr id="24" name="TextBox 23">
              <a:extLst>
                <a:ext uri="{FF2B5EF4-FFF2-40B4-BE49-F238E27FC236}">
                  <a16:creationId xmlns:a16="http://schemas.microsoft.com/office/drawing/2014/main" id="{2C545700-DF81-6C48-BD9A-AFF8960D4DC1}"/>
                </a:ext>
              </a:extLst>
            </p:cNvPr>
            <p:cNvSpPr txBox="1"/>
            <p:nvPr/>
          </p:nvSpPr>
          <p:spPr>
            <a:xfrm>
              <a:off x="9140654" y="5348536"/>
              <a:ext cx="1333264" cy="369012"/>
            </a:xfrm>
            <a:prstGeom prst="rect">
              <a:avLst/>
            </a:prstGeom>
            <a:noFill/>
          </p:spPr>
          <p:txBody>
            <a:bodyPr wrap="square" rtlCol="0">
              <a:spAutoFit/>
            </a:bodyPr>
            <a:lstStyle/>
            <a:p>
              <a:pPr algn="ctr"/>
              <a:r>
                <a:rPr lang="en-US">
                  <a:latin typeface="Amazon Ember" panose="020B0603020204020204" pitchFamily="34" charset="0"/>
                  <a:ea typeface="Amazon Ember" panose="020B0603020204020204" pitchFamily="34" charset="0"/>
                  <a:cs typeface="Amazon Ember" panose="020B0603020204020204" pitchFamily="34" charset="0"/>
                </a:rPr>
                <a:t>App </a:t>
              </a:r>
            </a:p>
          </p:txBody>
        </p:sp>
        <p:cxnSp>
          <p:nvCxnSpPr>
            <p:cNvPr id="30" name="Straight Arrow Connector 29">
              <a:extLst>
                <a:ext uri="{FF2B5EF4-FFF2-40B4-BE49-F238E27FC236}">
                  <a16:creationId xmlns:a16="http://schemas.microsoft.com/office/drawing/2014/main" id="{6091F127-556A-5246-8B4C-CF090DBCEFF6}"/>
                </a:ext>
              </a:extLst>
            </p:cNvPr>
            <p:cNvCxnSpPr/>
            <p:nvPr/>
          </p:nvCxnSpPr>
          <p:spPr>
            <a:xfrm>
              <a:off x="6619128" y="4623247"/>
              <a:ext cx="814381"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B0FFB9B-D7AE-E547-A9CD-6E813DDAC2F9}"/>
              </a:ext>
            </a:extLst>
          </p:cNvPr>
          <p:cNvSpPr>
            <a:spLocks noGrp="1"/>
          </p:cNvSpPr>
          <p:nvPr>
            <p:ph type="title"/>
          </p:nvPr>
        </p:nvSpPr>
        <p:spPr/>
        <p:txBody>
          <a:bodyPr/>
          <a:lstStyle/>
          <a:p>
            <a:r>
              <a:rPr lang="en-US" b="1"/>
              <a:t>Elastic Load Balancing (ELB)</a:t>
            </a:r>
          </a:p>
        </p:txBody>
      </p:sp>
      <p:sp>
        <p:nvSpPr>
          <p:cNvPr id="5" name="Footer Placeholder 4">
            <a:extLst>
              <a:ext uri="{FF2B5EF4-FFF2-40B4-BE49-F238E27FC236}">
                <a16:creationId xmlns:a16="http://schemas.microsoft.com/office/drawing/2014/main" id="{294379FF-5CB4-7347-8A75-A3C514EB4161}"/>
              </a:ext>
            </a:extLst>
          </p:cNvPr>
          <p:cNvSpPr>
            <a:spLocks noGrp="1"/>
          </p:cNvSpPr>
          <p:nvPr>
            <p:ph type="ftr" sz="quarter" idx="3"/>
          </p:nvPr>
        </p:nvSpPr>
        <p:spPr>
          <a:xfrm>
            <a:off x="419100" y="6356351"/>
            <a:ext cx="4400035" cy="3027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rPr>
              <a:t>© 2019 Amazon Web Services, Inc. or its Affiliates. All rights reserved.</a:t>
            </a:r>
          </a:p>
        </p:txBody>
      </p:sp>
      <p:sp>
        <p:nvSpPr>
          <p:cNvPr id="7" name="Rectangle 6">
            <a:extLst>
              <a:ext uri="{FF2B5EF4-FFF2-40B4-BE49-F238E27FC236}">
                <a16:creationId xmlns:a16="http://schemas.microsoft.com/office/drawing/2014/main" id="{778CD1E0-D4F1-4F48-9EEE-8466DB431AF3}"/>
              </a:ext>
            </a:extLst>
          </p:cNvPr>
          <p:cNvSpPr/>
          <p:nvPr/>
        </p:nvSpPr>
        <p:spPr>
          <a:xfrm>
            <a:off x="675663"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9" name="TextBox 8">
            <a:extLst>
              <a:ext uri="{FF2B5EF4-FFF2-40B4-BE49-F238E27FC236}">
                <a16:creationId xmlns:a16="http://schemas.microsoft.com/office/drawing/2014/main" id="{67218A61-717D-4040-9214-2C4D3D11D67F}"/>
              </a:ext>
            </a:extLst>
          </p:cNvPr>
          <p:cNvSpPr txBox="1"/>
          <p:nvPr/>
        </p:nvSpPr>
        <p:spPr>
          <a:xfrm>
            <a:off x="3905927" y="1693942"/>
            <a:ext cx="7968157" cy="1200329"/>
          </a:xfrm>
          <a:prstGeom prst="rect">
            <a:avLst/>
          </a:prstGeom>
          <a:noFill/>
        </p:spPr>
        <p:txBody>
          <a:bodyPr wrap="square" rtlCol="0">
            <a:spAutoFit/>
          </a:bodyPr>
          <a:lstStyle/>
          <a:p>
            <a:pPr algn="ctr"/>
            <a:r>
              <a:rPr lang="en-US" sz="240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A </a:t>
            </a:r>
            <a:r>
              <a:rPr lang="en-US" sz="2400"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managed load balancing service </a:t>
            </a:r>
            <a:r>
              <a:rPr lang="en-US" sz="2400">
                <a:solidFill>
                  <a:schemeClr val="bg2">
                    <a:lumMod val="25000"/>
                  </a:schemeClr>
                </a:solidFill>
                <a:latin typeface="Amazon Ember" panose="020B0603020204020204" pitchFamily="34" charset="0"/>
                <a:ea typeface="Amazon Ember" panose="020B0603020204020204" pitchFamily="34" charset="0"/>
                <a:cs typeface="Amazon Ember" panose="020B0603020204020204" pitchFamily="34" charset="0"/>
              </a:rPr>
              <a:t>that distributes incoming application traffic across multiple Amazon EC2 instances, containers, and IP addresses.</a:t>
            </a:r>
          </a:p>
        </p:txBody>
      </p:sp>
      <p:sp>
        <p:nvSpPr>
          <p:cNvPr id="25" name="TextBox 24">
            <a:extLst>
              <a:ext uri="{FF2B5EF4-FFF2-40B4-BE49-F238E27FC236}">
                <a16:creationId xmlns:a16="http://schemas.microsoft.com/office/drawing/2014/main" id="{E3C0960A-3D31-6D47-8EAA-93DE09090CDD}"/>
              </a:ext>
            </a:extLst>
          </p:cNvPr>
          <p:cNvSpPr txBox="1"/>
          <p:nvPr/>
        </p:nvSpPr>
        <p:spPr>
          <a:xfrm>
            <a:off x="967585" y="4844716"/>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Balancing (ELB)</a:t>
            </a:r>
          </a:p>
        </p:txBody>
      </p:sp>
      <p:pic>
        <p:nvPicPr>
          <p:cNvPr id="26" name="Graphic 7">
            <a:extLst>
              <a:ext uri="{FF2B5EF4-FFF2-40B4-BE49-F238E27FC236}">
                <a16:creationId xmlns:a16="http://schemas.microsoft.com/office/drawing/2014/main" id="{708E5D6B-3B0D-7E46-91EF-00B2766437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38494" y="3058091"/>
            <a:ext cx="1685047" cy="1685047"/>
          </a:xfrm>
          <a:prstGeom prst="rect">
            <a:avLst/>
          </a:prstGeom>
        </p:spPr>
      </p:pic>
      <p:pic>
        <p:nvPicPr>
          <p:cNvPr id="27"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35545" y="3203485"/>
            <a:ext cx="824025" cy="824025"/>
          </a:xfrm>
          <a:prstGeom prst="rect">
            <a:avLst/>
          </a:prstGeom>
        </p:spPr>
      </p:pic>
      <p:pic>
        <p:nvPicPr>
          <p:cNvPr id="28"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1823" y="4160981"/>
            <a:ext cx="824025" cy="824025"/>
          </a:xfrm>
          <a:prstGeom prst="rect">
            <a:avLst/>
          </a:prstGeom>
        </p:spPr>
      </p:pic>
      <p:pic>
        <p:nvPicPr>
          <p:cNvPr id="29"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53372" y="5137104"/>
            <a:ext cx="824025" cy="824025"/>
          </a:xfrm>
          <a:prstGeom prst="rect">
            <a:avLst/>
          </a:prstGeom>
        </p:spPr>
      </p:pic>
      <p:pic>
        <p:nvPicPr>
          <p:cNvPr id="34" name="Graphic 7">
            <a:extLst>
              <a:ext uri="{FF2B5EF4-FFF2-40B4-BE49-F238E27FC236}">
                <a16:creationId xmlns:a16="http://schemas.microsoft.com/office/drawing/2014/main" id="{708E5D6B-3B0D-7E46-91EF-00B2766437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7850" y="4217393"/>
            <a:ext cx="711200" cy="711200"/>
          </a:xfrm>
          <a:prstGeom prst="rect">
            <a:avLst/>
          </a:prstGeom>
        </p:spPr>
      </p:pic>
      <p:pic>
        <p:nvPicPr>
          <p:cNvPr id="35" name="Graphic 5">
            <a:extLst>
              <a:ext uri="{FF2B5EF4-FFF2-40B4-BE49-F238E27FC236}">
                <a16:creationId xmlns:a16="http://schemas.microsoft.com/office/drawing/2014/main" id="{A8498156-136D-CD4E-93D2-73E18D06A2F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5691905" y="4217393"/>
            <a:ext cx="844713" cy="820807"/>
          </a:xfrm>
          <a:prstGeom prst="rect">
            <a:avLst/>
          </a:prstGeom>
        </p:spPr>
      </p:pic>
      <p:sp>
        <p:nvSpPr>
          <p:cNvPr id="36" name="Freeform 35">
            <a:extLst>
              <a:ext uri="{FF2B5EF4-FFF2-40B4-BE49-F238E27FC236}">
                <a16:creationId xmlns:a16="http://schemas.microsoft.com/office/drawing/2014/main" id="{207BE475-DD83-6A4B-911E-CB580AFA708A}"/>
              </a:ext>
            </a:extLst>
          </p:cNvPr>
          <p:cNvSpPr/>
          <p:nvPr/>
        </p:nvSpPr>
        <p:spPr>
          <a:xfrm rot="10800000">
            <a:off x="8746849" y="3670003"/>
            <a:ext cx="510947" cy="1879605"/>
          </a:xfrm>
          <a:custGeom>
            <a:avLst/>
            <a:gdLst>
              <a:gd name="connsiteX0" fmla="*/ 38637 w 914400"/>
              <a:gd name="connsiteY0" fmla="*/ 0 h 399245"/>
              <a:gd name="connsiteX1" fmla="*/ 914400 w 914400"/>
              <a:gd name="connsiteY1" fmla="*/ 0 h 399245"/>
              <a:gd name="connsiteX2" fmla="*/ 914400 w 914400"/>
              <a:gd name="connsiteY2" fmla="*/ 399245 h 399245"/>
              <a:gd name="connsiteX3" fmla="*/ 0 w 914400"/>
              <a:gd name="connsiteY3" fmla="*/ 399245 h 399245"/>
              <a:gd name="connsiteX0" fmla="*/ 9837 w 914400"/>
              <a:gd name="connsiteY0" fmla="*/ 3600 h 399245"/>
              <a:gd name="connsiteX1" fmla="*/ 914400 w 914400"/>
              <a:gd name="connsiteY1" fmla="*/ 0 h 399245"/>
              <a:gd name="connsiteX2" fmla="*/ 914400 w 914400"/>
              <a:gd name="connsiteY2" fmla="*/ 399245 h 399245"/>
              <a:gd name="connsiteX3" fmla="*/ 0 w 914400"/>
              <a:gd name="connsiteY3" fmla="*/ 399245 h 399245"/>
              <a:gd name="connsiteX0" fmla="*/ 0 w 922563"/>
              <a:gd name="connsiteY0" fmla="*/ 7200 h 399245"/>
              <a:gd name="connsiteX1" fmla="*/ 922563 w 922563"/>
              <a:gd name="connsiteY1" fmla="*/ 0 h 399245"/>
              <a:gd name="connsiteX2" fmla="*/ 922563 w 922563"/>
              <a:gd name="connsiteY2" fmla="*/ 399245 h 399245"/>
              <a:gd name="connsiteX3" fmla="*/ 8163 w 922563"/>
              <a:gd name="connsiteY3" fmla="*/ 399245 h 399245"/>
              <a:gd name="connsiteX0" fmla="*/ 0 w 915363"/>
              <a:gd name="connsiteY0" fmla="*/ 3600 h 399245"/>
              <a:gd name="connsiteX1" fmla="*/ 915363 w 915363"/>
              <a:gd name="connsiteY1" fmla="*/ 0 h 399245"/>
              <a:gd name="connsiteX2" fmla="*/ 915363 w 915363"/>
              <a:gd name="connsiteY2" fmla="*/ 399245 h 399245"/>
              <a:gd name="connsiteX3" fmla="*/ 963 w 915363"/>
              <a:gd name="connsiteY3" fmla="*/ 399245 h 399245"/>
              <a:gd name="connsiteX0" fmla="*/ 0 w 915363"/>
              <a:gd name="connsiteY0" fmla="*/ 0 h 399415"/>
              <a:gd name="connsiteX1" fmla="*/ 915363 w 915363"/>
              <a:gd name="connsiteY1" fmla="*/ 170 h 399415"/>
              <a:gd name="connsiteX2" fmla="*/ 915363 w 915363"/>
              <a:gd name="connsiteY2" fmla="*/ 399415 h 399415"/>
              <a:gd name="connsiteX3" fmla="*/ 963 w 915363"/>
              <a:gd name="connsiteY3" fmla="*/ 399415 h 399415"/>
            </a:gdLst>
            <a:ahLst/>
            <a:cxnLst>
              <a:cxn ang="0">
                <a:pos x="connsiteX0" y="connsiteY0"/>
              </a:cxn>
              <a:cxn ang="0">
                <a:pos x="connsiteX1" y="connsiteY1"/>
              </a:cxn>
              <a:cxn ang="0">
                <a:pos x="connsiteX2" y="connsiteY2"/>
              </a:cxn>
              <a:cxn ang="0">
                <a:pos x="connsiteX3" y="connsiteY3"/>
              </a:cxn>
            </a:cxnLst>
            <a:rect l="l" t="t" r="r" b="b"/>
            <a:pathLst>
              <a:path w="915363" h="399415">
                <a:moveTo>
                  <a:pt x="0" y="0"/>
                </a:moveTo>
                <a:lnTo>
                  <a:pt x="915363" y="170"/>
                </a:lnTo>
                <a:lnTo>
                  <a:pt x="915363" y="399415"/>
                </a:lnTo>
                <a:lnTo>
                  <a:pt x="963" y="399415"/>
                </a:lnTo>
              </a:path>
            </a:pathLst>
          </a:custGeom>
          <a:noFill/>
          <a:ln w="12700" cap="flat" cmpd="sng" algn="ctr">
            <a:solidFill>
              <a:srgbClr val="535B63"/>
            </a:solidFill>
            <a:prstDash val="solid"/>
            <a:miter lim="800000"/>
            <a:headEnd type="arrow" w="med" len="sm"/>
            <a:tailEnd type="arrow" w="med" len="sm"/>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AFA"/>
              </a:solidFill>
              <a:effectLst/>
              <a:uLnTx/>
              <a:uFillTx/>
              <a:latin typeface="Arial" panose="020B0604020202020204"/>
              <a:ea typeface="+mn-ea"/>
              <a:cs typeface="+mn-cs"/>
            </a:endParaRPr>
          </a:p>
        </p:txBody>
      </p:sp>
      <p:cxnSp>
        <p:nvCxnSpPr>
          <p:cNvPr id="37" name="Straight Arrow Connector 36">
            <a:extLst>
              <a:ext uri="{FF2B5EF4-FFF2-40B4-BE49-F238E27FC236}">
                <a16:creationId xmlns:a16="http://schemas.microsoft.com/office/drawing/2014/main" id="{E184A94C-5B5D-C94B-B3C4-AAD6086C852D}"/>
              </a:ext>
            </a:extLst>
          </p:cNvPr>
          <p:cNvCxnSpPr>
            <a:cxnSpLocks/>
          </p:cNvCxnSpPr>
          <p:nvPr/>
        </p:nvCxnSpPr>
        <p:spPr>
          <a:xfrm flipH="1">
            <a:off x="8384721" y="4630980"/>
            <a:ext cx="819599" cy="0"/>
          </a:xfrm>
          <a:prstGeom prst="straightConnector1">
            <a:avLst/>
          </a:prstGeom>
          <a:noFill/>
          <a:ln w="12700" cap="flat" cmpd="sng" algn="ctr">
            <a:solidFill>
              <a:srgbClr val="535B63"/>
            </a:solidFill>
            <a:prstDash val="solid"/>
            <a:miter lim="800000"/>
            <a:headEnd type="arrow" w="med" len="sm"/>
            <a:tailEnd type="none" w="med" len="sm"/>
          </a:ln>
          <a:effectLst/>
        </p:spPr>
      </p:cxn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76881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a:t>Type of load balancer: ALB</a:t>
            </a:r>
          </a:p>
        </p:txBody>
      </p:sp>
      <p:graphicFrame>
        <p:nvGraphicFramePr>
          <p:cNvPr id="9" name="Table 8"/>
          <p:cNvGraphicFramePr>
            <a:graphicFrameLocks noGrp="1"/>
          </p:cNvGraphicFramePr>
          <p:nvPr>
            <p:extLst>
              <p:ext uri="{D42A27DB-BD31-4B8C-83A1-F6EECF244321}">
                <p14:modId xmlns:p14="http://schemas.microsoft.com/office/powerpoint/2010/main" val="1307540242"/>
              </p:ext>
            </p:extLst>
          </p:nvPr>
        </p:nvGraphicFramePr>
        <p:xfrm>
          <a:off x="279052" y="1313318"/>
          <a:ext cx="11573641" cy="4885909"/>
        </p:xfrm>
        <a:graphic>
          <a:graphicData uri="http://schemas.openxmlformats.org/drawingml/2006/table">
            <a:tbl>
              <a:tblPr firstRow="1" bandRow="1">
                <a:tableStyleId>{F5AB1C69-6EDB-4FF4-983F-18BD219EF322}</a:tableStyleId>
              </a:tblPr>
              <a:tblGrid>
                <a:gridCol w="11573641">
                  <a:extLst>
                    <a:ext uri="{9D8B030D-6E8A-4147-A177-3AD203B41FA5}">
                      <a16:colId xmlns:a16="http://schemas.microsoft.com/office/drawing/2014/main" val="20000"/>
                    </a:ext>
                  </a:extLst>
                </a:gridCol>
              </a:tblGrid>
              <a:tr h="106397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i="0">
                          <a:latin typeface="Amazon Ember" charset="0"/>
                          <a:ea typeface="Amazon Ember" charset="0"/>
                          <a:cs typeface="Amazon Ember" charset="0"/>
                        </a:rPr>
                        <a:t>Application Load Balancer</a:t>
                      </a:r>
                    </a:p>
                    <a:p>
                      <a:pPr algn="ctr"/>
                      <a:r>
                        <a:rPr lang="en-US" sz="2800" b="1" i="0">
                          <a:latin typeface="Amazon Ember" charset="0"/>
                          <a:ea typeface="Amazon Ember" charset="0"/>
                          <a:cs typeface="Amazon Ember" charset="0"/>
                        </a:rPr>
                        <a:t>(ALB)</a:t>
                      </a:r>
                    </a:p>
                  </a:txBody>
                  <a:tcPr marL="121920" marR="121920" marT="60960" marB="60960" anchor="ctr">
                    <a:solidFill>
                      <a:schemeClr val="accent5">
                        <a:lumMod val="50000"/>
                      </a:schemeClr>
                    </a:solidFill>
                  </a:tcPr>
                </a:tc>
                <a:extLst>
                  <a:ext uri="{0D108BD9-81ED-4DB2-BD59-A6C34878D82A}">
                    <a16:rowId xmlns:a16="http://schemas.microsoft.com/office/drawing/2014/main" val="10000"/>
                  </a:ext>
                </a:extLst>
              </a:tr>
              <a:tr h="1764532">
                <a:tc>
                  <a:txBody>
                    <a:bodyPr/>
                    <a:lstStyle/>
                    <a:p>
                      <a:endParaRPr lang="en-US" sz="2800">
                        <a:latin typeface="Amazon Ember" panose="02000000000000000000" pitchFamily="2" charset="0"/>
                      </a:endParaRPr>
                    </a:p>
                  </a:txBody>
                  <a:tcPr marL="121920" marR="121920" marT="60960" marB="60960">
                    <a:solidFill>
                      <a:schemeClr val="accent5">
                        <a:lumMod val="60000"/>
                        <a:lumOff val="40000"/>
                      </a:schemeClr>
                    </a:solidFill>
                  </a:tcPr>
                </a:tc>
                <a:extLst>
                  <a:ext uri="{0D108BD9-81ED-4DB2-BD59-A6C34878D82A}">
                    <a16:rowId xmlns:a16="http://schemas.microsoft.com/office/drawing/2014/main" val="10001"/>
                  </a:ext>
                </a:extLst>
              </a:tr>
              <a:tr h="1827652">
                <a:tc>
                  <a:txBody>
                    <a:bodyPr/>
                    <a:lstStyle/>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a:latin typeface="Amazon Ember" panose="02000000000000000000" pitchFamily="2" charset="0"/>
                          <a:ea typeface="Amazon Ember" panose="02000000000000000000" pitchFamily="2" charset="0"/>
                          <a:cs typeface="Amazon Ember Light" charset="0"/>
                        </a:rPr>
                        <a:t>Flexible application management and </a:t>
                      </a:r>
                      <a:r>
                        <a:rPr lang="en-US" sz="2800">
                          <a:latin typeface="Amazon Ember" panose="02000000000000000000" pitchFamily="2" charset="0"/>
                          <a:ea typeface="Amazon Ember" panose="02000000000000000000" pitchFamily="2" charset="0"/>
                        </a:rPr>
                        <a:t>supports static IP address</a:t>
                      </a:r>
                      <a:endParaRPr lang="en-US" sz="2800" b="0" i="0">
                        <a:latin typeface="Amazon Ember" panose="02000000000000000000" pitchFamily="2" charset="0"/>
                        <a:ea typeface="Amazon Ember" panose="02000000000000000000" pitchFamily="2" charset="0"/>
                        <a:cs typeface="Amazon Ember Light" charset="0"/>
                      </a:endParaRP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Advanced load balancing of HTTP and HTTPS traffic</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Supports industry-standard protocols (WebSocket and HTTP/2)</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Operates at the application level </a:t>
                      </a:r>
                      <a:r>
                        <a:rPr lang="en-US" sz="2800" b="1" i="0" kern="1200">
                          <a:solidFill>
                            <a:schemeClr val="dk1"/>
                          </a:solidFill>
                          <a:latin typeface="Amazon Ember" panose="02000000000000000000" pitchFamily="2" charset="0"/>
                          <a:ea typeface="Amazon Ember" panose="02000000000000000000" pitchFamily="2" charset="0"/>
                          <a:cs typeface="Amazon Ember Light" charset="0"/>
                        </a:rPr>
                        <a:t>(Layer 7)</a:t>
                      </a:r>
                      <a:endParaRPr lang="en-US" sz="2800" b="1" i="0">
                        <a:latin typeface="Amazon Ember" panose="02000000000000000000" pitchFamily="2" charset="0"/>
                        <a:ea typeface="Amazon Ember" panose="02000000000000000000" pitchFamily="2" charset="0"/>
                        <a:cs typeface="Amazon Ember Light" charset="0"/>
                      </a:endParaRPr>
                    </a:p>
                  </a:txBody>
                  <a:tcPr marL="121920" marR="121920" marT="60960" marB="60960">
                    <a:solidFill>
                      <a:schemeClr val="accent5">
                        <a:lumMod val="20000"/>
                        <a:lumOff val="80000"/>
                      </a:schemeClr>
                    </a:solidFill>
                  </a:tcPr>
                </a:tc>
                <a:extLst>
                  <a:ext uri="{0D108BD9-81ED-4DB2-BD59-A6C34878D82A}">
                    <a16:rowId xmlns:a16="http://schemas.microsoft.com/office/drawing/2014/main" val="10002"/>
                  </a:ext>
                </a:extLst>
              </a:tr>
            </a:tbl>
          </a:graphicData>
        </a:graphic>
      </p:graphicFrame>
      <p:sp>
        <p:nvSpPr>
          <p:cNvPr id="12" name="Oval 11"/>
          <p:cNvSpPr/>
          <p:nvPr/>
        </p:nvSpPr>
        <p:spPr>
          <a:xfrm>
            <a:off x="5352754" y="2535617"/>
            <a:ext cx="1426235" cy="1426235"/>
          </a:xfrm>
          <a:prstGeom prst="ellipse">
            <a:avLst/>
          </a:prstGeom>
          <a:solidFill>
            <a:schemeClr val="bg1"/>
          </a:solidFill>
          <a:ln w="2857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accent5"/>
                </a:solidFill>
                <a:latin typeface="Amazon Ember" panose="02000000000000000000" pitchFamily="2" charset="0"/>
                <a:ea typeface="Amazon Ember" panose="02000000000000000000" pitchFamily="2" charset="0"/>
                <a:cs typeface="Amazon Ember Light" charset="0"/>
              </a:rPr>
              <a:t>HTTP </a:t>
            </a:r>
          </a:p>
          <a:p>
            <a:pPr algn="ctr"/>
            <a:endParaRPr lang="en-US" sz="600" b="1">
              <a:solidFill>
                <a:schemeClr val="accent5"/>
              </a:solidFill>
              <a:latin typeface="Amazon Ember" panose="02000000000000000000" pitchFamily="2" charset="0"/>
              <a:ea typeface="Amazon Ember" panose="02000000000000000000" pitchFamily="2" charset="0"/>
              <a:cs typeface="Amazon Ember Light" charset="0"/>
            </a:endParaRPr>
          </a:p>
          <a:p>
            <a:pPr algn="ctr"/>
            <a:r>
              <a:rPr lang="en-US" b="1">
                <a:solidFill>
                  <a:schemeClr val="accent5"/>
                </a:solidFill>
                <a:latin typeface="Amazon Ember" panose="02000000000000000000" pitchFamily="2" charset="0"/>
                <a:ea typeface="Amazon Ember" panose="02000000000000000000" pitchFamily="2" charset="0"/>
                <a:cs typeface="Amazon Ember Light" charset="0"/>
              </a:rPr>
              <a:t>HTTPS</a:t>
            </a:r>
          </a:p>
        </p:txBody>
      </p:sp>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721799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a:t>Type of load balancer: NLB</a:t>
            </a:r>
          </a:p>
        </p:txBody>
      </p:sp>
      <p:graphicFrame>
        <p:nvGraphicFramePr>
          <p:cNvPr id="10" name="Table 9"/>
          <p:cNvGraphicFramePr>
            <a:graphicFrameLocks noGrp="1"/>
          </p:cNvGraphicFramePr>
          <p:nvPr>
            <p:extLst>
              <p:ext uri="{D42A27DB-BD31-4B8C-83A1-F6EECF244321}">
                <p14:modId xmlns:p14="http://schemas.microsoft.com/office/powerpoint/2010/main" val="4074539641"/>
              </p:ext>
            </p:extLst>
          </p:nvPr>
        </p:nvGraphicFramePr>
        <p:xfrm>
          <a:off x="303748" y="1323103"/>
          <a:ext cx="11564599" cy="4852417"/>
        </p:xfrm>
        <a:graphic>
          <a:graphicData uri="http://schemas.openxmlformats.org/drawingml/2006/table">
            <a:tbl>
              <a:tblPr firstRow="1" bandRow="1">
                <a:tableStyleId>{F5AB1C69-6EDB-4FF4-983F-18BD219EF322}</a:tableStyleId>
              </a:tblPr>
              <a:tblGrid>
                <a:gridCol w="11564599">
                  <a:extLst>
                    <a:ext uri="{9D8B030D-6E8A-4147-A177-3AD203B41FA5}">
                      <a16:colId xmlns:a16="http://schemas.microsoft.com/office/drawing/2014/main" val="20000"/>
                    </a:ext>
                  </a:extLst>
                </a:gridCol>
              </a:tblGrid>
              <a:tr h="102861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i="0">
                          <a:latin typeface="Amazon Ember" charset="0"/>
                          <a:ea typeface="Amazon Ember" charset="0"/>
                          <a:cs typeface="Amazon Ember" charset="0"/>
                        </a:rPr>
                        <a:t>Network Load Balancer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i="0">
                          <a:latin typeface="Amazon Ember" charset="0"/>
                          <a:ea typeface="Amazon Ember" charset="0"/>
                          <a:cs typeface="Amazon Ember" charset="0"/>
                        </a:rPr>
                        <a:t>(NLB)</a:t>
                      </a:r>
                    </a:p>
                  </a:txBody>
                  <a:tcPr marL="121920" marR="121920" marT="60960" marB="60960" anchor="ctr">
                    <a:solidFill>
                      <a:schemeClr val="accent6">
                        <a:lumMod val="50000"/>
                      </a:schemeClr>
                    </a:solidFill>
                  </a:tcPr>
                </a:tc>
                <a:extLst>
                  <a:ext uri="{0D108BD9-81ED-4DB2-BD59-A6C34878D82A}">
                    <a16:rowId xmlns:a16="http://schemas.microsoft.com/office/drawing/2014/main" val="10000"/>
                  </a:ext>
                </a:extLst>
              </a:tr>
              <a:tr h="1766403">
                <a:tc>
                  <a:txBody>
                    <a:bodyPr/>
                    <a:lstStyle/>
                    <a:p>
                      <a:endParaRPr lang="en-US" sz="2800">
                        <a:latin typeface="Amazon Ember" panose="02000000000000000000" pitchFamily="2" charset="0"/>
                      </a:endParaRPr>
                    </a:p>
                  </a:txBody>
                  <a:tcPr marL="121920" marR="121920" marT="60960" marB="60960">
                    <a:solidFill>
                      <a:schemeClr val="accent6">
                        <a:lumMod val="60000"/>
                        <a:lumOff val="40000"/>
                      </a:schemeClr>
                    </a:solidFill>
                  </a:tcPr>
                </a:tc>
                <a:extLst>
                  <a:ext uri="{0D108BD9-81ED-4DB2-BD59-A6C34878D82A}">
                    <a16:rowId xmlns:a16="http://schemas.microsoft.com/office/drawing/2014/main" val="10001"/>
                  </a:ext>
                </a:extLst>
              </a:tr>
              <a:tr h="1906770">
                <a:tc>
                  <a:txBody>
                    <a:bodyPr/>
                    <a:lstStyle/>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latin typeface="Amazon Ember" panose="02000000000000000000" pitchFamily="2" charset="0"/>
                          <a:ea typeface="Amazon Ember" panose="02000000000000000000" pitchFamily="2" charset="0"/>
                          <a:cs typeface="Amazon Ember Light" charset="0"/>
                        </a:rPr>
                        <a:t>Extreme performance for your application</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a:latin typeface="Amazon Ember" panose="02000000000000000000" pitchFamily="2" charset="0"/>
                          <a:ea typeface="Amazon Ember" panose="02000000000000000000" pitchFamily="2" charset="0"/>
                        </a:rPr>
                        <a:t>Supports static IP address</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Load balancing of TCP or UDP traffic</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Operates at the connection level </a:t>
                      </a:r>
                      <a:r>
                        <a:rPr lang="en-US" sz="2800" b="1" i="0" kern="1200">
                          <a:solidFill>
                            <a:schemeClr val="dk1"/>
                          </a:solidFill>
                          <a:latin typeface="Amazon Ember" panose="02000000000000000000" pitchFamily="2" charset="0"/>
                          <a:ea typeface="Amazon Ember" panose="02000000000000000000" pitchFamily="2" charset="0"/>
                          <a:cs typeface="Amazon Ember Light" charset="0"/>
                        </a:rPr>
                        <a:t>(Layer 4)</a:t>
                      </a:r>
                    </a:p>
                  </a:txBody>
                  <a:tcPr marL="121920" marR="121920" marT="60960" marB="60960">
                    <a:solidFill>
                      <a:schemeClr val="accent6">
                        <a:lumMod val="20000"/>
                        <a:lumOff val="80000"/>
                      </a:schemeClr>
                    </a:solidFill>
                  </a:tcPr>
                </a:tc>
                <a:extLst>
                  <a:ext uri="{0D108BD9-81ED-4DB2-BD59-A6C34878D82A}">
                    <a16:rowId xmlns:a16="http://schemas.microsoft.com/office/drawing/2014/main" val="10002"/>
                  </a:ext>
                </a:extLst>
              </a:tr>
            </a:tbl>
          </a:graphicData>
        </a:graphic>
      </p:graphicFrame>
      <p:sp>
        <p:nvSpPr>
          <p:cNvPr id="13" name="Oval 12"/>
          <p:cNvSpPr/>
          <p:nvPr/>
        </p:nvSpPr>
        <p:spPr>
          <a:xfrm>
            <a:off x="5189816" y="2541620"/>
            <a:ext cx="1426235" cy="1426235"/>
          </a:xfrm>
          <a:prstGeom prst="ellipse">
            <a:avLst/>
          </a:prstGeom>
          <a:solidFill>
            <a:schemeClr val="bg1"/>
          </a:solidFill>
          <a:ln w="285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accent6"/>
                </a:solidFill>
                <a:latin typeface="Amazon Ember" panose="02000000000000000000" pitchFamily="2" charset="0"/>
                <a:ea typeface="Amazon Ember" panose="02000000000000000000" pitchFamily="2" charset="0"/>
                <a:cs typeface="Amazon Ember Light" charset="0"/>
              </a:rPr>
              <a:t>TCP</a:t>
            </a:r>
          </a:p>
          <a:p>
            <a:pPr algn="ctr"/>
            <a:r>
              <a:rPr lang="en-US" b="1">
                <a:solidFill>
                  <a:schemeClr val="accent6"/>
                </a:solidFill>
                <a:latin typeface="Amazon Ember" panose="02000000000000000000" pitchFamily="2" charset="0"/>
                <a:ea typeface="Amazon Ember" panose="02000000000000000000" pitchFamily="2" charset="0"/>
                <a:cs typeface="Amazon Ember Light" charset="0"/>
              </a:rPr>
              <a:t>UDP</a:t>
            </a:r>
          </a:p>
        </p:txBody>
      </p:sp>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918566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a:t>Type of load balancer: CLB</a:t>
            </a:r>
          </a:p>
        </p:txBody>
      </p:sp>
      <p:graphicFrame>
        <p:nvGraphicFramePr>
          <p:cNvPr id="11" name="Table 10"/>
          <p:cNvGraphicFramePr>
            <a:graphicFrameLocks noGrp="1"/>
          </p:cNvGraphicFramePr>
          <p:nvPr>
            <p:extLst>
              <p:ext uri="{D42A27DB-BD31-4B8C-83A1-F6EECF244321}">
                <p14:modId xmlns:p14="http://schemas.microsoft.com/office/powerpoint/2010/main" val="469787069"/>
              </p:ext>
            </p:extLst>
          </p:nvPr>
        </p:nvGraphicFramePr>
        <p:xfrm>
          <a:off x="298330" y="1376831"/>
          <a:ext cx="11628854" cy="4964927"/>
        </p:xfrm>
        <a:graphic>
          <a:graphicData uri="http://schemas.openxmlformats.org/drawingml/2006/table">
            <a:tbl>
              <a:tblPr firstRow="1" bandRow="1">
                <a:tableStyleId>{93296810-A885-4BE3-A3E7-6D5BEEA58F35}</a:tableStyleId>
              </a:tblPr>
              <a:tblGrid>
                <a:gridCol w="11628854">
                  <a:extLst>
                    <a:ext uri="{9D8B030D-6E8A-4147-A177-3AD203B41FA5}">
                      <a16:colId xmlns:a16="http://schemas.microsoft.com/office/drawing/2014/main" val="20000"/>
                    </a:ext>
                  </a:extLst>
                </a:gridCol>
              </a:tblGrid>
              <a:tr h="118579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i="0">
                          <a:latin typeface="Amazon Ember" charset="0"/>
                          <a:ea typeface="Amazon Ember" charset="0"/>
                          <a:cs typeface="Amazon Ember" charset="0"/>
                        </a:rPr>
                        <a:t>Classic Load Balancer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i="0">
                          <a:latin typeface="Amazon Ember" charset="0"/>
                          <a:ea typeface="Amazon Ember" charset="0"/>
                          <a:cs typeface="Amazon Ember" charset="0"/>
                        </a:rPr>
                        <a:t>(CLB)</a:t>
                      </a:r>
                    </a:p>
                  </a:txBody>
                  <a:tcPr marL="121920" marR="121920" marT="60960" marB="60960" anchor="ctr">
                    <a:solidFill>
                      <a:schemeClr val="tx1">
                        <a:lumMod val="65000"/>
                        <a:lumOff val="35000"/>
                      </a:schemeClr>
                    </a:solidFill>
                  </a:tcPr>
                </a:tc>
                <a:extLst>
                  <a:ext uri="{0D108BD9-81ED-4DB2-BD59-A6C34878D82A}">
                    <a16:rowId xmlns:a16="http://schemas.microsoft.com/office/drawing/2014/main" val="10000"/>
                  </a:ext>
                </a:extLst>
              </a:tr>
              <a:tr h="1963270">
                <a:tc>
                  <a:txBody>
                    <a:bodyPr/>
                    <a:lstStyle/>
                    <a:p>
                      <a:pPr algn="ctr"/>
                      <a:endParaRPr lang="en-US" sz="2800" b="1" i="0" kern="1200">
                        <a:solidFill>
                          <a:schemeClr val="dk1"/>
                        </a:solidFill>
                        <a:effectLst/>
                        <a:latin typeface="Amazon Ember" panose="02000000000000000000" pitchFamily="2" charset="0"/>
                        <a:ea typeface="+mn-ea"/>
                        <a:cs typeface="+mn-cs"/>
                      </a:endParaRPr>
                    </a:p>
                    <a:p>
                      <a:pPr algn="ctr"/>
                      <a:r>
                        <a:rPr lang="en-US" sz="2800" b="1" i="0" kern="1200">
                          <a:solidFill>
                            <a:schemeClr val="dk1"/>
                          </a:solidFill>
                          <a:effectLst/>
                          <a:latin typeface="Amazon Ember" charset="0"/>
                          <a:ea typeface="Amazon Ember" charset="0"/>
                          <a:cs typeface="Amazon Ember" charset="0"/>
                        </a:rPr>
                        <a:t>PREVIOUS GENERATION</a:t>
                      </a:r>
                    </a:p>
                    <a:p>
                      <a:pPr algn="ctr"/>
                      <a:r>
                        <a:rPr lang="en-US" sz="2800" b="0" i="0" kern="1200">
                          <a:solidFill>
                            <a:schemeClr val="dk1"/>
                          </a:solidFill>
                          <a:effectLst/>
                          <a:latin typeface="Amazon Ember" panose="02000000000000000000" pitchFamily="2" charset="0"/>
                          <a:ea typeface="Amazon Ember" panose="02000000000000000000" pitchFamily="2" charset="0"/>
                          <a:cs typeface="Amazon Ember Light" charset="0"/>
                        </a:rPr>
                        <a:t>for HTTP, HTTPS, and TCP</a:t>
                      </a:r>
                    </a:p>
                  </a:txBody>
                  <a:tcPr marL="121920" marR="121920" marT="60960" marB="60960">
                    <a:solidFill>
                      <a:schemeClr val="bg1">
                        <a:lumMod val="65000"/>
                      </a:schemeClr>
                    </a:solidFill>
                  </a:tcPr>
                </a:tc>
                <a:extLst>
                  <a:ext uri="{0D108BD9-81ED-4DB2-BD59-A6C34878D82A}">
                    <a16:rowId xmlns:a16="http://schemas.microsoft.com/office/drawing/2014/main" val="10001"/>
                  </a:ext>
                </a:extLst>
              </a:tr>
              <a:tr h="1815863">
                <a:tc>
                  <a:txBody>
                    <a:bodyPr/>
                    <a:lstStyle/>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latin typeface="Amazon Ember" panose="02000000000000000000" pitchFamily="2" charset="0"/>
                          <a:ea typeface="Amazon Ember" panose="02000000000000000000" pitchFamily="2" charset="0"/>
                          <a:cs typeface="Amazon Ember Light" charset="0"/>
                        </a:rPr>
                        <a:t>For applications that use the EC2-Classic network</a:t>
                      </a:r>
                    </a:p>
                    <a:p>
                      <a:pPr marL="173038" marR="0" lvl="0" indent="-173038"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800" b="0" i="0" kern="1200">
                          <a:solidFill>
                            <a:schemeClr val="dk1"/>
                          </a:solidFill>
                          <a:latin typeface="Amazon Ember" panose="02000000000000000000" pitchFamily="2" charset="0"/>
                          <a:ea typeface="Amazon Ember" panose="02000000000000000000" pitchFamily="2" charset="0"/>
                          <a:cs typeface="Amazon Ember Light" charset="0"/>
                        </a:rPr>
                        <a:t>Operates at both the request level and connection level </a:t>
                      </a:r>
                    </a:p>
                  </a:txBody>
                  <a:tcPr marL="121920" marR="121920" marT="60960" marB="60960">
                    <a:solidFill>
                      <a:schemeClr val="bg1">
                        <a:lumMod val="85000"/>
                      </a:schemeClr>
                    </a:solidFill>
                  </a:tcPr>
                </a:tc>
                <a:extLst>
                  <a:ext uri="{0D108BD9-81ED-4DB2-BD59-A6C34878D82A}">
                    <a16:rowId xmlns:a16="http://schemas.microsoft.com/office/drawing/2014/main" val="10002"/>
                  </a:ext>
                </a:extLst>
              </a:tr>
            </a:tbl>
          </a:graphicData>
        </a:graphic>
      </p:graphicFrame>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038440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ELB load balancer: Features</a:t>
            </a:r>
          </a:p>
        </p:txBody>
      </p:sp>
      <p:sp>
        <p:nvSpPr>
          <p:cNvPr id="11" name="TextBox 10"/>
          <p:cNvSpPr txBox="1"/>
          <p:nvPr/>
        </p:nvSpPr>
        <p:spPr>
          <a:xfrm>
            <a:off x="419101" y="1583474"/>
            <a:ext cx="5767944" cy="1384995"/>
          </a:xfrm>
          <a:prstGeom prst="rect">
            <a:avLst/>
          </a:prstGeom>
          <a:noFill/>
        </p:spPr>
        <p:txBody>
          <a:bodyPr wrap="square" rtlCol="0">
            <a:spAutoFit/>
          </a:bodyPr>
          <a:lstStyle/>
          <a:p>
            <a:pPr algn="ctr"/>
            <a:r>
              <a:rPr lang="en-US" sz="2800" b="1">
                <a:solidFill>
                  <a:schemeClr val="tx2">
                    <a:lumMod val="75000"/>
                  </a:schemeClr>
                </a:solidFill>
                <a:latin typeface="Amazon Ember" panose="02000000000000000000" pitchFamily="2" charset="0"/>
              </a:rPr>
              <a:t>ELB load balancers </a:t>
            </a:r>
            <a:r>
              <a:rPr lang="en-US" sz="2800">
                <a:latin typeface="Amazon Ember" panose="02000000000000000000" pitchFamily="2" charset="0"/>
              </a:rPr>
              <a:t>a</a:t>
            </a:r>
            <a:r>
              <a:rPr lang="en-US" sz="2800">
                <a:latin typeface="Amazon Ember" panose="02000000000000000000" pitchFamily="2" charset="0"/>
                <a:ea typeface="Amazon Ember" panose="02000000000000000000" pitchFamily="2" charset="0"/>
              </a:rPr>
              <a:t>utomatically distribute traffic across multiple targets.</a:t>
            </a:r>
          </a:p>
        </p:txBody>
      </p:sp>
      <p:graphicFrame>
        <p:nvGraphicFramePr>
          <p:cNvPr id="15" name="Diagram 14"/>
          <p:cNvGraphicFramePr/>
          <p:nvPr>
            <p:extLst>
              <p:ext uri="{D42A27DB-BD31-4B8C-83A1-F6EECF244321}">
                <p14:modId xmlns:p14="http://schemas.microsoft.com/office/powerpoint/2010/main" val="665210027"/>
              </p:ext>
            </p:extLst>
          </p:nvPr>
        </p:nvGraphicFramePr>
        <p:xfrm>
          <a:off x="3933324" y="1254925"/>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TextBox 15">
            <a:extLst>
              <a:ext uri="{FF2B5EF4-FFF2-40B4-BE49-F238E27FC236}">
                <a16:creationId xmlns:a16="http://schemas.microsoft.com/office/drawing/2014/main" id="{E3C0960A-3D31-6D47-8EAA-93DE09090CDD}"/>
              </a:ext>
            </a:extLst>
          </p:cNvPr>
          <p:cNvSpPr txBox="1"/>
          <p:nvPr/>
        </p:nvSpPr>
        <p:spPr>
          <a:xfrm>
            <a:off x="1188739" y="5186530"/>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Balancing (ELB)</a:t>
            </a:r>
          </a:p>
        </p:txBody>
      </p:sp>
      <p:pic>
        <p:nvPicPr>
          <p:cNvPr id="17" name="Graphic 7">
            <a:extLst>
              <a:ext uri="{FF2B5EF4-FFF2-40B4-BE49-F238E27FC236}">
                <a16:creationId xmlns:a16="http://schemas.microsoft.com/office/drawing/2014/main" id="{708E5D6B-3B0D-7E46-91EF-00B27664375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97167" y="3279787"/>
            <a:ext cx="1685047" cy="1685047"/>
          </a:xfrm>
          <a:prstGeom prst="rect">
            <a:avLst/>
          </a:prstGeom>
        </p:spPr>
      </p:pic>
      <p:sp>
        <p:nvSpPr>
          <p:cNvPr id="7" name="Footer Placeholder 4">
            <a:extLst>
              <a:ext uri="{FF2B5EF4-FFF2-40B4-BE49-F238E27FC236}">
                <a16:creationId xmlns:a16="http://schemas.microsoft.com/office/drawing/2014/main" id="{294379FF-5CB4-7347-8A75-A3C514EB4161}"/>
              </a:ext>
            </a:extLst>
          </p:cNvPr>
          <p:cNvSpPr>
            <a:spLocks noGrp="1"/>
          </p:cNvSpPr>
          <p:nvPr>
            <p:ph type="ftr" sz="quarter" idx="3"/>
          </p:nvPr>
        </p:nvSpPr>
        <p:spPr>
          <a:xfrm>
            <a:off x="419100" y="6356351"/>
            <a:ext cx="4400035" cy="3027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10</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510460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4723503" y="1564909"/>
            <a:ext cx="6787885" cy="4185761"/>
          </a:xfrm>
          <a:prstGeom prst="rect">
            <a:avLst/>
          </a:prstGeom>
          <a:ln w="12700">
            <a:miter lim="400000"/>
          </a:ln>
          <a:extLst>
            <a:ext uri="{C572A759-6A51-4108-AA02-DFA0A04FC94B}">
              <ma14:wrappingTextBoxFlag xmlns:ma14="http://schemas.microsoft.com/office/mac/drawingml/2011/main" xmlns:mv="urn:schemas-microsoft-com:mac:vml" xmlns:mc="http://schemas.openxmlformats.org/markup-compatibility/2006" xmlns="" val="1"/>
            </a:ext>
          </a:extLst>
        </p:spPr>
        <p:txBody>
          <a:bodyPr wrap="square" lIns="0" tIns="0" rIns="0" bIns="0">
            <a:spAutoFit/>
          </a:bodyPr>
          <a:lstStyle/>
          <a:p>
            <a:pPr lvl="0">
              <a:defRPr sz="1800" b="0">
                <a:solidFill>
                  <a:srgbClr val="000000"/>
                </a:solidFill>
              </a:defRPr>
            </a:pPr>
            <a:r>
              <a:rPr lang="en-US" sz="2800" b="1">
                <a:solidFill>
                  <a:schemeClr val="tx2">
                    <a:lumMod val="75000"/>
                  </a:schemeClr>
                </a:solidFill>
                <a:latin typeface="Amazon Ember" panose="02000000000000000000" pitchFamily="2" charset="0"/>
                <a:ea typeface="Amazon Ember" panose="02000000000000000000" pitchFamily="2" charset="0"/>
              </a:rPr>
              <a:t>Listeners: </a:t>
            </a:r>
          </a:p>
          <a:p>
            <a:pPr lvl="0">
              <a:defRPr sz="1800" b="0">
                <a:solidFill>
                  <a:srgbClr val="000000"/>
                </a:solidFill>
              </a:defRPr>
            </a:pPr>
            <a:endParaRPr lang="en-US" sz="2800" b="1">
              <a:solidFill>
                <a:schemeClr val="tx2"/>
              </a:solidFill>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400">
                <a:latin typeface="Amazon Ember" panose="02000000000000000000" pitchFamily="2" charset="0"/>
                <a:ea typeface="Amazon Ember" panose="02000000000000000000" pitchFamily="2" charset="0"/>
              </a:rPr>
              <a:t>Process that defines the port and protocol that the load balancer listens on</a:t>
            </a:r>
          </a:p>
          <a:p>
            <a:pPr marL="457200" lvl="0" indent="-457200">
              <a:buFont typeface="Arial" panose="020B0604020202020204" pitchFamily="34" charset="0"/>
              <a:buChar char="•"/>
              <a:defRPr sz="1800" b="0">
                <a:solidFill>
                  <a:srgbClr val="000000"/>
                </a:solidFill>
              </a:defRPr>
            </a:pPr>
            <a:endParaRPr lang="en-US" sz="2400">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400">
                <a:latin typeface="Amazon Ember" panose="02000000000000000000" pitchFamily="2" charset="0"/>
                <a:ea typeface="Amazon Ember" panose="02000000000000000000" pitchFamily="2" charset="0"/>
              </a:rPr>
              <a:t>Each load balancer needs at least one listener to accept traffic</a:t>
            </a:r>
          </a:p>
          <a:p>
            <a:pPr marL="457200" lvl="0" indent="-457200">
              <a:buFont typeface="Arial" panose="020B0604020202020204" pitchFamily="34" charset="0"/>
              <a:buChar char="•"/>
              <a:defRPr sz="1800" b="0">
                <a:solidFill>
                  <a:srgbClr val="000000"/>
                </a:solidFill>
              </a:defRPr>
            </a:pPr>
            <a:endParaRPr lang="en-US" sz="2400">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400">
                <a:latin typeface="Amazon Ember" panose="02000000000000000000" pitchFamily="2" charset="0"/>
                <a:ea typeface="Amazon Ember" panose="02000000000000000000" pitchFamily="2" charset="0"/>
              </a:rPr>
              <a:t>Up to 50 listeners can be on a load balancer</a:t>
            </a:r>
          </a:p>
          <a:p>
            <a:pPr marL="457200" lvl="0" indent="-457200">
              <a:buFont typeface="Arial" panose="020B0604020202020204" pitchFamily="34" charset="0"/>
              <a:buChar char="•"/>
              <a:defRPr sz="1800" b="0">
                <a:solidFill>
                  <a:srgbClr val="000000"/>
                </a:solidFill>
              </a:defRPr>
            </a:pPr>
            <a:endParaRPr lang="en-US" sz="2400">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400">
                <a:latin typeface="Amazon Ember" panose="02000000000000000000" pitchFamily="2" charset="0"/>
                <a:ea typeface="Amazon Ember" panose="02000000000000000000" pitchFamily="2" charset="0"/>
              </a:rPr>
              <a:t>Routing rules are defined on listeners</a:t>
            </a:r>
          </a:p>
        </p:txBody>
      </p:sp>
      <p:sp>
        <p:nvSpPr>
          <p:cNvPr id="16" name="Rounded Rectangle 15"/>
          <p:cNvSpPr/>
          <p:nvPr/>
        </p:nvSpPr>
        <p:spPr>
          <a:xfrm>
            <a:off x="838200" y="4762500"/>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a:latin typeface="Amazon Ember" panose="02000000000000000000" pitchFamily="2" charset="0"/>
              <a:ea typeface="Amazon Ember" panose="02000000000000000000" pitchFamily="2" charset="0"/>
            </a:endParaRPr>
          </a:p>
        </p:txBody>
      </p:sp>
      <p:sp>
        <p:nvSpPr>
          <p:cNvPr id="17" name="Rounded Rectangle 16"/>
          <p:cNvSpPr/>
          <p:nvPr/>
        </p:nvSpPr>
        <p:spPr>
          <a:xfrm>
            <a:off x="1308100" y="5088868"/>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8" name="Rounded Rectangle 17"/>
          <p:cNvSpPr/>
          <p:nvPr/>
        </p:nvSpPr>
        <p:spPr>
          <a:xfrm>
            <a:off x="2616200" y="5088868"/>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9" name="Rounded Rectangle 18"/>
          <p:cNvSpPr/>
          <p:nvPr/>
        </p:nvSpPr>
        <p:spPr>
          <a:xfrm>
            <a:off x="3330222" y="5791601"/>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400">
                <a:latin typeface="Amazon Ember" panose="02000000000000000000" pitchFamily="2" charset="0"/>
                <a:ea typeface="Amazon Ember" panose="02000000000000000000" pitchFamily="2" charset="0"/>
              </a:rPr>
              <a:t>Health</a:t>
            </a:r>
            <a:br>
              <a:rPr lang="en-US" sz="1400">
                <a:latin typeface="Amazon Ember" panose="02000000000000000000" pitchFamily="2" charset="0"/>
                <a:ea typeface="Amazon Ember" panose="02000000000000000000" pitchFamily="2" charset="0"/>
              </a:rPr>
            </a:br>
            <a:r>
              <a:rPr lang="en-US" sz="1400">
                <a:latin typeface="Amazon Ember" panose="02000000000000000000" pitchFamily="2" charset="0"/>
                <a:ea typeface="Amazon Ember" panose="02000000000000000000" pitchFamily="2" charset="0"/>
              </a:rPr>
              <a:t>check</a:t>
            </a:r>
          </a:p>
        </p:txBody>
      </p:sp>
      <p:sp>
        <p:nvSpPr>
          <p:cNvPr id="20" name="Rounded Rectangle 19"/>
          <p:cNvSpPr/>
          <p:nvPr/>
        </p:nvSpPr>
        <p:spPr>
          <a:xfrm>
            <a:off x="1016000" y="2890018"/>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Listener</a:t>
            </a:r>
          </a:p>
        </p:txBody>
      </p:sp>
      <p:sp>
        <p:nvSpPr>
          <p:cNvPr id="21" name="Rounded Rectangle 20"/>
          <p:cNvSpPr/>
          <p:nvPr/>
        </p:nvSpPr>
        <p:spPr>
          <a:xfrm>
            <a:off x="1109490" y="3171168"/>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22" name="Rounded Rectangle 21"/>
          <p:cNvSpPr/>
          <p:nvPr/>
        </p:nvSpPr>
        <p:spPr>
          <a:xfrm>
            <a:off x="2093740" y="5820708"/>
            <a:ext cx="922510" cy="482600"/>
          </a:xfrm>
          <a:prstGeom prst="roundRect">
            <a:avLst>
              <a:gd name="adj" fmla="val 48294"/>
            </a:avLst>
          </a:prstGeom>
          <a:noFill/>
          <a:ln w="19050">
            <a:no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Target Group</a:t>
            </a:r>
            <a:br>
              <a:rPr lang="en-US">
                <a:solidFill>
                  <a:schemeClr val="bg1"/>
                </a:solidFill>
                <a:latin typeface="Amazon Ember" panose="02000000000000000000" pitchFamily="2" charset="0"/>
                <a:ea typeface="Amazon Ember" panose="02000000000000000000" pitchFamily="2" charset="0"/>
              </a:rPr>
            </a:br>
            <a:r>
              <a:rPr lang="en-US" sz="16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23" name="Straight Connector 22"/>
          <p:cNvCxnSpPr/>
          <p:nvPr/>
        </p:nvCxnSpPr>
        <p:spPr>
          <a:xfrm>
            <a:off x="1860550" y="4288768"/>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546350" y="2259025"/>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860550" y="4288768"/>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168650" y="4288768"/>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546350" y="3882367"/>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1466850" y="1277627"/>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a:solidFill>
                  <a:schemeClr val="bg1"/>
                </a:solidFill>
                <a:latin typeface="Amazon Ember" panose="02000000000000000000" pitchFamily="2" charset="0"/>
                <a:ea typeface="Amazon Ember" panose="02000000000000000000" pitchFamily="2" charset="0"/>
              </a:rPr>
              <a:t>Load balancer</a:t>
            </a:r>
          </a:p>
        </p:txBody>
      </p:sp>
      <p:sp>
        <p:nvSpPr>
          <p:cNvPr id="29" name="Title 1"/>
          <p:cNvSpPr>
            <a:spLocks noGrp="1"/>
          </p:cNvSpPr>
          <p:nvPr>
            <p:ph type="title"/>
          </p:nvPr>
        </p:nvSpPr>
        <p:spPr>
          <a:xfrm>
            <a:off x="419100" y="365125"/>
            <a:ext cx="9034272" cy="474119"/>
          </a:xfrm>
        </p:spPr>
        <p:txBody>
          <a:bodyPr/>
          <a:lstStyle/>
          <a:p>
            <a:r>
              <a:rPr lang="en-US" b="1"/>
              <a:t>Load balancer: Listeners</a:t>
            </a:r>
          </a:p>
        </p:txBody>
      </p:sp>
      <p:sp>
        <p:nvSpPr>
          <p:cNvPr id="30"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11</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25516608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ounded Rectangle 34"/>
          <p:cNvSpPr/>
          <p:nvPr/>
        </p:nvSpPr>
        <p:spPr>
          <a:xfrm>
            <a:off x="838200" y="4762500"/>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a:latin typeface="Amazon Ember" panose="02000000000000000000" pitchFamily="2" charset="0"/>
              <a:ea typeface="Amazon Ember" panose="02000000000000000000" pitchFamily="2" charset="0"/>
            </a:endParaRPr>
          </a:p>
        </p:txBody>
      </p:sp>
      <p:sp>
        <p:nvSpPr>
          <p:cNvPr id="36" name="Rounded Rectangle 35"/>
          <p:cNvSpPr/>
          <p:nvPr/>
        </p:nvSpPr>
        <p:spPr>
          <a:xfrm>
            <a:off x="1308100" y="5088868"/>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37" name="Rounded Rectangle 36"/>
          <p:cNvSpPr/>
          <p:nvPr/>
        </p:nvSpPr>
        <p:spPr>
          <a:xfrm>
            <a:off x="2616200" y="5088868"/>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38" name="Rounded Rectangle 37"/>
          <p:cNvSpPr/>
          <p:nvPr/>
        </p:nvSpPr>
        <p:spPr>
          <a:xfrm>
            <a:off x="3318933" y="5802890"/>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Health</a:t>
            </a:r>
            <a:br>
              <a:rPr lang="en-US" sz="1600">
                <a:latin typeface="Amazon Ember" panose="02000000000000000000" pitchFamily="2" charset="0"/>
                <a:ea typeface="Amazon Ember" panose="02000000000000000000" pitchFamily="2" charset="0"/>
              </a:rPr>
            </a:br>
            <a:r>
              <a:rPr lang="en-US" sz="1600">
                <a:latin typeface="Amazon Ember" panose="02000000000000000000" pitchFamily="2" charset="0"/>
                <a:ea typeface="Amazon Ember" panose="02000000000000000000" pitchFamily="2" charset="0"/>
              </a:rPr>
              <a:t>check</a:t>
            </a:r>
          </a:p>
        </p:txBody>
      </p:sp>
      <p:sp>
        <p:nvSpPr>
          <p:cNvPr id="39" name="Rounded Rectangle 38"/>
          <p:cNvSpPr/>
          <p:nvPr/>
        </p:nvSpPr>
        <p:spPr>
          <a:xfrm>
            <a:off x="1016000" y="2890018"/>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Listener</a:t>
            </a:r>
          </a:p>
        </p:txBody>
      </p:sp>
      <p:sp>
        <p:nvSpPr>
          <p:cNvPr id="40" name="Rounded Rectangle 39"/>
          <p:cNvSpPr/>
          <p:nvPr/>
        </p:nvSpPr>
        <p:spPr>
          <a:xfrm>
            <a:off x="1109490" y="3171168"/>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41" name="Rounded Rectangle 40"/>
          <p:cNvSpPr/>
          <p:nvPr/>
        </p:nvSpPr>
        <p:spPr>
          <a:xfrm>
            <a:off x="2093740" y="5820708"/>
            <a:ext cx="922510" cy="482600"/>
          </a:xfrm>
          <a:prstGeom prst="roundRect">
            <a:avLst>
              <a:gd name="adj" fmla="val 48294"/>
            </a:avLst>
          </a:prstGeom>
          <a:noFill/>
          <a:ln w="19050">
            <a:no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Target Group</a:t>
            </a:r>
            <a:br>
              <a:rPr lang="en-US">
                <a:solidFill>
                  <a:schemeClr val="bg1"/>
                </a:solidFill>
                <a:latin typeface="Amazon Ember" panose="02000000000000000000" pitchFamily="2" charset="0"/>
                <a:ea typeface="Amazon Ember" panose="02000000000000000000" pitchFamily="2" charset="0"/>
              </a:rPr>
            </a:br>
            <a:r>
              <a:rPr lang="en-US" sz="16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42" name="Straight Connector 41"/>
          <p:cNvCxnSpPr/>
          <p:nvPr/>
        </p:nvCxnSpPr>
        <p:spPr>
          <a:xfrm>
            <a:off x="1860550" y="4288768"/>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546350" y="2259025"/>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860550" y="4288768"/>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168650" y="4288768"/>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2546350" y="3882367"/>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7" name="Rounded Rectangle 46"/>
          <p:cNvSpPr/>
          <p:nvPr/>
        </p:nvSpPr>
        <p:spPr>
          <a:xfrm>
            <a:off x="1466850" y="1277627"/>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a:solidFill>
                  <a:schemeClr val="bg1"/>
                </a:solidFill>
                <a:latin typeface="Amazon Ember" panose="02000000000000000000" pitchFamily="2" charset="0"/>
                <a:ea typeface="Amazon Ember" panose="02000000000000000000" pitchFamily="2" charset="0"/>
              </a:rPr>
              <a:t>Load balancer</a:t>
            </a:r>
          </a:p>
        </p:txBody>
      </p:sp>
      <p:sp>
        <p:nvSpPr>
          <p:cNvPr id="52" name="Title 1"/>
          <p:cNvSpPr>
            <a:spLocks noGrp="1"/>
          </p:cNvSpPr>
          <p:nvPr>
            <p:ph type="title"/>
          </p:nvPr>
        </p:nvSpPr>
        <p:spPr>
          <a:xfrm>
            <a:off x="419100" y="365125"/>
            <a:ext cx="9034272" cy="474119"/>
          </a:xfrm>
        </p:spPr>
        <p:txBody>
          <a:bodyPr/>
          <a:lstStyle/>
          <a:p>
            <a:r>
              <a:rPr lang="en-US" b="1"/>
              <a:t>Load balancer: Target groups</a:t>
            </a:r>
          </a:p>
        </p:txBody>
      </p:sp>
      <p:sp>
        <p:nvSpPr>
          <p:cNvPr id="53" name="Shape 213"/>
          <p:cNvSpPr/>
          <p:nvPr/>
        </p:nvSpPr>
        <p:spPr>
          <a:xfrm>
            <a:off x="4723503" y="1564909"/>
            <a:ext cx="6787885" cy="3877985"/>
          </a:xfrm>
          <a:prstGeom prst="rect">
            <a:avLst/>
          </a:prstGeom>
          <a:ln w="12700">
            <a:miter lim="400000"/>
          </a:ln>
          <a:extLst>
            <a:ext uri="{C572A759-6A51-4108-AA02-DFA0A04FC94B}">
              <ma14:wrappingTextBoxFlag xmlns:ma14="http://schemas.microsoft.com/office/mac/drawingml/2011/main" xmlns:mv="urn:schemas-microsoft-com:mac:vml" xmlns:mc="http://schemas.openxmlformats.org/markup-compatibility/2006" xmlns="" val="1"/>
            </a:ext>
          </a:extLst>
        </p:spPr>
        <p:txBody>
          <a:bodyPr wrap="square" lIns="0" tIns="0" rIns="0" bIns="0">
            <a:spAutoFit/>
          </a:bodyPr>
          <a:lstStyle/>
          <a:p>
            <a:pPr lvl="0">
              <a:defRPr sz="1800" b="0">
                <a:solidFill>
                  <a:srgbClr val="000000"/>
                </a:solidFill>
              </a:defRPr>
            </a:pPr>
            <a:r>
              <a:rPr lang="en-US" sz="2800" b="1">
                <a:solidFill>
                  <a:schemeClr val="tx2">
                    <a:lumMod val="75000"/>
                  </a:schemeClr>
                </a:solidFill>
                <a:latin typeface="Amazon Ember" panose="02000000000000000000" pitchFamily="2" charset="0"/>
                <a:ea typeface="Amazon Ember" panose="02000000000000000000" pitchFamily="2" charset="0"/>
              </a:rPr>
              <a:t>Target groups: </a:t>
            </a:r>
          </a:p>
          <a:p>
            <a:pPr lvl="0">
              <a:defRPr sz="1800" b="0">
                <a:solidFill>
                  <a:srgbClr val="000000"/>
                </a:solidFill>
              </a:defRPr>
            </a:pPr>
            <a:endParaRPr lang="en-US" sz="2800" b="1">
              <a:solidFill>
                <a:schemeClr val="tx2"/>
              </a:solidFill>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800">
                <a:latin typeface="Amazon Ember" panose="02000000000000000000" pitchFamily="2" charset="0"/>
                <a:ea typeface="Amazon Ember" panose="02000000000000000000" pitchFamily="2" charset="0"/>
              </a:rPr>
              <a:t>Group of registered targets that provide support to –  </a:t>
            </a:r>
          </a:p>
          <a:p>
            <a:pPr marL="914400" lvl="1" indent="-457200">
              <a:buFont typeface="Arial" panose="020B0604020202020204" pitchFamily="34" charset="0"/>
              <a:buChar char="•"/>
              <a:defRPr sz="1800" b="0">
                <a:solidFill>
                  <a:srgbClr val="000000"/>
                </a:solidFill>
              </a:defRPr>
            </a:pPr>
            <a:r>
              <a:rPr lang="en-US" sz="2800">
                <a:latin typeface="Amazon Ember" panose="02000000000000000000" pitchFamily="2" charset="0"/>
                <a:ea typeface="Amazon Ember" panose="02000000000000000000" pitchFamily="2" charset="0"/>
              </a:rPr>
              <a:t>EC2 instances</a:t>
            </a:r>
          </a:p>
          <a:p>
            <a:pPr marL="914400" lvl="1" indent="-457200">
              <a:buFont typeface="Arial" panose="020B0604020202020204" pitchFamily="34" charset="0"/>
              <a:buChar char="•"/>
              <a:defRPr sz="1800" b="0">
                <a:solidFill>
                  <a:srgbClr val="000000"/>
                </a:solidFill>
              </a:defRPr>
            </a:pPr>
            <a:r>
              <a:rPr lang="en-US" sz="2800">
                <a:latin typeface="Amazon Ember" panose="02000000000000000000" pitchFamily="2" charset="0"/>
                <a:ea typeface="Amazon Ember" panose="02000000000000000000" pitchFamily="2" charset="0"/>
              </a:rPr>
              <a:t>ECS container instances</a:t>
            </a:r>
          </a:p>
          <a:p>
            <a:pPr marL="457200" lvl="0" indent="-457200">
              <a:buFont typeface="Arial" panose="020B0604020202020204" pitchFamily="34" charset="0"/>
              <a:buChar char="•"/>
              <a:defRPr sz="1800" b="0">
                <a:solidFill>
                  <a:srgbClr val="000000"/>
                </a:solidFill>
              </a:defRPr>
            </a:pPr>
            <a:endParaRPr lang="en-US" sz="2800">
              <a:latin typeface="Amazon Ember" panose="02000000000000000000" pitchFamily="2" charset="0"/>
              <a:ea typeface="Amazon Ember" panose="02000000000000000000" pitchFamily="2" charset="0"/>
            </a:endParaRPr>
          </a:p>
          <a:p>
            <a:pPr marL="457200" lvl="0" indent="-457200">
              <a:buFont typeface="Arial" panose="020B0604020202020204" pitchFamily="34" charset="0"/>
              <a:buChar char="•"/>
              <a:defRPr sz="1800" b="0">
                <a:solidFill>
                  <a:srgbClr val="000000"/>
                </a:solidFill>
              </a:defRPr>
            </a:pPr>
            <a:r>
              <a:rPr lang="en-US" sz="2800">
                <a:latin typeface="Amazon Ember" panose="02000000000000000000" pitchFamily="2" charset="0"/>
                <a:ea typeface="Amazon Ember" panose="02000000000000000000" pitchFamily="2" charset="0"/>
              </a:rPr>
              <a:t>A single target can have multiple target group registrations</a:t>
            </a:r>
          </a:p>
        </p:txBody>
      </p:sp>
      <p:sp>
        <p:nvSpPr>
          <p:cNvPr id="1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88170739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7912100" y="4436132"/>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a:latin typeface="Amazon Ember" panose="02000000000000000000" pitchFamily="2" charset="0"/>
              <a:ea typeface="Amazon Ember" panose="02000000000000000000" pitchFamily="2" charset="0"/>
            </a:endParaRPr>
          </a:p>
        </p:txBody>
      </p:sp>
      <p:sp>
        <p:nvSpPr>
          <p:cNvPr id="30" name="Rounded Rectangle 29"/>
          <p:cNvSpPr/>
          <p:nvPr/>
        </p:nvSpPr>
        <p:spPr>
          <a:xfrm>
            <a:off x="4470400" y="4436132"/>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a:latin typeface="Amazon Ember" panose="02000000000000000000" pitchFamily="2" charset="0"/>
              <a:ea typeface="Amazon Ember" panose="02000000000000000000" pitchFamily="2" charset="0"/>
            </a:endParaRPr>
          </a:p>
        </p:txBody>
      </p:sp>
      <p:sp>
        <p:nvSpPr>
          <p:cNvPr id="31" name="Rounded Rectangle 30"/>
          <p:cNvSpPr/>
          <p:nvPr/>
        </p:nvSpPr>
        <p:spPr>
          <a:xfrm>
            <a:off x="838200" y="4436132"/>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a:latin typeface="Amazon Ember" panose="02000000000000000000" pitchFamily="2" charset="0"/>
              <a:ea typeface="Amazon Ember" panose="02000000000000000000" pitchFamily="2" charset="0"/>
            </a:endParaRPr>
          </a:p>
        </p:txBody>
      </p:sp>
      <p:sp>
        <p:nvSpPr>
          <p:cNvPr id="2" name="Title 1"/>
          <p:cNvSpPr>
            <a:spLocks noGrp="1"/>
          </p:cNvSpPr>
          <p:nvPr>
            <p:ph type="title"/>
          </p:nvPr>
        </p:nvSpPr>
        <p:spPr/>
        <p:txBody>
          <a:bodyPr>
            <a:normAutofit fontScale="90000"/>
          </a:bodyPr>
          <a:lstStyle/>
          <a:p>
            <a:r>
              <a:rPr lang="en-US" b="1"/>
              <a:t>Application Load Balancer components</a:t>
            </a:r>
          </a:p>
        </p:txBody>
      </p:sp>
      <p:sp>
        <p:nvSpPr>
          <p:cNvPr id="7" name="Rounded Rectangle 6"/>
          <p:cNvSpPr/>
          <p:nvPr/>
        </p:nvSpPr>
        <p:spPr>
          <a:xfrm>
            <a:off x="4267200" y="1457002"/>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a:solidFill>
                  <a:schemeClr val="bg1"/>
                </a:solidFill>
                <a:latin typeface="Amazon Ember" panose="02000000000000000000" pitchFamily="2" charset="0"/>
                <a:ea typeface="Amazon Ember" panose="02000000000000000000" pitchFamily="2" charset="0"/>
              </a:rPr>
              <a:t>Load Balancer</a:t>
            </a:r>
          </a:p>
        </p:txBody>
      </p:sp>
      <p:sp>
        <p:nvSpPr>
          <p:cNvPr id="9" name="Rounded Rectangle 8"/>
          <p:cNvSpPr/>
          <p:nvPr/>
        </p:nvSpPr>
        <p:spPr>
          <a:xfrm>
            <a:off x="13081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0" name="Rounded Rectangle 9"/>
          <p:cNvSpPr/>
          <p:nvPr/>
        </p:nvSpPr>
        <p:spPr>
          <a:xfrm>
            <a:off x="26162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1" name="Rounded Rectangle 10"/>
          <p:cNvSpPr/>
          <p:nvPr/>
        </p:nvSpPr>
        <p:spPr>
          <a:xfrm>
            <a:off x="46990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2" name="Rounded Rectangle 11"/>
          <p:cNvSpPr/>
          <p:nvPr/>
        </p:nvSpPr>
        <p:spPr>
          <a:xfrm>
            <a:off x="60452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3" name="Rounded Rectangle 12"/>
          <p:cNvSpPr/>
          <p:nvPr/>
        </p:nvSpPr>
        <p:spPr>
          <a:xfrm>
            <a:off x="73533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4" name="Rounded Rectangle 13"/>
          <p:cNvSpPr/>
          <p:nvPr/>
        </p:nvSpPr>
        <p:spPr>
          <a:xfrm>
            <a:off x="86106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5" name="Rounded Rectangle 14"/>
          <p:cNvSpPr/>
          <p:nvPr/>
        </p:nvSpPr>
        <p:spPr>
          <a:xfrm>
            <a:off x="9867900" y="4762500"/>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7" name="Rounded Rectangle 16"/>
          <p:cNvSpPr/>
          <p:nvPr/>
        </p:nvSpPr>
        <p:spPr>
          <a:xfrm>
            <a:off x="10464800" y="5499100"/>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Health</a:t>
            </a:r>
            <a:br>
              <a:rPr lang="en-US" sz="1600">
                <a:latin typeface="Amazon Ember" panose="02000000000000000000" pitchFamily="2" charset="0"/>
                <a:ea typeface="Amazon Ember" panose="02000000000000000000" pitchFamily="2" charset="0"/>
              </a:rPr>
            </a:br>
            <a:r>
              <a:rPr lang="en-US" sz="1600">
                <a:latin typeface="Amazon Ember" panose="02000000000000000000" pitchFamily="2" charset="0"/>
                <a:ea typeface="Amazon Ember" panose="02000000000000000000" pitchFamily="2" charset="0"/>
              </a:rPr>
              <a:t>check</a:t>
            </a:r>
          </a:p>
        </p:txBody>
      </p:sp>
      <p:sp>
        <p:nvSpPr>
          <p:cNvPr id="18" name="Rounded Rectangle 17"/>
          <p:cNvSpPr/>
          <p:nvPr/>
        </p:nvSpPr>
        <p:spPr>
          <a:xfrm>
            <a:off x="7035800" y="5499100"/>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Health</a:t>
            </a:r>
            <a:br>
              <a:rPr lang="en-US" sz="1600">
                <a:latin typeface="Amazon Ember" panose="02000000000000000000" pitchFamily="2" charset="0"/>
                <a:ea typeface="Amazon Ember" panose="02000000000000000000" pitchFamily="2" charset="0"/>
              </a:rPr>
            </a:br>
            <a:r>
              <a:rPr lang="en-US" sz="1600">
                <a:latin typeface="Amazon Ember" panose="02000000000000000000" pitchFamily="2" charset="0"/>
                <a:ea typeface="Amazon Ember" panose="02000000000000000000" pitchFamily="2" charset="0"/>
              </a:rPr>
              <a:t>check</a:t>
            </a:r>
          </a:p>
        </p:txBody>
      </p:sp>
      <p:sp>
        <p:nvSpPr>
          <p:cNvPr id="19" name="Rounded Rectangle 18"/>
          <p:cNvSpPr/>
          <p:nvPr/>
        </p:nvSpPr>
        <p:spPr>
          <a:xfrm>
            <a:off x="3352800" y="5499100"/>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Health</a:t>
            </a:r>
            <a:br>
              <a:rPr lang="en-US" sz="1600">
                <a:latin typeface="Amazon Ember" panose="02000000000000000000" pitchFamily="2" charset="0"/>
                <a:ea typeface="Amazon Ember" panose="02000000000000000000" pitchFamily="2" charset="0"/>
              </a:rPr>
            </a:br>
            <a:r>
              <a:rPr lang="en-US" sz="1600">
                <a:latin typeface="Amazon Ember" panose="02000000000000000000" pitchFamily="2" charset="0"/>
                <a:ea typeface="Amazon Ember" panose="02000000000000000000" pitchFamily="2" charset="0"/>
              </a:rPr>
              <a:t>check</a:t>
            </a:r>
          </a:p>
        </p:txBody>
      </p:sp>
      <p:sp>
        <p:nvSpPr>
          <p:cNvPr id="20" name="Rounded Rectangle 19"/>
          <p:cNvSpPr/>
          <p:nvPr/>
        </p:nvSpPr>
        <p:spPr>
          <a:xfrm>
            <a:off x="1016000" y="2563650"/>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Listener</a:t>
            </a:r>
          </a:p>
        </p:txBody>
      </p:sp>
      <p:sp>
        <p:nvSpPr>
          <p:cNvPr id="21" name="Rounded Rectangle 20"/>
          <p:cNvSpPr/>
          <p:nvPr/>
        </p:nvSpPr>
        <p:spPr>
          <a:xfrm>
            <a:off x="6481590" y="2844800"/>
            <a:ext cx="922510" cy="482600"/>
          </a:xfrm>
          <a:prstGeom prst="roundRect">
            <a:avLst>
              <a:gd name="adj" fmla="val 48294"/>
            </a:avLst>
          </a:prstGeom>
          <a:solidFill>
            <a:srgbClr val="FFE070"/>
          </a:solidFill>
          <a:ln w="19050">
            <a:solidFill>
              <a:schemeClr val="tx1"/>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22" name="Rounded Rectangle 21"/>
          <p:cNvSpPr/>
          <p:nvPr/>
        </p:nvSpPr>
        <p:spPr>
          <a:xfrm>
            <a:off x="1109490" y="2844800"/>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23" name="Rounded Rectangle 22"/>
          <p:cNvSpPr/>
          <p:nvPr/>
        </p:nvSpPr>
        <p:spPr>
          <a:xfrm>
            <a:off x="6324600" y="2563650"/>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Listener</a:t>
            </a:r>
          </a:p>
        </p:txBody>
      </p:sp>
      <p:sp>
        <p:nvSpPr>
          <p:cNvPr id="24" name="Rounded Rectangle 23"/>
          <p:cNvSpPr/>
          <p:nvPr/>
        </p:nvSpPr>
        <p:spPr>
          <a:xfrm>
            <a:off x="6418090" y="2844800"/>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27" name="Rounded Rectangle 26"/>
          <p:cNvSpPr/>
          <p:nvPr/>
        </p:nvSpPr>
        <p:spPr>
          <a:xfrm>
            <a:off x="8348490" y="2844800"/>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a:latin typeface="Amazon Ember" panose="02000000000000000000" pitchFamily="2" charset="0"/>
                <a:ea typeface="Amazon Ember" panose="02000000000000000000" pitchFamily="2" charset="0"/>
              </a:rPr>
              <a:t>Rule</a:t>
            </a:r>
          </a:p>
        </p:txBody>
      </p:sp>
      <p:sp>
        <p:nvSpPr>
          <p:cNvPr id="32" name="Rounded Rectangle 31"/>
          <p:cNvSpPr/>
          <p:nvPr/>
        </p:nvSpPr>
        <p:spPr>
          <a:xfrm>
            <a:off x="5650275" y="5494340"/>
            <a:ext cx="922510" cy="482600"/>
          </a:xfrm>
          <a:prstGeom prst="roundRect">
            <a:avLst>
              <a:gd name="adj" fmla="val 48294"/>
            </a:avLst>
          </a:prstGeom>
          <a:noFill/>
          <a:ln w="19050">
            <a:noFill/>
          </a:ln>
        </p:spPr>
        <p:txBody>
          <a:bodyPr wrap="none" rtlCol="0" anchor="ctr" anchorCtr="1">
            <a:noAutofit/>
          </a:bodyPr>
          <a:lstStyle/>
          <a:p>
            <a:pPr lvl="0" algn="ctr"/>
            <a:r>
              <a:rPr lang="en-US">
                <a:solidFill>
                  <a:schemeClr val="bg1"/>
                </a:solidFill>
                <a:latin typeface="Amazon Ember" panose="02000000000000000000" pitchFamily="2" charset="0"/>
                <a:ea typeface="Amazon Ember" panose="02000000000000000000" pitchFamily="2" charset="0"/>
              </a:rPr>
              <a:t>Target group</a:t>
            </a:r>
            <a:br>
              <a:rPr lang="en-US">
                <a:solidFill>
                  <a:schemeClr val="bg1"/>
                </a:solidFill>
                <a:latin typeface="Amazon Ember" panose="02000000000000000000" pitchFamily="2" charset="0"/>
                <a:ea typeface="Amazon Ember" panose="02000000000000000000" pitchFamily="2" charset="0"/>
              </a:rPr>
            </a:br>
            <a:r>
              <a:rPr lang="en-US" sz="16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(example.com/blog)</a:t>
            </a:r>
          </a:p>
        </p:txBody>
      </p:sp>
      <p:sp>
        <p:nvSpPr>
          <p:cNvPr id="33" name="Rounded Rectangle 32"/>
          <p:cNvSpPr/>
          <p:nvPr/>
        </p:nvSpPr>
        <p:spPr>
          <a:xfrm>
            <a:off x="8945735" y="5494340"/>
            <a:ext cx="922510" cy="482600"/>
          </a:xfrm>
          <a:prstGeom prst="roundRect">
            <a:avLst>
              <a:gd name="adj" fmla="val 48294"/>
            </a:avLst>
          </a:prstGeom>
          <a:noFill/>
          <a:ln w="19050">
            <a:noFill/>
          </a:ln>
        </p:spPr>
        <p:txBody>
          <a:bodyPr wrap="none" rtlCol="0" anchor="ctr" anchorCtr="1">
            <a:noAutofit/>
          </a:bodyPr>
          <a:lstStyle/>
          <a:p>
            <a:pPr lvl="0" algn="ctr"/>
            <a:r>
              <a:rPr lang="en-US">
                <a:solidFill>
                  <a:schemeClr val="bg1"/>
                </a:solidFill>
                <a:latin typeface="Amazon Ember" panose="02000000000000000000" pitchFamily="2" charset="0"/>
                <a:ea typeface="Amazon Ember" panose="02000000000000000000" pitchFamily="2" charset="0"/>
              </a:rPr>
              <a:t>Target group</a:t>
            </a:r>
            <a:br>
              <a:rPr lang="en-US">
                <a:solidFill>
                  <a:schemeClr val="bg1"/>
                </a:solidFill>
                <a:latin typeface="Amazon Ember" panose="02000000000000000000" pitchFamily="2" charset="0"/>
                <a:ea typeface="Amazon Ember" panose="02000000000000000000" pitchFamily="2" charset="0"/>
              </a:rPr>
            </a:br>
            <a:r>
              <a:rPr lang="en-US" sz="16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(example.com/mobile)</a:t>
            </a:r>
          </a:p>
        </p:txBody>
      </p:sp>
      <p:sp>
        <p:nvSpPr>
          <p:cNvPr id="34" name="Rounded Rectangle 33"/>
          <p:cNvSpPr/>
          <p:nvPr/>
        </p:nvSpPr>
        <p:spPr>
          <a:xfrm>
            <a:off x="2093740" y="5494340"/>
            <a:ext cx="922510" cy="482600"/>
          </a:xfrm>
          <a:prstGeom prst="roundRect">
            <a:avLst>
              <a:gd name="adj" fmla="val 48294"/>
            </a:avLst>
          </a:prstGeom>
          <a:noFill/>
          <a:ln w="19050">
            <a:noFill/>
          </a:ln>
        </p:spPr>
        <p:txBody>
          <a:bodyPr wrap="none" rtlCol="0" anchor="ctr" anchorCtr="1">
            <a:noAutofit/>
          </a:bodyPr>
          <a:lstStyle/>
          <a:p>
            <a:pPr algn="ctr"/>
            <a:r>
              <a:rPr lang="en-US">
                <a:solidFill>
                  <a:schemeClr val="bg1"/>
                </a:solidFill>
                <a:latin typeface="Amazon Ember" panose="02000000000000000000" pitchFamily="2" charset="0"/>
                <a:ea typeface="Amazon Ember" panose="02000000000000000000" pitchFamily="2" charset="0"/>
              </a:rPr>
              <a:t>Target group</a:t>
            </a:r>
            <a:br>
              <a:rPr lang="en-US">
                <a:solidFill>
                  <a:schemeClr val="bg1"/>
                </a:solidFill>
                <a:latin typeface="Amazon Ember" panose="02000000000000000000" pitchFamily="2" charset="0"/>
                <a:ea typeface="Amazon Ember" panose="02000000000000000000" pitchFamily="2" charset="0"/>
              </a:rPr>
            </a:br>
            <a:r>
              <a:rPr lang="en-US" sz="16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35" name="Straight Connector 34"/>
          <p:cNvCxnSpPr/>
          <p:nvPr/>
        </p:nvCxnSpPr>
        <p:spPr>
          <a:xfrm>
            <a:off x="5219700" y="3962400"/>
            <a:ext cx="520065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60550" y="3962400"/>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108830" y="3086101"/>
            <a:ext cx="2253870"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314950" y="2446340"/>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8605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1686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2387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5976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7905750" y="3555999"/>
            <a:ext cx="0" cy="12065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91630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0407650" y="3962400"/>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2546350" y="3555999"/>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3708710" y="6228114"/>
            <a:ext cx="258749" cy="394009"/>
            <a:chOff x="7685833" y="2129398"/>
            <a:chExt cx="258749" cy="394009"/>
          </a:xfrm>
        </p:grpSpPr>
        <p:sp>
          <p:nvSpPr>
            <p:cNvPr id="43" name="Shape 198"/>
            <p:cNvSpPr/>
            <p:nvPr/>
          </p:nvSpPr>
          <p:spPr>
            <a:xfrm>
              <a:off x="7685833" y="2416305"/>
              <a:ext cx="258749" cy="107102"/>
            </a:xfrm>
            <a:prstGeom prst="rect">
              <a:avLst/>
            </a:prstGeom>
            <a:solidFill>
              <a:srgbClr val="8BC943"/>
            </a:solid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44" name="Shape 199"/>
            <p:cNvSpPr/>
            <p:nvPr/>
          </p:nvSpPr>
          <p:spPr>
            <a:xfrm>
              <a:off x="7685833" y="2272851"/>
              <a:ext cx="258749" cy="107102"/>
            </a:xfrm>
            <a:prstGeom prst="rect">
              <a:avLst/>
            </a:prstGeom>
            <a:solidFill>
              <a:srgbClr val="FFFB00"/>
            </a:solid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45" name="Shape 200"/>
            <p:cNvSpPr/>
            <p:nvPr/>
          </p:nvSpPr>
          <p:spPr>
            <a:xfrm>
              <a:off x="7685833" y="2129398"/>
              <a:ext cx="258749" cy="107101"/>
            </a:xfrm>
            <a:prstGeom prst="rect">
              <a:avLst/>
            </a:prstGeom>
            <a:solidFill>
              <a:srgbClr val="FF2600"/>
            </a:solid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grpSp>
      <p:grpSp>
        <p:nvGrpSpPr>
          <p:cNvPr id="47" name="Group 46"/>
          <p:cNvGrpSpPr/>
          <p:nvPr/>
        </p:nvGrpSpPr>
        <p:grpSpPr>
          <a:xfrm>
            <a:off x="7383656" y="6226412"/>
            <a:ext cx="258749" cy="394009"/>
            <a:chOff x="7685833" y="2129398"/>
            <a:chExt cx="258749" cy="394009"/>
          </a:xfrm>
          <a:solidFill>
            <a:srgbClr val="92D050"/>
          </a:solidFill>
        </p:grpSpPr>
        <p:sp>
          <p:nvSpPr>
            <p:cNvPr id="54" name="Shape 198"/>
            <p:cNvSpPr/>
            <p:nvPr/>
          </p:nvSpPr>
          <p:spPr>
            <a:xfrm>
              <a:off x="7685833" y="2416305"/>
              <a:ext cx="258749" cy="107102"/>
            </a:xfrm>
            <a:prstGeom prst="rect">
              <a:avLst/>
            </a:prstGeom>
            <a:grp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56" name="Shape 199"/>
            <p:cNvSpPr/>
            <p:nvPr/>
          </p:nvSpPr>
          <p:spPr>
            <a:xfrm>
              <a:off x="7685833" y="2272851"/>
              <a:ext cx="258749" cy="107102"/>
            </a:xfrm>
            <a:prstGeom prst="rect">
              <a:avLst/>
            </a:prstGeom>
            <a:grp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57" name="Shape 200"/>
            <p:cNvSpPr/>
            <p:nvPr/>
          </p:nvSpPr>
          <p:spPr>
            <a:xfrm>
              <a:off x="7685833" y="2129398"/>
              <a:ext cx="258749" cy="107101"/>
            </a:xfrm>
            <a:prstGeom prst="rect">
              <a:avLst/>
            </a:prstGeom>
            <a:grp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grpSp>
      <p:grpSp>
        <p:nvGrpSpPr>
          <p:cNvPr id="58" name="Group 57"/>
          <p:cNvGrpSpPr/>
          <p:nvPr/>
        </p:nvGrpSpPr>
        <p:grpSpPr>
          <a:xfrm>
            <a:off x="10843425" y="6226411"/>
            <a:ext cx="258749" cy="394009"/>
            <a:chOff x="7685833" y="2129398"/>
            <a:chExt cx="258749" cy="394009"/>
          </a:xfrm>
        </p:grpSpPr>
        <p:sp>
          <p:nvSpPr>
            <p:cNvPr id="59" name="Shape 198"/>
            <p:cNvSpPr/>
            <p:nvPr/>
          </p:nvSpPr>
          <p:spPr>
            <a:xfrm>
              <a:off x="7685833" y="2416305"/>
              <a:ext cx="258749" cy="107102"/>
            </a:xfrm>
            <a:prstGeom prst="rect">
              <a:avLst/>
            </a:prstGeom>
            <a:solidFill>
              <a:srgbClr val="8BC943"/>
            </a:solidFill>
            <a:ln w="12700" cap="flat">
              <a:noFill/>
              <a:miter lim="400000"/>
            </a:ln>
            <a:effectLst/>
          </p:spPr>
          <p:txBody>
            <a:bodyPr wrap="square" lIns="0" tIns="0" rIns="0" bIns="0" numCol="1" anchor="ctr">
              <a:noAutofit/>
            </a:bodyPr>
            <a:lstStyle/>
            <a:p>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60" name="Shape 199"/>
            <p:cNvSpPr/>
            <p:nvPr/>
          </p:nvSpPr>
          <p:spPr>
            <a:xfrm>
              <a:off x="7685833" y="2272851"/>
              <a:ext cx="258749" cy="107102"/>
            </a:xfrm>
            <a:prstGeom prst="rect">
              <a:avLst/>
            </a:prstGeom>
            <a:solidFill>
              <a:srgbClr val="92D050"/>
            </a:solidFill>
            <a:ln w="12700" cap="flat">
              <a:noFill/>
              <a:miter lim="400000"/>
            </a:ln>
            <a:effectLst/>
          </p:spPr>
          <p:txBody>
            <a:bodyPr wrap="square" lIns="0" tIns="0" rIns="0" bIns="0" numCol="1" anchor="ctr">
              <a:noAutofit/>
            </a:bodyPr>
            <a:lstStyle/>
            <a:p>
              <a:pPr lvl="0">
                <a:defRPr b="0">
                  <a:solidFill>
                    <a:srgbClr val="000000"/>
                  </a:solidFill>
                </a:defRPr>
              </a:pPr>
              <a:endParaRPr>
                <a:solidFill>
                  <a:schemeClr val="bg2">
                    <a:lumMod val="10000"/>
                  </a:schemeClr>
                </a:solidFill>
                <a:latin typeface="Amazon Ember" panose="02000000000000000000" pitchFamily="2" charset="0"/>
                <a:ea typeface="Amazon Ember" panose="02000000000000000000" pitchFamily="2" charset="0"/>
              </a:endParaRPr>
            </a:p>
          </p:txBody>
        </p:sp>
        <p:sp>
          <p:nvSpPr>
            <p:cNvPr id="61" name="Shape 200"/>
            <p:cNvSpPr/>
            <p:nvPr/>
          </p:nvSpPr>
          <p:spPr>
            <a:xfrm>
              <a:off x="7685833" y="2129398"/>
              <a:ext cx="258749" cy="107101"/>
            </a:xfrm>
            <a:prstGeom prst="rect">
              <a:avLst/>
            </a:prstGeom>
            <a:solidFill>
              <a:srgbClr val="8BC943"/>
            </a:solidFill>
            <a:ln w="12700" cap="flat">
              <a:noFill/>
              <a:miter lim="400000"/>
            </a:ln>
            <a:effectLst/>
          </p:spPr>
          <p:txBody>
            <a:bodyPr wrap="square" lIns="0" tIns="0" rIns="0" bIns="0" numCol="1" anchor="ctr">
              <a:noAutofit/>
            </a:bodyPr>
            <a:lstStyle/>
            <a:p>
              <a:endParaRPr>
                <a:solidFill>
                  <a:schemeClr val="bg2">
                    <a:lumMod val="10000"/>
                  </a:schemeClr>
                </a:solidFill>
                <a:latin typeface="Amazon Ember" panose="02000000000000000000" pitchFamily="2" charset="0"/>
                <a:ea typeface="Amazon Ember" panose="02000000000000000000" pitchFamily="2" charset="0"/>
              </a:endParaRPr>
            </a:p>
          </p:txBody>
        </p:sp>
      </p:grpSp>
      <p:sp>
        <p:nvSpPr>
          <p:cNvPr id="62"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13</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991495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58F6-8F4B-CF47-AC47-C73A29C08A68}"/>
              </a:ext>
            </a:extLst>
          </p:cNvPr>
          <p:cNvSpPr>
            <a:spLocks noGrp="1"/>
          </p:cNvSpPr>
          <p:nvPr>
            <p:ph type="title"/>
          </p:nvPr>
        </p:nvSpPr>
        <p:spPr/>
        <p:txBody>
          <a:bodyPr/>
          <a:lstStyle/>
          <a:p>
            <a:r>
              <a:rPr lang="en-US" b="1"/>
              <a:t>Example Application Load Balancer </a:t>
            </a:r>
          </a:p>
        </p:txBody>
      </p:sp>
      <p:cxnSp>
        <p:nvCxnSpPr>
          <p:cNvPr id="6" name="Straight Arrow Connector 5">
            <a:extLst>
              <a:ext uri="{FF2B5EF4-FFF2-40B4-BE49-F238E27FC236}">
                <a16:creationId xmlns:a16="http://schemas.microsoft.com/office/drawing/2014/main" id="{9B5DA927-3CAE-214F-85CE-1D3AA5A73687}"/>
              </a:ext>
            </a:extLst>
          </p:cNvPr>
          <p:cNvCxnSpPr>
            <a:cxnSpLocks/>
          </p:cNvCxnSpPr>
          <p:nvPr/>
        </p:nvCxnSpPr>
        <p:spPr>
          <a:xfrm>
            <a:off x="4893071" y="4866440"/>
            <a:ext cx="675243" cy="73"/>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32E9570-AE13-5145-8CBF-7CA94526B2B1}"/>
              </a:ext>
            </a:extLst>
          </p:cNvPr>
          <p:cNvSpPr txBox="1"/>
          <p:nvPr/>
        </p:nvSpPr>
        <p:spPr>
          <a:xfrm>
            <a:off x="3299421" y="4653795"/>
            <a:ext cx="1688392" cy="400110"/>
          </a:xfrm>
          <a:prstGeom prst="rect">
            <a:avLst/>
          </a:prstGeom>
          <a:noFill/>
        </p:spPr>
        <p:txBody>
          <a:bodyPr wrap="square" rtlCol="0">
            <a:spAutoFit/>
          </a:bodyPr>
          <a:lstStyle/>
          <a:p>
            <a:r>
              <a:rPr lang="en-US" sz="2000">
                <a:latin typeface="Amazon Ember" panose="02000000000000000000" pitchFamily="2" charset="0"/>
                <a:ea typeface="Amazon Ember" panose="02000000000000000000" pitchFamily="2" charset="0"/>
                <a:cs typeface="Amazon Ember Light" panose="020B0403020204020204" pitchFamily="34" charset="0"/>
              </a:rPr>
              <a:t>/registration</a:t>
            </a:r>
          </a:p>
        </p:txBody>
      </p:sp>
      <p:cxnSp>
        <p:nvCxnSpPr>
          <p:cNvPr id="13" name="Straight Arrow Connector 12">
            <a:extLst>
              <a:ext uri="{FF2B5EF4-FFF2-40B4-BE49-F238E27FC236}">
                <a16:creationId xmlns:a16="http://schemas.microsoft.com/office/drawing/2014/main" id="{8FAD099C-F902-1144-A1FA-BA65116B7308}"/>
              </a:ext>
            </a:extLst>
          </p:cNvPr>
          <p:cNvCxnSpPr>
            <a:cxnSpLocks/>
          </p:cNvCxnSpPr>
          <p:nvPr/>
        </p:nvCxnSpPr>
        <p:spPr>
          <a:xfrm flipH="1">
            <a:off x="1468955" y="2368153"/>
            <a:ext cx="7750" cy="641049"/>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74C7701-8568-E046-ACED-97662C30F4C9}"/>
              </a:ext>
            </a:extLst>
          </p:cNvPr>
          <p:cNvCxnSpPr/>
          <p:nvPr/>
        </p:nvCxnSpPr>
        <p:spPr>
          <a:xfrm flipV="1">
            <a:off x="2084510" y="3701790"/>
            <a:ext cx="1212771"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F1C0F73-7B82-5E46-ABEE-96BBA7D638F4}"/>
              </a:ext>
            </a:extLst>
          </p:cNvPr>
          <p:cNvCxnSpPr>
            <a:cxnSpLocks/>
            <a:stCxn id="18" idx="3"/>
          </p:cNvCxnSpPr>
          <p:nvPr/>
        </p:nvCxnSpPr>
        <p:spPr>
          <a:xfrm>
            <a:off x="4519874" y="2557399"/>
            <a:ext cx="1064654"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529CA95-9B47-8847-8B43-C11DF5F3FBF5}"/>
              </a:ext>
            </a:extLst>
          </p:cNvPr>
          <p:cNvSpPr txBox="1"/>
          <p:nvPr/>
        </p:nvSpPr>
        <p:spPr>
          <a:xfrm>
            <a:off x="3399191" y="2357344"/>
            <a:ext cx="1120683" cy="400110"/>
          </a:xfrm>
          <a:prstGeom prst="rect">
            <a:avLst/>
          </a:prstGeom>
          <a:noFill/>
        </p:spPr>
        <p:txBody>
          <a:bodyPr wrap="square" rtlCol="0">
            <a:spAutoFit/>
          </a:bodyPr>
          <a:lstStyle/>
          <a:p>
            <a:r>
              <a:rPr lang="en-US" sz="2000">
                <a:latin typeface="Amazon Ember" panose="02000000000000000000" pitchFamily="2" charset="0"/>
                <a:ea typeface="Amazon Ember" panose="02000000000000000000" pitchFamily="2" charset="0"/>
                <a:cs typeface="Amazon Ember Light" panose="020B0403020204020204" pitchFamily="34" charset="0"/>
              </a:rPr>
              <a:t>/orders</a:t>
            </a:r>
          </a:p>
        </p:txBody>
      </p:sp>
      <p:grpSp>
        <p:nvGrpSpPr>
          <p:cNvPr id="19" name="Group 18">
            <a:extLst>
              <a:ext uri="{FF2B5EF4-FFF2-40B4-BE49-F238E27FC236}">
                <a16:creationId xmlns:a16="http://schemas.microsoft.com/office/drawing/2014/main" id="{8EB0AC84-BE22-0B44-A7E8-A6DF64F0152A}"/>
              </a:ext>
            </a:extLst>
          </p:cNvPr>
          <p:cNvGrpSpPr/>
          <p:nvPr/>
        </p:nvGrpSpPr>
        <p:grpSpPr>
          <a:xfrm>
            <a:off x="5691586" y="1940886"/>
            <a:ext cx="4315981" cy="1052054"/>
            <a:chOff x="5691586" y="1940886"/>
            <a:chExt cx="4315981" cy="1052054"/>
          </a:xfrm>
        </p:grpSpPr>
        <p:sp>
          <p:nvSpPr>
            <p:cNvPr id="26" name="TextBox 25">
              <a:extLst>
                <a:ext uri="{FF2B5EF4-FFF2-40B4-BE49-F238E27FC236}">
                  <a16:creationId xmlns:a16="http://schemas.microsoft.com/office/drawing/2014/main" id="{527EC391-E51C-474A-BA2D-CBC5E19562F9}"/>
                </a:ext>
              </a:extLst>
            </p:cNvPr>
            <p:cNvSpPr txBox="1"/>
            <p:nvPr/>
          </p:nvSpPr>
          <p:spPr>
            <a:xfrm>
              <a:off x="6120258" y="2297636"/>
              <a:ext cx="1270861" cy="338554"/>
            </a:xfrm>
            <a:prstGeom prst="rect">
              <a:avLst/>
            </a:prstGeom>
            <a:noFill/>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Orders</a:t>
              </a:r>
            </a:p>
          </p:txBody>
        </p:sp>
        <p:sp>
          <p:nvSpPr>
            <p:cNvPr id="24" name="TextBox 23">
              <a:extLst>
                <a:ext uri="{FF2B5EF4-FFF2-40B4-BE49-F238E27FC236}">
                  <a16:creationId xmlns:a16="http://schemas.microsoft.com/office/drawing/2014/main" id="{4F9FCFAA-86D5-3041-BC02-292598FEADAF}"/>
                </a:ext>
              </a:extLst>
            </p:cNvPr>
            <p:cNvSpPr txBox="1"/>
            <p:nvPr/>
          </p:nvSpPr>
          <p:spPr>
            <a:xfrm>
              <a:off x="8278119" y="2297636"/>
              <a:ext cx="1270861" cy="338554"/>
            </a:xfrm>
            <a:prstGeom prst="rect">
              <a:avLst/>
            </a:prstGeom>
            <a:noFill/>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Orders</a:t>
              </a:r>
            </a:p>
          </p:txBody>
        </p:sp>
        <p:sp>
          <p:nvSpPr>
            <p:cNvPr id="22" name="Rounded Rectangle 21">
              <a:extLst>
                <a:ext uri="{FF2B5EF4-FFF2-40B4-BE49-F238E27FC236}">
                  <a16:creationId xmlns:a16="http://schemas.microsoft.com/office/drawing/2014/main" id="{0F646201-70C7-4D45-8406-7CAC5EA702B0}"/>
                </a:ext>
              </a:extLst>
            </p:cNvPr>
            <p:cNvSpPr/>
            <p:nvPr/>
          </p:nvSpPr>
          <p:spPr>
            <a:xfrm>
              <a:off x="5691586" y="1940886"/>
              <a:ext cx="4315981" cy="1052054"/>
            </a:xfrm>
            <a:prstGeom prst="roundRect">
              <a:avLst/>
            </a:prstGeom>
            <a:noFill/>
            <a:ln w="25400" cmpd="sng">
              <a:solidFill>
                <a:srgbClr val="FF3C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grpSp>
      <p:cxnSp>
        <p:nvCxnSpPr>
          <p:cNvPr id="27" name="Straight Arrow Connector 26">
            <a:extLst>
              <a:ext uri="{FF2B5EF4-FFF2-40B4-BE49-F238E27FC236}">
                <a16:creationId xmlns:a16="http://schemas.microsoft.com/office/drawing/2014/main" id="{35E927DC-CF15-3F45-B5ED-79111ECDFFAE}"/>
              </a:ext>
            </a:extLst>
          </p:cNvPr>
          <p:cNvCxnSpPr>
            <a:cxnSpLocks/>
          </p:cNvCxnSpPr>
          <p:nvPr/>
        </p:nvCxnSpPr>
        <p:spPr>
          <a:xfrm flipV="1">
            <a:off x="4506128" y="3656740"/>
            <a:ext cx="1009830" cy="5304"/>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039FCFA-01D6-3943-BD72-2C7DE449BF72}"/>
              </a:ext>
            </a:extLst>
          </p:cNvPr>
          <p:cNvSpPr txBox="1"/>
          <p:nvPr/>
        </p:nvSpPr>
        <p:spPr>
          <a:xfrm>
            <a:off x="3336896" y="3481415"/>
            <a:ext cx="1243955" cy="400110"/>
          </a:xfrm>
          <a:prstGeom prst="rect">
            <a:avLst/>
          </a:prstGeom>
          <a:noFill/>
        </p:spPr>
        <p:txBody>
          <a:bodyPr wrap="square" rtlCol="0">
            <a:spAutoFit/>
          </a:bodyPr>
          <a:lstStyle/>
          <a:p>
            <a:r>
              <a:rPr lang="en-US" sz="2000">
                <a:latin typeface="Amazon Ember" panose="02000000000000000000" pitchFamily="2" charset="0"/>
                <a:ea typeface="Amazon Ember" panose="02000000000000000000" pitchFamily="2" charset="0"/>
                <a:cs typeface="Amazon Ember Light" panose="020B0403020204020204" pitchFamily="34" charset="0"/>
              </a:rPr>
              <a:t>/images</a:t>
            </a:r>
          </a:p>
        </p:txBody>
      </p:sp>
      <p:grpSp>
        <p:nvGrpSpPr>
          <p:cNvPr id="29" name="Group 28">
            <a:extLst>
              <a:ext uri="{FF2B5EF4-FFF2-40B4-BE49-F238E27FC236}">
                <a16:creationId xmlns:a16="http://schemas.microsoft.com/office/drawing/2014/main" id="{39183211-C211-1345-BC24-0C185FA58D45}"/>
              </a:ext>
            </a:extLst>
          </p:cNvPr>
          <p:cNvGrpSpPr/>
          <p:nvPr/>
        </p:nvGrpSpPr>
        <p:grpSpPr>
          <a:xfrm>
            <a:off x="5691585" y="3140686"/>
            <a:ext cx="4315981" cy="1052054"/>
            <a:chOff x="5691585" y="3136500"/>
            <a:chExt cx="4315981" cy="1052054"/>
          </a:xfrm>
        </p:grpSpPr>
        <p:sp>
          <p:nvSpPr>
            <p:cNvPr id="36" name="TextBox 35">
              <a:extLst>
                <a:ext uri="{FF2B5EF4-FFF2-40B4-BE49-F238E27FC236}">
                  <a16:creationId xmlns:a16="http://schemas.microsoft.com/office/drawing/2014/main" id="{57B5FB84-8BE7-8846-AEF7-A77B4B5E1739}"/>
                </a:ext>
              </a:extLst>
            </p:cNvPr>
            <p:cNvSpPr txBox="1"/>
            <p:nvPr/>
          </p:nvSpPr>
          <p:spPr>
            <a:xfrm>
              <a:off x="6108141" y="3493250"/>
              <a:ext cx="1270861" cy="338554"/>
            </a:xfrm>
            <a:prstGeom prst="rect">
              <a:avLst/>
            </a:prstGeom>
            <a:noFill/>
            <a:ln>
              <a:noFill/>
            </a:ln>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Images</a:t>
              </a:r>
            </a:p>
          </p:txBody>
        </p:sp>
        <p:sp>
          <p:nvSpPr>
            <p:cNvPr id="34" name="TextBox 33">
              <a:extLst>
                <a:ext uri="{FF2B5EF4-FFF2-40B4-BE49-F238E27FC236}">
                  <a16:creationId xmlns:a16="http://schemas.microsoft.com/office/drawing/2014/main" id="{B77A6486-8251-6445-9C51-91E6947AFF6D}"/>
                </a:ext>
              </a:extLst>
            </p:cNvPr>
            <p:cNvSpPr txBox="1"/>
            <p:nvPr/>
          </p:nvSpPr>
          <p:spPr>
            <a:xfrm>
              <a:off x="8302913" y="3493250"/>
              <a:ext cx="1270861" cy="338554"/>
            </a:xfrm>
            <a:prstGeom prst="rect">
              <a:avLst/>
            </a:prstGeom>
            <a:noFill/>
            <a:ln>
              <a:noFill/>
            </a:ln>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Images</a:t>
              </a:r>
            </a:p>
          </p:txBody>
        </p:sp>
        <p:sp>
          <p:nvSpPr>
            <p:cNvPr id="32" name="Rounded Rectangle 31">
              <a:extLst>
                <a:ext uri="{FF2B5EF4-FFF2-40B4-BE49-F238E27FC236}">
                  <a16:creationId xmlns:a16="http://schemas.microsoft.com/office/drawing/2014/main" id="{A22AB5B2-4983-D14F-AFD6-5F5437225E77}"/>
                </a:ext>
              </a:extLst>
            </p:cNvPr>
            <p:cNvSpPr/>
            <p:nvPr/>
          </p:nvSpPr>
          <p:spPr>
            <a:xfrm>
              <a:off x="5691585" y="3136500"/>
              <a:ext cx="4315981" cy="1052054"/>
            </a:xfrm>
            <a:prstGeom prst="roundRect">
              <a:avLst/>
            </a:prstGeom>
            <a:noFill/>
            <a:ln w="25400" cmpd="sng">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grpSp>
      <p:grpSp>
        <p:nvGrpSpPr>
          <p:cNvPr id="37" name="Group 36">
            <a:extLst>
              <a:ext uri="{FF2B5EF4-FFF2-40B4-BE49-F238E27FC236}">
                <a16:creationId xmlns:a16="http://schemas.microsoft.com/office/drawing/2014/main" id="{09BC4591-C634-D44E-B4FF-89B0D9C45FCB}"/>
              </a:ext>
            </a:extLst>
          </p:cNvPr>
          <p:cNvGrpSpPr/>
          <p:nvPr/>
        </p:nvGrpSpPr>
        <p:grpSpPr>
          <a:xfrm>
            <a:off x="5691585" y="4340486"/>
            <a:ext cx="4315981" cy="1052054"/>
            <a:chOff x="5691585" y="4340486"/>
            <a:chExt cx="4315981" cy="1052054"/>
          </a:xfrm>
        </p:grpSpPr>
        <p:sp>
          <p:nvSpPr>
            <p:cNvPr id="44" name="TextBox 43">
              <a:extLst>
                <a:ext uri="{FF2B5EF4-FFF2-40B4-BE49-F238E27FC236}">
                  <a16:creationId xmlns:a16="http://schemas.microsoft.com/office/drawing/2014/main" id="{9415A4F7-A8A4-0B43-B999-8C87B0CEE1FA}"/>
                </a:ext>
              </a:extLst>
            </p:cNvPr>
            <p:cNvSpPr txBox="1"/>
            <p:nvPr/>
          </p:nvSpPr>
          <p:spPr>
            <a:xfrm>
              <a:off x="6100391" y="4697236"/>
              <a:ext cx="1270861" cy="338554"/>
            </a:xfrm>
            <a:prstGeom prst="rect">
              <a:avLst/>
            </a:prstGeom>
            <a:noFill/>
            <a:ln>
              <a:noFill/>
            </a:ln>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Reg</a:t>
              </a:r>
            </a:p>
          </p:txBody>
        </p:sp>
        <p:sp>
          <p:nvSpPr>
            <p:cNvPr id="42" name="TextBox 41">
              <a:extLst>
                <a:ext uri="{FF2B5EF4-FFF2-40B4-BE49-F238E27FC236}">
                  <a16:creationId xmlns:a16="http://schemas.microsoft.com/office/drawing/2014/main" id="{97EE915C-4FC3-4649-A574-3A40F878BCC3}"/>
                </a:ext>
              </a:extLst>
            </p:cNvPr>
            <p:cNvSpPr txBox="1"/>
            <p:nvPr/>
          </p:nvSpPr>
          <p:spPr>
            <a:xfrm>
              <a:off x="8270369" y="4697236"/>
              <a:ext cx="1270861" cy="338554"/>
            </a:xfrm>
            <a:prstGeom prst="rect">
              <a:avLst/>
            </a:prstGeom>
            <a:noFill/>
            <a:ln>
              <a:noFill/>
            </a:ln>
          </p:spPr>
          <p:txBody>
            <a:bodyPr wrap="square" rtlCol="0">
              <a:spAutoFit/>
            </a:bodyPr>
            <a:lstStyle/>
            <a:p>
              <a:pPr algn="ctr"/>
              <a:r>
                <a:rPr lang="en-US" sz="1600" b="1">
                  <a:latin typeface="Amazon Ember" panose="020B0603020204020204" pitchFamily="34" charset="0"/>
                  <a:ea typeface="Amazon Ember" panose="020B0603020204020204" pitchFamily="34" charset="0"/>
                  <a:cs typeface="Amazon Ember" panose="020B0603020204020204" pitchFamily="34" charset="0"/>
                </a:rPr>
                <a:t>Reg</a:t>
              </a:r>
            </a:p>
          </p:txBody>
        </p:sp>
        <p:sp>
          <p:nvSpPr>
            <p:cNvPr id="40" name="Rounded Rectangle 39">
              <a:extLst>
                <a:ext uri="{FF2B5EF4-FFF2-40B4-BE49-F238E27FC236}">
                  <a16:creationId xmlns:a16="http://schemas.microsoft.com/office/drawing/2014/main" id="{BE1D0BD2-0F08-D445-9A06-505681CB4008}"/>
                </a:ext>
              </a:extLst>
            </p:cNvPr>
            <p:cNvSpPr/>
            <p:nvPr/>
          </p:nvSpPr>
          <p:spPr>
            <a:xfrm>
              <a:off x="5691585" y="4340486"/>
              <a:ext cx="4315981" cy="1052054"/>
            </a:xfrm>
            <a:prstGeom prst="roundRect">
              <a:avLst/>
            </a:prstGeom>
            <a:noFill/>
            <a:ln w="25400" cmpd="sng">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grpSp>
      <p:sp>
        <p:nvSpPr>
          <p:cNvPr id="45" name="TextBox 44">
            <a:extLst>
              <a:ext uri="{FF2B5EF4-FFF2-40B4-BE49-F238E27FC236}">
                <a16:creationId xmlns:a16="http://schemas.microsoft.com/office/drawing/2014/main" id="{7984E806-5856-A649-BF8F-8734242D76FD}"/>
              </a:ext>
            </a:extLst>
          </p:cNvPr>
          <p:cNvSpPr txBox="1"/>
          <p:nvPr/>
        </p:nvSpPr>
        <p:spPr>
          <a:xfrm>
            <a:off x="232972" y="1951046"/>
            <a:ext cx="2681207" cy="369332"/>
          </a:xfrm>
          <a:prstGeom prst="rect">
            <a:avLst/>
          </a:prstGeom>
          <a:noFill/>
        </p:spPr>
        <p:txBody>
          <a:bodyPr wrap="square" rtlCol="0">
            <a:spAutoFit/>
          </a:bodyPr>
          <a:lstStyle/>
          <a:p>
            <a:pPr algn="ctr"/>
            <a:r>
              <a:rPr lang="en-US" sz="1800">
                <a:latin typeface="Amazon Ember" panose="020B0603020204020204" pitchFamily="34" charset="0"/>
                <a:ea typeface="Amazon Ember" panose="020B0603020204020204" pitchFamily="34" charset="0"/>
                <a:cs typeface="Amazon Ember" panose="020B0603020204020204" pitchFamily="34" charset="0"/>
              </a:rPr>
              <a:t>www.example.com</a:t>
            </a:r>
          </a:p>
        </p:txBody>
      </p:sp>
      <p:sp>
        <p:nvSpPr>
          <p:cNvPr id="46" name="TextBox 45">
            <a:extLst>
              <a:ext uri="{FF2B5EF4-FFF2-40B4-BE49-F238E27FC236}">
                <a16:creationId xmlns:a16="http://schemas.microsoft.com/office/drawing/2014/main" id="{E3C0960A-3D31-6D47-8EAA-93DE09090CDD}"/>
              </a:ext>
            </a:extLst>
          </p:cNvPr>
          <p:cNvSpPr txBox="1"/>
          <p:nvPr/>
        </p:nvSpPr>
        <p:spPr>
          <a:xfrm>
            <a:off x="318003" y="4031272"/>
            <a:ext cx="2301904" cy="584775"/>
          </a:xfrm>
          <a:prstGeom prst="rect">
            <a:avLst/>
          </a:prstGeom>
          <a:noFill/>
        </p:spPr>
        <p:txBody>
          <a:bodyPr wrap="square" rtlCol="0">
            <a:spAutoFit/>
          </a:bodyPr>
          <a:lstStyle/>
          <a:p>
            <a:pPr algn="ctr"/>
            <a:r>
              <a:rPr lang="en-US" sz="1600">
                <a:solidFill>
                  <a:srgbClr val="232F3D"/>
                </a:solidFill>
                <a:latin typeface="Amazon Ember" panose="02000000000000000000" pitchFamily="2" charset="0"/>
              </a:rPr>
              <a:t>Elastic Load Balancing (ELB)</a:t>
            </a:r>
          </a:p>
        </p:txBody>
      </p:sp>
      <p:pic>
        <p:nvPicPr>
          <p:cNvPr id="47" name="Graphic 7">
            <a:extLst>
              <a:ext uri="{FF2B5EF4-FFF2-40B4-BE49-F238E27FC236}">
                <a16:creationId xmlns:a16="http://schemas.microsoft.com/office/drawing/2014/main" id="{708E5D6B-3B0D-7E46-91EF-00B2766437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3355" y="3320072"/>
            <a:ext cx="711200" cy="711200"/>
          </a:xfrm>
          <a:prstGeom prst="rect">
            <a:avLst/>
          </a:prstGeom>
        </p:spPr>
      </p:pic>
      <p:sp>
        <p:nvSpPr>
          <p:cNvPr id="48" name="Rectangle 47">
            <a:extLst>
              <a:ext uri="{FF2B5EF4-FFF2-40B4-BE49-F238E27FC236}">
                <a16:creationId xmlns:a16="http://schemas.microsoft.com/office/drawing/2014/main" id="{2BBBCCDD-1FC1-5745-81F7-77B80C06A4DB}"/>
              </a:ext>
            </a:extLst>
          </p:cNvPr>
          <p:cNvSpPr/>
          <p:nvPr/>
        </p:nvSpPr>
        <p:spPr>
          <a:xfrm>
            <a:off x="5218023" y="1467853"/>
            <a:ext cx="2470473" cy="4278191"/>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mazon Ember" panose="02000000000000000000" pitchFamily="2" charset="0"/>
                <a:ea typeface="+mn-ea"/>
                <a:cs typeface="+mn-cs"/>
              </a:rPr>
              <a:t>Availability Zone A</a:t>
            </a:r>
          </a:p>
        </p:txBody>
      </p:sp>
      <p:sp>
        <p:nvSpPr>
          <p:cNvPr id="49" name="Rectangle 48">
            <a:extLst>
              <a:ext uri="{FF2B5EF4-FFF2-40B4-BE49-F238E27FC236}">
                <a16:creationId xmlns:a16="http://schemas.microsoft.com/office/drawing/2014/main" id="{84EC1B06-3A91-1148-9D07-4EB1099F15BD}"/>
              </a:ext>
            </a:extLst>
          </p:cNvPr>
          <p:cNvSpPr/>
          <p:nvPr/>
        </p:nvSpPr>
        <p:spPr>
          <a:xfrm>
            <a:off x="7794463" y="1467853"/>
            <a:ext cx="2470473" cy="4278191"/>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mazon Ember" panose="02000000000000000000" pitchFamily="2" charset="0"/>
                <a:ea typeface="+mn-ea"/>
                <a:cs typeface="+mn-cs"/>
              </a:rPr>
              <a:t>Availability Zone B</a:t>
            </a:r>
          </a:p>
        </p:txBody>
      </p:sp>
      <p:pic>
        <p:nvPicPr>
          <p:cNvPr id="51"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15270" y="1996790"/>
            <a:ext cx="1334152" cy="1005840"/>
          </a:xfrm>
          <a:prstGeom prst="rect">
            <a:avLst/>
          </a:prstGeom>
        </p:spPr>
      </p:pic>
      <p:pic>
        <p:nvPicPr>
          <p:cNvPr id="52"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2913" y="1963993"/>
            <a:ext cx="1334152" cy="1005840"/>
          </a:xfrm>
          <a:prstGeom prst="rect">
            <a:avLst/>
          </a:prstGeom>
        </p:spPr>
      </p:pic>
      <p:pic>
        <p:nvPicPr>
          <p:cNvPr id="53"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2209" y="3167066"/>
            <a:ext cx="1173181" cy="1005840"/>
          </a:xfrm>
          <a:prstGeom prst="rect">
            <a:avLst/>
          </a:prstGeom>
        </p:spPr>
      </p:pic>
      <p:pic>
        <p:nvPicPr>
          <p:cNvPr id="54"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31288" y="3198870"/>
            <a:ext cx="1227052" cy="1005840"/>
          </a:xfrm>
          <a:prstGeom prst="rect">
            <a:avLst/>
          </a:prstGeom>
        </p:spPr>
      </p:pic>
      <p:pic>
        <p:nvPicPr>
          <p:cNvPr id="55"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84480" y="4363520"/>
            <a:ext cx="1181550" cy="1005840"/>
          </a:xfrm>
          <a:prstGeom prst="rect">
            <a:avLst/>
          </a:prstGeom>
        </p:spPr>
      </p:pic>
      <p:pic>
        <p:nvPicPr>
          <p:cNvPr id="56" name="Graphic 135">
            <a:extLst>
              <a:ext uri="{FF2B5EF4-FFF2-40B4-BE49-F238E27FC236}">
                <a16:creationId xmlns:a16="http://schemas.microsoft.com/office/drawing/2014/main" id="{C19987B1-DB3A-1640-994D-BCB81FCC1A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10629" y="4340486"/>
            <a:ext cx="1005840" cy="1005840"/>
          </a:xfrm>
          <a:prstGeom prst="rect">
            <a:avLst/>
          </a:prstGeom>
        </p:spPr>
      </p:pic>
      <p:cxnSp>
        <p:nvCxnSpPr>
          <p:cNvPr id="38" name="Elbow Connector 37">
            <a:extLst>
              <a:ext uri="{FF2B5EF4-FFF2-40B4-BE49-F238E27FC236}">
                <a16:creationId xmlns:a16="http://schemas.microsoft.com/office/drawing/2014/main" id="{9E773290-9E05-834A-97B8-6380BAC893E9}"/>
              </a:ext>
            </a:extLst>
          </p:cNvPr>
          <p:cNvCxnSpPr>
            <a:cxnSpLocks/>
          </p:cNvCxnSpPr>
          <p:nvPr/>
        </p:nvCxnSpPr>
        <p:spPr>
          <a:xfrm flipV="1">
            <a:off x="2081413" y="2579547"/>
            <a:ext cx="1253113" cy="1044364"/>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cxnSp>
        <p:nvCxnSpPr>
          <p:cNvPr id="41" name="Elbow Connector 40">
            <a:extLst>
              <a:ext uri="{FF2B5EF4-FFF2-40B4-BE49-F238E27FC236}">
                <a16:creationId xmlns:a16="http://schemas.microsoft.com/office/drawing/2014/main" id="{9E773290-9E05-834A-97B8-6380BAC893E9}"/>
              </a:ext>
            </a:extLst>
          </p:cNvPr>
          <p:cNvCxnSpPr>
            <a:cxnSpLocks/>
          </p:cNvCxnSpPr>
          <p:nvPr/>
        </p:nvCxnSpPr>
        <p:spPr>
          <a:xfrm>
            <a:off x="2070569" y="3754509"/>
            <a:ext cx="1235815" cy="1097083"/>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39" name="Footer Placeholder 2"/>
          <p:cNvSpPr txBox="1">
            <a:spLocks/>
          </p:cNvSpPr>
          <p:nvPr/>
        </p:nvSpPr>
        <p:spPr>
          <a:xfrm>
            <a:off x="571500" y="6508750"/>
            <a:ext cx="6871048" cy="365125"/>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t>© 2019 Amazon Web Services, Inc. or its Affiliates. All rights reserved.</a:t>
            </a:r>
          </a:p>
        </p:txBody>
      </p:sp>
      <p:sp>
        <p:nvSpPr>
          <p:cNvPr id="3" name="Footer Placeholder 2"/>
          <p:cNvSpPr>
            <a:spLocks noGrp="1"/>
          </p:cNvSpPr>
          <p:nvPr>
            <p:ph type="ftr" sz="quarter" idx="3"/>
          </p:nvPr>
        </p:nvSpPr>
        <p:spPr/>
        <p:txBody>
          <a:bodyPr/>
          <a:lstStyle/>
          <a:p>
            <a:pPr>
              <a:defRPr/>
            </a:pPr>
            <a:r>
              <a:rPr lang="en-US">
                <a:solidFill>
                  <a:srgbClr val="000000">
                    <a:tint val="75000"/>
                  </a:srgbClr>
                </a:solidFill>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895329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a:t>Create an Application Load Balancer: </a:t>
            </a:r>
            <a:br>
              <a:rPr lang="en-US" sz="3600" b="1"/>
            </a:br>
            <a:r>
              <a:rPr lang="en-US" sz="3600" b="1"/>
              <a:t>AWS CLI</a:t>
            </a:r>
          </a:p>
        </p:txBody>
      </p:sp>
      <p:sp>
        <p:nvSpPr>
          <p:cNvPr id="5" name="Rounded Rectangle 4"/>
          <p:cNvSpPr/>
          <p:nvPr/>
        </p:nvSpPr>
        <p:spPr>
          <a:xfrm>
            <a:off x="692738" y="2888792"/>
            <a:ext cx="7600671" cy="1409044"/>
          </a:xfrm>
          <a:prstGeom prst="roundRect">
            <a:avLst>
              <a:gd name="adj" fmla="val 9580"/>
            </a:avLst>
          </a:prstGeom>
          <a:solidFill>
            <a:schemeClr val="bg1">
              <a:lumMod val="9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sz="1600" b="1">
                <a:solidFill>
                  <a:schemeClr val="accent1">
                    <a:lumMod val="75000"/>
                  </a:schemeClr>
                </a:solidFill>
                <a:latin typeface="Courier New" panose="02070309020205020404" pitchFamily="49" charset="0"/>
                <a:cs typeface="Courier New" panose="02070309020205020404" pitchFamily="49" charset="0"/>
              </a:rPr>
              <a:t>aws elbv2 create-load-balancer \</a:t>
            </a:r>
          </a:p>
          <a:p>
            <a:r>
              <a:rPr lang="en-US" sz="1600" b="1">
                <a:solidFill>
                  <a:schemeClr val="accent1">
                    <a:lumMod val="75000"/>
                  </a:schemeClr>
                </a:solidFill>
                <a:latin typeface="Courier New" panose="02070309020205020404" pitchFamily="49" charset="0"/>
                <a:cs typeface="Courier New" panose="02070309020205020404" pitchFamily="49" charset="0"/>
              </a:rPr>
              <a:t>--name </a:t>
            </a:r>
            <a:r>
              <a:rPr lang="en-US" sz="1600" b="1">
                <a:solidFill>
                  <a:schemeClr val="accent6"/>
                </a:solidFill>
                <a:latin typeface="Courier New" panose="02070309020205020404" pitchFamily="49" charset="0"/>
                <a:cs typeface="Courier New" panose="02070309020205020404" pitchFamily="49" charset="0"/>
              </a:rPr>
              <a:t>my-load-balancer</a:t>
            </a:r>
            <a:r>
              <a:rPr lang="en-US" sz="1600" b="1">
                <a:latin typeface="Courier New" panose="02070309020205020404" pitchFamily="49" charset="0"/>
                <a:cs typeface="Courier New" panose="02070309020205020404" pitchFamily="49" charset="0"/>
              </a:rPr>
              <a:t> \</a:t>
            </a:r>
          </a:p>
          <a:p>
            <a:r>
              <a:rPr lang="en-US" sz="1600" b="1">
                <a:solidFill>
                  <a:schemeClr val="accent1">
                    <a:lumMod val="75000"/>
                  </a:schemeClr>
                </a:solidFill>
                <a:latin typeface="Courier New" panose="02070309020205020404" pitchFamily="49" charset="0"/>
                <a:cs typeface="Courier New" panose="02070309020205020404" pitchFamily="49" charset="0"/>
              </a:rPr>
              <a:t>--subnets </a:t>
            </a:r>
            <a:r>
              <a:rPr lang="en-US" sz="1600" b="1">
                <a:solidFill>
                  <a:schemeClr val="accent6"/>
                </a:solidFill>
                <a:latin typeface="Courier New" panose="02070309020205020404" pitchFamily="49" charset="0"/>
                <a:cs typeface="Courier New" panose="02070309020205020404" pitchFamily="49" charset="0"/>
              </a:rPr>
              <a:t>subnet-12345678 subnet-23456789 </a:t>
            </a:r>
            <a:r>
              <a:rPr lang="en-US" sz="1600" b="1">
                <a:latin typeface="Courier New" panose="02070309020205020404" pitchFamily="49" charset="0"/>
                <a:cs typeface="Courier New" panose="02070309020205020404" pitchFamily="49" charset="0"/>
              </a:rPr>
              <a:t>\</a:t>
            </a:r>
          </a:p>
          <a:p>
            <a:r>
              <a:rPr lang="en-US" sz="1600" b="1">
                <a:solidFill>
                  <a:schemeClr val="accent1">
                    <a:lumMod val="75000"/>
                  </a:schemeClr>
                </a:solidFill>
                <a:latin typeface="Courier New" panose="02070309020205020404" pitchFamily="49" charset="0"/>
                <a:cs typeface="Courier New" panose="02070309020205020404" pitchFamily="49" charset="0"/>
              </a:rPr>
              <a:t>--security-groups </a:t>
            </a:r>
            <a:r>
              <a:rPr lang="en-US" sz="1600" b="1">
                <a:solidFill>
                  <a:schemeClr val="accent6"/>
                </a:solidFill>
                <a:latin typeface="Courier New" panose="02070309020205020404" pitchFamily="49" charset="0"/>
                <a:cs typeface="Courier New" panose="02070309020205020404" pitchFamily="49" charset="0"/>
              </a:rPr>
              <a:t>sg-12345678</a:t>
            </a:r>
          </a:p>
        </p:txBody>
      </p:sp>
      <p:sp>
        <p:nvSpPr>
          <p:cNvPr id="3" name="Rectangle 2"/>
          <p:cNvSpPr/>
          <p:nvPr/>
        </p:nvSpPr>
        <p:spPr>
          <a:xfrm>
            <a:off x="419100" y="1377408"/>
            <a:ext cx="9243120" cy="1200329"/>
          </a:xfrm>
          <a:prstGeom prst="rect">
            <a:avLst/>
          </a:prstGeom>
        </p:spPr>
        <p:txBody>
          <a:bodyPr wrap="square">
            <a:spAutoFit/>
          </a:bodyPr>
          <a:lstStyle/>
          <a:p>
            <a:pPr marL="280988" indent="-280988"/>
            <a:r>
              <a:rPr lang="en-US" sz="2400">
                <a:latin typeface="Amazon Ember" panose="02000000000000000000" pitchFamily="2" charset="0"/>
              </a:rPr>
              <a:t>1. Use the </a:t>
            </a:r>
            <a:r>
              <a:rPr lang="en-US" sz="2400" b="1">
                <a:solidFill>
                  <a:schemeClr val="tx2">
                    <a:lumMod val="75000"/>
                  </a:schemeClr>
                </a:solidFill>
                <a:latin typeface="Amazon Ember" panose="02000000000000000000" pitchFamily="2" charset="0"/>
              </a:rPr>
              <a:t>create-load-balancer command </a:t>
            </a:r>
            <a:r>
              <a:rPr lang="en-US" sz="2400">
                <a:latin typeface="Amazon Ember" panose="02000000000000000000" pitchFamily="2" charset="0"/>
              </a:rPr>
              <a:t>to create a load balancer. You must specify two subnets that are not from the same Availability Zone.</a:t>
            </a:r>
          </a:p>
        </p:txBody>
      </p:sp>
      <p:grpSp>
        <p:nvGrpSpPr>
          <p:cNvPr id="6" name="Group 5"/>
          <p:cNvGrpSpPr/>
          <p:nvPr/>
        </p:nvGrpSpPr>
        <p:grpSpPr>
          <a:xfrm>
            <a:off x="9036780" y="1771945"/>
            <a:ext cx="3044268" cy="4108588"/>
            <a:chOff x="6215577" y="1180453"/>
            <a:chExt cx="3429000" cy="5674704"/>
          </a:xfrm>
        </p:grpSpPr>
        <p:sp>
          <p:nvSpPr>
            <p:cNvPr id="10" name="Rounded Rectangle 9"/>
            <p:cNvSpPr/>
            <p:nvPr/>
          </p:nvSpPr>
          <p:spPr>
            <a:xfrm>
              <a:off x="6215577" y="4669166"/>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sz="1600">
                <a:latin typeface="Amazon Ember" panose="02000000000000000000" pitchFamily="2" charset="0"/>
                <a:ea typeface="Amazon Ember" panose="02000000000000000000" pitchFamily="2" charset="0"/>
              </a:endParaRPr>
            </a:p>
          </p:txBody>
        </p:sp>
        <p:sp>
          <p:nvSpPr>
            <p:cNvPr id="12" name="Rounded Rectangle 11"/>
            <p:cNvSpPr/>
            <p:nvPr/>
          </p:nvSpPr>
          <p:spPr>
            <a:xfrm>
              <a:off x="6844227" y="1180453"/>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sz="1600">
                  <a:solidFill>
                    <a:schemeClr val="bg1"/>
                  </a:solidFill>
                  <a:latin typeface="Amazon Ember" panose="02000000000000000000" pitchFamily="2" charset="0"/>
                  <a:ea typeface="Amazon Ember" panose="02000000000000000000" pitchFamily="2" charset="0"/>
                </a:rPr>
                <a:t>Load balancer</a:t>
              </a:r>
            </a:p>
          </p:txBody>
        </p:sp>
        <p:sp>
          <p:nvSpPr>
            <p:cNvPr id="15" name="Rounded Rectangle 14"/>
            <p:cNvSpPr/>
            <p:nvPr/>
          </p:nvSpPr>
          <p:spPr>
            <a:xfrm>
              <a:off x="66854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6" name="Rounded Rectangle 15"/>
            <p:cNvSpPr/>
            <p:nvPr/>
          </p:nvSpPr>
          <p:spPr>
            <a:xfrm>
              <a:off x="79935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7" name="Rounded Rectangle 16"/>
            <p:cNvSpPr/>
            <p:nvPr/>
          </p:nvSpPr>
          <p:spPr>
            <a:xfrm>
              <a:off x="8730177" y="5732134"/>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400">
                  <a:latin typeface="Amazon Ember" panose="02000000000000000000" pitchFamily="2" charset="0"/>
                  <a:ea typeface="Amazon Ember" panose="02000000000000000000" pitchFamily="2" charset="0"/>
                </a:rPr>
                <a:t>Health</a:t>
              </a:r>
              <a:br>
                <a:rPr lang="en-US" sz="1400">
                  <a:latin typeface="Amazon Ember" panose="02000000000000000000" pitchFamily="2" charset="0"/>
                  <a:ea typeface="Amazon Ember" panose="02000000000000000000" pitchFamily="2" charset="0"/>
                </a:rPr>
              </a:br>
              <a:r>
                <a:rPr lang="en-US" sz="1400">
                  <a:latin typeface="Amazon Ember" panose="02000000000000000000" pitchFamily="2" charset="0"/>
                  <a:ea typeface="Amazon Ember" panose="02000000000000000000" pitchFamily="2" charset="0"/>
                </a:rPr>
                <a:t>check</a:t>
              </a:r>
            </a:p>
          </p:txBody>
        </p:sp>
        <p:sp>
          <p:nvSpPr>
            <p:cNvPr id="18" name="Rounded Rectangle 17"/>
            <p:cNvSpPr/>
            <p:nvPr/>
          </p:nvSpPr>
          <p:spPr>
            <a:xfrm>
              <a:off x="6393377" y="2796684"/>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Listener</a:t>
              </a:r>
            </a:p>
          </p:txBody>
        </p:sp>
        <p:sp>
          <p:nvSpPr>
            <p:cNvPr id="19" name="Rounded Rectangle 18"/>
            <p:cNvSpPr/>
            <p:nvPr/>
          </p:nvSpPr>
          <p:spPr>
            <a:xfrm>
              <a:off x="6486867" y="3077834"/>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Rule</a:t>
              </a:r>
            </a:p>
          </p:txBody>
        </p:sp>
        <p:sp>
          <p:nvSpPr>
            <p:cNvPr id="20" name="Rounded Rectangle 19"/>
            <p:cNvSpPr/>
            <p:nvPr/>
          </p:nvSpPr>
          <p:spPr>
            <a:xfrm>
              <a:off x="7471117" y="5727374"/>
              <a:ext cx="922510" cy="482600"/>
            </a:xfrm>
            <a:prstGeom prst="roundRect">
              <a:avLst>
                <a:gd name="adj" fmla="val 48294"/>
              </a:avLst>
            </a:prstGeom>
            <a:noFill/>
            <a:ln w="19050">
              <a:no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Target group</a:t>
              </a:r>
              <a:br>
                <a:rPr lang="en-US" sz="1600">
                  <a:solidFill>
                    <a:schemeClr val="bg1"/>
                  </a:solidFill>
                  <a:latin typeface="Amazon Ember" panose="02000000000000000000" pitchFamily="2" charset="0"/>
                  <a:ea typeface="Amazon Ember" panose="02000000000000000000" pitchFamily="2" charset="0"/>
                </a:rPr>
              </a:b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21" name="Straight Connector 20"/>
            <p:cNvCxnSpPr/>
            <p:nvPr/>
          </p:nvCxnSpPr>
          <p:spPr>
            <a:xfrm>
              <a:off x="7237927" y="4195434"/>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924608" y="2156924"/>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2379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5460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923727" y="3789033"/>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9086087" y="6461148"/>
              <a:ext cx="258749" cy="394009"/>
              <a:chOff x="7685833" y="2129398"/>
              <a:chExt cx="258749" cy="394009"/>
            </a:xfrm>
          </p:grpSpPr>
          <p:sp>
            <p:nvSpPr>
              <p:cNvPr id="29" name="Shape 198"/>
              <p:cNvSpPr/>
              <p:nvPr/>
            </p:nvSpPr>
            <p:spPr>
              <a:xfrm>
                <a:off x="7685833" y="2416305"/>
                <a:ext cx="258749" cy="107102"/>
              </a:xfrm>
              <a:prstGeom prst="rect">
                <a:avLst/>
              </a:prstGeom>
              <a:solidFill>
                <a:srgbClr val="8BC943"/>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sp>
            <p:nvSpPr>
              <p:cNvPr id="30" name="Shape 199"/>
              <p:cNvSpPr/>
              <p:nvPr/>
            </p:nvSpPr>
            <p:spPr>
              <a:xfrm>
                <a:off x="7685833" y="2272851"/>
                <a:ext cx="258749" cy="107102"/>
              </a:xfrm>
              <a:prstGeom prst="rect">
                <a:avLst/>
              </a:prstGeom>
              <a:solidFill>
                <a:srgbClr val="FFFB00"/>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sp>
            <p:nvSpPr>
              <p:cNvPr id="31" name="Shape 200"/>
              <p:cNvSpPr/>
              <p:nvPr/>
            </p:nvSpPr>
            <p:spPr>
              <a:xfrm>
                <a:off x="7685833" y="2129398"/>
                <a:ext cx="258749" cy="107101"/>
              </a:xfrm>
              <a:prstGeom prst="rect">
                <a:avLst/>
              </a:prstGeom>
              <a:solidFill>
                <a:srgbClr val="FF2600"/>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grpSp>
      </p:grpSp>
      <p:sp>
        <p:nvSpPr>
          <p:cNvPr id="8" name="Rectangle 7"/>
          <p:cNvSpPr/>
          <p:nvPr/>
        </p:nvSpPr>
        <p:spPr>
          <a:xfrm>
            <a:off x="9036780" y="2831843"/>
            <a:ext cx="3092921" cy="32980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651143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a:t>Create a target group for the load balancer</a:t>
            </a:r>
          </a:p>
        </p:txBody>
      </p:sp>
      <p:sp>
        <p:nvSpPr>
          <p:cNvPr id="7" name="Rounded Rectangle 6"/>
          <p:cNvSpPr/>
          <p:nvPr/>
        </p:nvSpPr>
        <p:spPr>
          <a:xfrm>
            <a:off x="477251" y="2937705"/>
            <a:ext cx="8097252" cy="1512529"/>
          </a:xfrm>
          <a:prstGeom prst="roundRect">
            <a:avLst>
              <a:gd name="adj" fmla="val 9580"/>
            </a:avLst>
          </a:prstGeom>
          <a:solidFill>
            <a:schemeClr val="bg1">
              <a:lumMod val="9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sz="1600" b="1">
                <a:solidFill>
                  <a:schemeClr val="accent1">
                    <a:lumMod val="75000"/>
                  </a:schemeClr>
                </a:solidFill>
                <a:latin typeface="Courier New" panose="02070309020205020404" pitchFamily="49" charset="0"/>
                <a:cs typeface="Courier New" panose="02070309020205020404" pitchFamily="49" charset="0"/>
              </a:rPr>
              <a:t>aws elbv2 create-target-group \</a:t>
            </a:r>
          </a:p>
          <a:p>
            <a:r>
              <a:rPr lang="en-US" sz="1600" b="1">
                <a:solidFill>
                  <a:schemeClr val="accent1">
                    <a:lumMod val="75000"/>
                  </a:schemeClr>
                </a:solidFill>
                <a:latin typeface="Courier New" panose="02070309020205020404" pitchFamily="49" charset="0"/>
                <a:cs typeface="Courier New" panose="02070309020205020404" pitchFamily="49" charset="0"/>
              </a:rPr>
              <a:t>--name </a:t>
            </a:r>
            <a:r>
              <a:rPr lang="en-US" sz="1600" b="1">
                <a:solidFill>
                  <a:schemeClr val="accent6"/>
                </a:solidFill>
                <a:latin typeface="Courier New" panose="02070309020205020404" pitchFamily="49" charset="0"/>
                <a:cs typeface="Courier New" panose="02070309020205020404" pitchFamily="49" charset="0"/>
              </a:rPr>
              <a:t>my-targets</a:t>
            </a:r>
            <a:r>
              <a:rPr lang="en-US" sz="1600" b="1">
                <a:solidFill>
                  <a:schemeClr val="accent2">
                    <a:lumMod val="75000"/>
                  </a:schemeClr>
                </a:solidFill>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a:t>
            </a:r>
          </a:p>
          <a:p>
            <a:r>
              <a:rPr lang="en-US" sz="1600" b="1">
                <a:solidFill>
                  <a:schemeClr val="accent1">
                    <a:lumMod val="75000"/>
                  </a:schemeClr>
                </a:solidFill>
                <a:latin typeface="Courier New" panose="02070309020205020404" pitchFamily="49" charset="0"/>
                <a:cs typeface="Courier New" panose="02070309020205020404" pitchFamily="49" charset="0"/>
              </a:rPr>
              <a:t>--protocol HTTP \</a:t>
            </a:r>
          </a:p>
          <a:p>
            <a:r>
              <a:rPr lang="en-US" sz="1600" b="1">
                <a:solidFill>
                  <a:schemeClr val="accent1">
                    <a:lumMod val="75000"/>
                  </a:schemeClr>
                </a:solidFill>
                <a:latin typeface="Courier New" panose="02070309020205020404" pitchFamily="49" charset="0"/>
                <a:cs typeface="Courier New" panose="02070309020205020404" pitchFamily="49" charset="0"/>
              </a:rPr>
              <a:t>--port 80 \</a:t>
            </a:r>
          </a:p>
          <a:p>
            <a:r>
              <a:rPr lang="en-US" sz="1600" b="1">
                <a:solidFill>
                  <a:schemeClr val="accent1">
                    <a:lumMod val="75000"/>
                  </a:schemeClr>
                </a:solidFill>
                <a:latin typeface="Courier New" panose="02070309020205020404" pitchFamily="49" charset="0"/>
                <a:cs typeface="Courier New" panose="02070309020205020404" pitchFamily="49" charset="0"/>
              </a:rPr>
              <a:t>--vpc-id </a:t>
            </a:r>
            <a:r>
              <a:rPr lang="en-US" sz="1600" b="1">
                <a:solidFill>
                  <a:schemeClr val="accent6"/>
                </a:solidFill>
                <a:latin typeface="Courier New" panose="02070309020205020404" pitchFamily="49" charset="0"/>
                <a:cs typeface="Courier New" panose="02070309020205020404" pitchFamily="49" charset="0"/>
              </a:rPr>
              <a:t>vpc-12345678</a:t>
            </a:r>
          </a:p>
        </p:txBody>
      </p:sp>
      <p:sp>
        <p:nvSpPr>
          <p:cNvPr id="4" name="Rectangle 3"/>
          <p:cNvSpPr/>
          <p:nvPr/>
        </p:nvSpPr>
        <p:spPr>
          <a:xfrm>
            <a:off x="384016" y="1424354"/>
            <a:ext cx="8420220" cy="1200329"/>
          </a:xfrm>
          <a:prstGeom prst="rect">
            <a:avLst/>
          </a:prstGeom>
        </p:spPr>
        <p:txBody>
          <a:bodyPr wrap="square">
            <a:spAutoFit/>
          </a:bodyPr>
          <a:lstStyle/>
          <a:p>
            <a:pPr marL="280988" indent="-280988"/>
            <a:r>
              <a:rPr lang="en-US" sz="2400">
                <a:latin typeface="Amazon Ember" panose="02000000000000000000" pitchFamily="2" charset="0"/>
              </a:rPr>
              <a:t>2. Use the </a:t>
            </a:r>
            <a:r>
              <a:rPr lang="en-US" sz="2400" b="1">
                <a:solidFill>
                  <a:schemeClr val="tx2">
                    <a:lumMod val="75000"/>
                  </a:schemeClr>
                </a:solidFill>
                <a:latin typeface="Amazon Ember" panose="02000000000000000000" pitchFamily="2" charset="0"/>
              </a:rPr>
              <a:t>create-target-group command </a:t>
            </a:r>
            <a:r>
              <a:rPr lang="en-US" sz="2400">
                <a:latin typeface="Amazon Ember" panose="02000000000000000000" pitchFamily="2" charset="0"/>
              </a:rPr>
              <a:t>to create a target group. You must specify the Amazon VPC in which your EC2 instances are running.</a:t>
            </a:r>
          </a:p>
        </p:txBody>
      </p:sp>
      <p:grpSp>
        <p:nvGrpSpPr>
          <p:cNvPr id="8" name="Group 7"/>
          <p:cNvGrpSpPr/>
          <p:nvPr/>
        </p:nvGrpSpPr>
        <p:grpSpPr>
          <a:xfrm>
            <a:off x="9036780" y="1771945"/>
            <a:ext cx="3044268" cy="3843283"/>
            <a:chOff x="6215577" y="1180453"/>
            <a:chExt cx="3429000" cy="5308267"/>
          </a:xfrm>
        </p:grpSpPr>
        <p:sp>
          <p:nvSpPr>
            <p:cNvPr id="9" name="Rounded Rectangle 8"/>
            <p:cNvSpPr/>
            <p:nvPr/>
          </p:nvSpPr>
          <p:spPr>
            <a:xfrm>
              <a:off x="6215577" y="4879653"/>
              <a:ext cx="3429000" cy="1609067"/>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sz="1600">
                <a:latin typeface="Amazon Ember" panose="02000000000000000000" pitchFamily="2" charset="0"/>
                <a:ea typeface="Amazon Ember" panose="02000000000000000000" pitchFamily="2" charset="0"/>
              </a:endParaRPr>
            </a:p>
          </p:txBody>
        </p:sp>
        <p:sp>
          <p:nvSpPr>
            <p:cNvPr id="10" name="Rounded Rectangle 9"/>
            <p:cNvSpPr/>
            <p:nvPr/>
          </p:nvSpPr>
          <p:spPr>
            <a:xfrm>
              <a:off x="6844227" y="1180453"/>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sz="1600">
                  <a:solidFill>
                    <a:schemeClr val="bg1"/>
                  </a:solidFill>
                  <a:latin typeface="Amazon Ember" panose="02000000000000000000" pitchFamily="2" charset="0"/>
                  <a:ea typeface="Amazon Ember" panose="02000000000000000000" pitchFamily="2" charset="0"/>
                </a:rPr>
                <a:t>Load balancer</a:t>
              </a:r>
            </a:p>
          </p:txBody>
        </p:sp>
        <p:sp>
          <p:nvSpPr>
            <p:cNvPr id="14" name="Rounded Rectangle 13"/>
            <p:cNvSpPr/>
            <p:nvPr/>
          </p:nvSpPr>
          <p:spPr>
            <a:xfrm>
              <a:off x="6393377" y="2796684"/>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Listener</a:t>
              </a:r>
            </a:p>
          </p:txBody>
        </p:sp>
        <p:sp>
          <p:nvSpPr>
            <p:cNvPr id="15" name="Rounded Rectangle 14"/>
            <p:cNvSpPr/>
            <p:nvPr/>
          </p:nvSpPr>
          <p:spPr>
            <a:xfrm>
              <a:off x="6486867" y="3077834"/>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Rule</a:t>
              </a:r>
            </a:p>
          </p:txBody>
        </p:sp>
        <p:sp>
          <p:nvSpPr>
            <p:cNvPr id="16" name="Rounded Rectangle 15"/>
            <p:cNvSpPr/>
            <p:nvPr/>
          </p:nvSpPr>
          <p:spPr>
            <a:xfrm>
              <a:off x="7471117" y="5727374"/>
              <a:ext cx="922510" cy="482600"/>
            </a:xfrm>
            <a:prstGeom prst="roundRect">
              <a:avLst>
                <a:gd name="adj" fmla="val 48294"/>
              </a:avLst>
            </a:prstGeom>
            <a:noFill/>
            <a:ln w="19050">
              <a:no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Target group</a:t>
              </a:r>
              <a:br>
                <a:rPr lang="en-US" sz="1600">
                  <a:solidFill>
                    <a:schemeClr val="bg1"/>
                  </a:solidFill>
                  <a:latin typeface="Amazon Ember" panose="02000000000000000000" pitchFamily="2" charset="0"/>
                  <a:ea typeface="Amazon Ember" panose="02000000000000000000" pitchFamily="2" charset="0"/>
                </a:rPr>
              </a:b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17" name="Straight Connector 16"/>
            <p:cNvCxnSpPr/>
            <p:nvPr/>
          </p:nvCxnSpPr>
          <p:spPr>
            <a:xfrm>
              <a:off x="7237927" y="4195434"/>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924608" y="2156924"/>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2379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5460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923727" y="3789033"/>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6" name="Rectangle 25"/>
          <p:cNvSpPr/>
          <p:nvPr/>
        </p:nvSpPr>
        <p:spPr>
          <a:xfrm>
            <a:off x="8888427" y="1538790"/>
            <a:ext cx="3092921" cy="234527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2"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410867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17" y="1490035"/>
            <a:ext cx="8513798" cy="1938992"/>
          </a:xfrm>
          <a:prstGeom prst="rect">
            <a:avLst/>
          </a:prstGeom>
        </p:spPr>
        <p:txBody>
          <a:bodyPr wrap="square">
            <a:spAutoFit/>
          </a:bodyPr>
          <a:lstStyle/>
          <a:p>
            <a:r>
              <a:rPr lang="en-US" sz="2400">
                <a:latin typeface="Amazon Ember" panose="02000000000000000000" pitchFamily="2" charset="0"/>
              </a:rPr>
              <a:t>3. Use the </a:t>
            </a:r>
            <a:r>
              <a:rPr lang="en-US" sz="2400" b="1">
                <a:solidFill>
                  <a:schemeClr val="tx2">
                    <a:lumMod val="75000"/>
                  </a:schemeClr>
                </a:solidFill>
                <a:latin typeface="Amazon Ember" panose="02000000000000000000" pitchFamily="2" charset="0"/>
              </a:rPr>
              <a:t>register-targets command </a:t>
            </a:r>
            <a:r>
              <a:rPr lang="en-US" sz="2400">
                <a:latin typeface="Amazon Ember" panose="02000000000000000000" pitchFamily="2" charset="0"/>
              </a:rPr>
              <a:t>to register your instances with your target group.</a:t>
            </a:r>
          </a:p>
          <a:p>
            <a:pPr marL="342900" indent="-342900">
              <a:buAutoNum type="arabicPeriod" startAt="4"/>
            </a:pPr>
            <a:endParaRPr lang="en-US" sz="2400">
              <a:latin typeface="Amazon Ember" panose="02000000000000000000" pitchFamily="2" charset="0"/>
            </a:endParaRPr>
          </a:p>
          <a:p>
            <a:endParaRPr lang="en-US" sz="2400">
              <a:latin typeface="Amazon Ember" panose="02000000000000000000" pitchFamily="2" charset="0"/>
            </a:endParaRPr>
          </a:p>
          <a:p>
            <a:endParaRPr lang="en-US" sz="2400">
              <a:latin typeface="Amazon Ember" panose="02000000000000000000" pitchFamily="2" charset="0"/>
            </a:endParaRPr>
          </a:p>
        </p:txBody>
      </p:sp>
      <p:sp>
        <p:nvSpPr>
          <p:cNvPr id="2" name="Title 1"/>
          <p:cNvSpPr>
            <a:spLocks noGrp="1"/>
          </p:cNvSpPr>
          <p:nvPr>
            <p:ph type="title"/>
          </p:nvPr>
        </p:nvSpPr>
        <p:spPr/>
        <p:txBody>
          <a:bodyPr>
            <a:noAutofit/>
          </a:bodyPr>
          <a:lstStyle/>
          <a:p>
            <a:r>
              <a:rPr lang="en-US" sz="3600" b="1"/>
              <a:t>Register EC2 instances to the target group</a:t>
            </a:r>
          </a:p>
        </p:txBody>
      </p:sp>
      <p:sp>
        <p:nvSpPr>
          <p:cNvPr id="11" name="Rounded Rectangle 10"/>
          <p:cNvSpPr/>
          <p:nvPr/>
        </p:nvSpPr>
        <p:spPr>
          <a:xfrm>
            <a:off x="465801" y="2769967"/>
            <a:ext cx="7909392" cy="1309851"/>
          </a:xfrm>
          <a:prstGeom prst="roundRect">
            <a:avLst>
              <a:gd name="adj" fmla="val 9580"/>
            </a:avLst>
          </a:prstGeom>
          <a:solidFill>
            <a:schemeClr val="bg1">
              <a:lumMod val="9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b="1">
                <a:solidFill>
                  <a:schemeClr val="accent1">
                    <a:lumMod val="75000"/>
                  </a:schemeClr>
                </a:solidFill>
                <a:latin typeface="Courier New" panose="02070309020205020404" pitchFamily="49" charset="0"/>
                <a:cs typeface="Courier New" panose="02070309020205020404" pitchFamily="49" charset="0"/>
              </a:rPr>
              <a:t>aws elbv2 register-targets \</a:t>
            </a:r>
          </a:p>
          <a:p>
            <a:r>
              <a:rPr lang="en-US" b="1">
                <a:solidFill>
                  <a:schemeClr val="accent1">
                    <a:lumMod val="75000"/>
                  </a:schemeClr>
                </a:solidFill>
                <a:latin typeface="Courier New" panose="02070309020205020404" pitchFamily="49" charset="0"/>
                <a:cs typeface="Courier New" panose="02070309020205020404" pitchFamily="49" charset="0"/>
              </a:rPr>
              <a:t>target-group-arn </a:t>
            </a:r>
            <a:r>
              <a:rPr lang="en-US" b="1" err="1">
                <a:solidFill>
                  <a:schemeClr val="accent6"/>
                </a:solidFill>
                <a:latin typeface="Courier New" panose="02070309020205020404" pitchFamily="49" charset="0"/>
                <a:cs typeface="Courier New" panose="02070309020205020404" pitchFamily="49" charset="0"/>
              </a:rPr>
              <a:t>targetgroup</a:t>
            </a:r>
            <a:r>
              <a:rPr lang="en-US" b="1">
                <a:solidFill>
                  <a:schemeClr val="accent6"/>
                </a:solidFill>
                <a:latin typeface="Courier New" panose="02070309020205020404" pitchFamily="49" charset="0"/>
                <a:cs typeface="Courier New" panose="02070309020205020404" pitchFamily="49" charset="0"/>
              </a:rPr>
              <a:t>-arn</a:t>
            </a:r>
            <a:r>
              <a:rPr lang="en-US" b="1">
                <a:solidFill>
                  <a:schemeClr val="accent1">
                    <a:lumMod val="75000"/>
                  </a:schemeClr>
                </a:solidFill>
                <a:latin typeface="Courier New" panose="02070309020205020404" pitchFamily="49" charset="0"/>
                <a:cs typeface="Courier New" panose="02070309020205020404" pitchFamily="49" charset="0"/>
              </a:rPr>
              <a:t> \</a:t>
            </a:r>
          </a:p>
          <a:p>
            <a:r>
              <a:rPr lang="en-US" b="1">
                <a:solidFill>
                  <a:schemeClr val="accent1">
                    <a:lumMod val="75000"/>
                  </a:schemeClr>
                </a:solidFill>
                <a:latin typeface="Courier New" panose="02070309020205020404" pitchFamily="49" charset="0"/>
                <a:cs typeface="Courier New" panose="02070309020205020404" pitchFamily="49" charset="0"/>
              </a:rPr>
              <a:t>--targets Id=</a:t>
            </a:r>
            <a:r>
              <a:rPr lang="en-US" b="1">
                <a:solidFill>
                  <a:schemeClr val="accent6"/>
                </a:solidFill>
                <a:latin typeface="Courier New" panose="02070309020205020404" pitchFamily="49" charset="0"/>
                <a:cs typeface="Courier New" panose="02070309020205020404" pitchFamily="49" charset="0"/>
              </a:rPr>
              <a:t>i-12345678</a:t>
            </a:r>
            <a:r>
              <a:rPr lang="en-US" b="1">
                <a:solidFill>
                  <a:schemeClr val="accent1">
                    <a:lumMod val="75000"/>
                  </a:schemeClr>
                </a:solidFill>
                <a:latin typeface="Courier New" panose="02070309020205020404" pitchFamily="49" charset="0"/>
                <a:cs typeface="Courier New" panose="02070309020205020404" pitchFamily="49" charset="0"/>
              </a:rPr>
              <a:t> Id=</a:t>
            </a:r>
            <a:r>
              <a:rPr lang="en-US" b="1">
                <a:solidFill>
                  <a:schemeClr val="accent6"/>
                </a:solidFill>
                <a:latin typeface="Courier New" panose="02070309020205020404" pitchFamily="49" charset="0"/>
                <a:cs typeface="Courier New" panose="02070309020205020404" pitchFamily="49" charset="0"/>
              </a:rPr>
              <a:t>i-23456789</a:t>
            </a:r>
          </a:p>
        </p:txBody>
      </p:sp>
      <p:grpSp>
        <p:nvGrpSpPr>
          <p:cNvPr id="9" name="Group 8"/>
          <p:cNvGrpSpPr/>
          <p:nvPr/>
        </p:nvGrpSpPr>
        <p:grpSpPr>
          <a:xfrm>
            <a:off x="9036780" y="1771945"/>
            <a:ext cx="3044268" cy="3690885"/>
            <a:chOff x="6215577" y="1180453"/>
            <a:chExt cx="3429000" cy="5097781"/>
          </a:xfrm>
        </p:grpSpPr>
        <p:sp>
          <p:nvSpPr>
            <p:cNvPr id="10" name="Rounded Rectangle 9"/>
            <p:cNvSpPr/>
            <p:nvPr/>
          </p:nvSpPr>
          <p:spPr>
            <a:xfrm>
              <a:off x="6215577" y="4669166"/>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sz="1600">
                <a:latin typeface="Amazon Ember" panose="02000000000000000000" pitchFamily="2" charset="0"/>
                <a:ea typeface="Amazon Ember" panose="02000000000000000000" pitchFamily="2" charset="0"/>
              </a:endParaRPr>
            </a:p>
          </p:txBody>
        </p:sp>
        <p:sp>
          <p:nvSpPr>
            <p:cNvPr id="12" name="Rounded Rectangle 11"/>
            <p:cNvSpPr/>
            <p:nvPr/>
          </p:nvSpPr>
          <p:spPr>
            <a:xfrm>
              <a:off x="6844227" y="1180453"/>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sz="1600">
                  <a:solidFill>
                    <a:schemeClr val="bg1"/>
                  </a:solidFill>
                  <a:latin typeface="Amazon Ember" panose="02000000000000000000" pitchFamily="2" charset="0"/>
                  <a:ea typeface="Amazon Ember" panose="02000000000000000000" pitchFamily="2" charset="0"/>
                </a:rPr>
                <a:t>Load balancer</a:t>
              </a:r>
            </a:p>
          </p:txBody>
        </p:sp>
        <p:sp>
          <p:nvSpPr>
            <p:cNvPr id="15" name="Rounded Rectangle 14"/>
            <p:cNvSpPr/>
            <p:nvPr/>
          </p:nvSpPr>
          <p:spPr>
            <a:xfrm>
              <a:off x="66854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6" name="Rounded Rectangle 15"/>
            <p:cNvSpPr/>
            <p:nvPr/>
          </p:nvSpPr>
          <p:spPr>
            <a:xfrm>
              <a:off x="79935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8" name="Rounded Rectangle 17"/>
            <p:cNvSpPr/>
            <p:nvPr/>
          </p:nvSpPr>
          <p:spPr>
            <a:xfrm>
              <a:off x="6393377" y="2796684"/>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Listener</a:t>
              </a:r>
            </a:p>
          </p:txBody>
        </p:sp>
        <p:sp>
          <p:nvSpPr>
            <p:cNvPr id="19" name="Rounded Rectangle 18"/>
            <p:cNvSpPr/>
            <p:nvPr/>
          </p:nvSpPr>
          <p:spPr>
            <a:xfrm>
              <a:off x="6486867" y="3077834"/>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Rule</a:t>
              </a:r>
            </a:p>
          </p:txBody>
        </p:sp>
        <p:sp>
          <p:nvSpPr>
            <p:cNvPr id="20" name="Rounded Rectangle 19"/>
            <p:cNvSpPr/>
            <p:nvPr/>
          </p:nvSpPr>
          <p:spPr>
            <a:xfrm>
              <a:off x="7471117" y="5727374"/>
              <a:ext cx="922510" cy="482600"/>
            </a:xfrm>
            <a:prstGeom prst="roundRect">
              <a:avLst>
                <a:gd name="adj" fmla="val 48294"/>
              </a:avLst>
            </a:prstGeom>
            <a:noFill/>
            <a:ln w="19050">
              <a:no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Target group</a:t>
              </a:r>
              <a:br>
                <a:rPr lang="en-US" sz="1600">
                  <a:solidFill>
                    <a:schemeClr val="bg1"/>
                  </a:solidFill>
                  <a:latin typeface="Amazon Ember" panose="02000000000000000000" pitchFamily="2" charset="0"/>
                  <a:ea typeface="Amazon Ember" panose="02000000000000000000" pitchFamily="2" charset="0"/>
                </a:rPr>
              </a:b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21" name="Straight Connector 20"/>
            <p:cNvCxnSpPr/>
            <p:nvPr/>
          </p:nvCxnSpPr>
          <p:spPr>
            <a:xfrm>
              <a:off x="7237927" y="4195434"/>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924608" y="2156924"/>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2379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85460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923727" y="3789033"/>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p:nvSpPr>
        <p:spPr>
          <a:xfrm>
            <a:off x="8888427" y="1538790"/>
            <a:ext cx="3092921" cy="234527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251427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16" y="1490035"/>
            <a:ext cx="8446259" cy="1569660"/>
          </a:xfrm>
          <a:prstGeom prst="rect">
            <a:avLst/>
          </a:prstGeom>
        </p:spPr>
        <p:txBody>
          <a:bodyPr wrap="square">
            <a:spAutoFit/>
          </a:bodyPr>
          <a:lstStyle/>
          <a:p>
            <a:pPr marL="342900" indent="-342900">
              <a:buAutoNum type="arabicPeriod" startAt="4"/>
            </a:pPr>
            <a:r>
              <a:rPr lang="en-US" sz="2400">
                <a:latin typeface="Amazon Ember" panose="02000000000000000000" pitchFamily="2" charset="0"/>
              </a:rPr>
              <a:t>Use the </a:t>
            </a:r>
            <a:r>
              <a:rPr lang="en-US" sz="2400" b="1">
                <a:solidFill>
                  <a:schemeClr val="tx2">
                    <a:lumMod val="75000"/>
                  </a:schemeClr>
                </a:solidFill>
                <a:latin typeface="Amazon Ember" panose="02000000000000000000" pitchFamily="2" charset="0"/>
              </a:rPr>
              <a:t>create-listener command </a:t>
            </a:r>
            <a:r>
              <a:rPr lang="en-US" sz="2400">
                <a:latin typeface="Amazon Ember" panose="02000000000000000000" pitchFamily="2" charset="0"/>
              </a:rPr>
              <a:t>to create a listener for your load balancer. The listener has a default rule that forwards requests to your target group.</a:t>
            </a:r>
          </a:p>
          <a:p>
            <a:pPr marL="352425" indent="-352425"/>
            <a:endParaRPr lang="en-US" sz="2400">
              <a:latin typeface="Amazon Ember" panose="02000000000000000000" pitchFamily="2" charset="0"/>
            </a:endParaRPr>
          </a:p>
        </p:txBody>
      </p:sp>
      <p:sp>
        <p:nvSpPr>
          <p:cNvPr id="2" name="Title 1"/>
          <p:cNvSpPr>
            <a:spLocks noGrp="1"/>
          </p:cNvSpPr>
          <p:nvPr>
            <p:ph type="title"/>
          </p:nvPr>
        </p:nvSpPr>
        <p:spPr/>
        <p:txBody>
          <a:bodyPr>
            <a:noAutofit/>
          </a:bodyPr>
          <a:lstStyle/>
          <a:p>
            <a:r>
              <a:rPr lang="en-US" sz="3600" b="1"/>
              <a:t>Register EC2 instances to the target group</a:t>
            </a:r>
          </a:p>
        </p:txBody>
      </p:sp>
      <p:sp>
        <p:nvSpPr>
          <p:cNvPr id="13" name="Rounded Rectangle 12"/>
          <p:cNvSpPr/>
          <p:nvPr/>
        </p:nvSpPr>
        <p:spPr>
          <a:xfrm>
            <a:off x="624316" y="3088139"/>
            <a:ext cx="7982450" cy="1561353"/>
          </a:xfrm>
          <a:prstGeom prst="roundRect">
            <a:avLst>
              <a:gd name="adj" fmla="val 9580"/>
            </a:avLst>
          </a:prstGeom>
          <a:solidFill>
            <a:schemeClr val="bg1">
              <a:lumMod val="9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sz="1600" b="1">
                <a:solidFill>
                  <a:schemeClr val="accent1">
                    <a:lumMod val="75000"/>
                  </a:schemeClr>
                </a:solidFill>
                <a:latin typeface="Courier New" panose="02070309020205020404" pitchFamily="49" charset="0"/>
                <a:cs typeface="Courier New" panose="02070309020205020404" pitchFamily="49" charset="0"/>
              </a:rPr>
              <a:t>aws elbv2 create-listener \</a:t>
            </a:r>
          </a:p>
          <a:p>
            <a:r>
              <a:rPr lang="en-US" sz="1600" b="1">
                <a:solidFill>
                  <a:schemeClr val="accent1">
                    <a:lumMod val="75000"/>
                  </a:schemeClr>
                </a:solidFill>
                <a:latin typeface="Courier New" panose="02070309020205020404" pitchFamily="49" charset="0"/>
                <a:cs typeface="Courier New" panose="02070309020205020404" pitchFamily="49" charset="0"/>
              </a:rPr>
              <a:t>--load-balancer-arn </a:t>
            </a:r>
            <a:r>
              <a:rPr lang="en-US" sz="1600" b="1" err="1">
                <a:solidFill>
                  <a:schemeClr val="accent6"/>
                </a:solidFill>
                <a:latin typeface="Courier New" panose="02070309020205020404" pitchFamily="49" charset="0"/>
                <a:cs typeface="Courier New" panose="02070309020205020404" pitchFamily="49" charset="0"/>
              </a:rPr>
              <a:t>loadbalancer</a:t>
            </a:r>
            <a:r>
              <a:rPr lang="en-US" sz="1600" b="1">
                <a:solidFill>
                  <a:schemeClr val="accent6"/>
                </a:solidFill>
                <a:latin typeface="Courier New" panose="02070309020205020404" pitchFamily="49" charset="0"/>
                <a:cs typeface="Courier New" panose="02070309020205020404" pitchFamily="49" charset="0"/>
              </a:rPr>
              <a:t>-arn</a:t>
            </a:r>
            <a:r>
              <a:rPr lang="en-US" sz="1600" b="1">
                <a:solidFill>
                  <a:schemeClr val="accent1">
                    <a:lumMod val="75000"/>
                  </a:schemeClr>
                </a:solidFill>
                <a:latin typeface="Courier New" panose="02070309020205020404" pitchFamily="49" charset="0"/>
                <a:cs typeface="Courier New" panose="02070309020205020404" pitchFamily="49" charset="0"/>
              </a:rPr>
              <a:t> \</a:t>
            </a:r>
          </a:p>
          <a:p>
            <a:r>
              <a:rPr lang="en-US" sz="1600" b="1">
                <a:solidFill>
                  <a:schemeClr val="accent1">
                    <a:lumMod val="75000"/>
                  </a:schemeClr>
                </a:solidFill>
                <a:latin typeface="Courier New" panose="02070309020205020404" pitchFamily="49" charset="0"/>
                <a:cs typeface="Courier New" panose="02070309020205020404" pitchFamily="49" charset="0"/>
              </a:rPr>
              <a:t>--protocol HTTP \</a:t>
            </a:r>
          </a:p>
          <a:p>
            <a:r>
              <a:rPr lang="en-US" sz="1600" b="1">
                <a:solidFill>
                  <a:schemeClr val="accent1">
                    <a:lumMod val="75000"/>
                  </a:schemeClr>
                </a:solidFill>
                <a:latin typeface="Courier New" panose="02070309020205020404" pitchFamily="49" charset="0"/>
                <a:cs typeface="Courier New" panose="02070309020205020404" pitchFamily="49" charset="0"/>
              </a:rPr>
              <a:t>--port 80 \</a:t>
            </a:r>
          </a:p>
          <a:p>
            <a:r>
              <a:rPr lang="en-US" sz="1600" b="1">
                <a:solidFill>
                  <a:schemeClr val="accent1">
                    <a:lumMod val="75000"/>
                  </a:schemeClr>
                </a:solidFill>
                <a:latin typeface="Courier New" panose="02070309020205020404" pitchFamily="49" charset="0"/>
                <a:cs typeface="Courier New" panose="02070309020205020404" pitchFamily="49" charset="0"/>
              </a:rPr>
              <a:t>--default-actions Type=forward,TargetGroupArn=</a:t>
            </a:r>
            <a:r>
              <a:rPr lang="en-US" sz="1600" b="1">
                <a:solidFill>
                  <a:schemeClr val="accent6"/>
                </a:solidFill>
                <a:latin typeface="Courier New" panose="02070309020205020404" pitchFamily="49" charset="0"/>
                <a:cs typeface="Courier New" panose="02070309020205020404" pitchFamily="49" charset="0"/>
              </a:rPr>
              <a:t>targetgroup-arn</a:t>
            </a:r>
          </a:p>
        </p:txBody>
      </p:sp>
      <p:grpSp>
        <p:nvGrpSpPr>
          <p:cNvPr id="7" name="Group 6"/>
          <p:cNvGrpSpPr/>
          <p:nvPr/>
        </p:nvGrpSpPr>
        <p:grpSpPr>
          <a:xfrm>
            <a:off x="9036780" y="1771945"/>
            <a:ext cx="3044268" cy="3690885"/>
            <a:chOff x="6215577" y="1180453"/>
            <a:chExt cx="3429000" cy="5097781"/>
          </a:xfrm>
        </p:grpSpPr>
        <p:sp>
          <p:nvSpPr>
            <p:cNvPr id="8" name="Rounded Rectangle 7"/>
            <p:cNvSpPr/>
            <p:nvPr/>
          </p:nvSpPr>
          <p:spPr>
            <a:xfrm>
              <a:off x="6215577" y="4669166"/>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sz="1600">
                <a:latin typeface="Amazon Ember" panose="02000000000000000000" pitchFamily="2" charset="0"/>
                <a:ea typeface="Amazon Ember" panose="02000000000000000000" pitchFamily="2" charset="0"/>
              </a:endParaRPr>
            </a:p>
          </p:txBody>
        </p:sp>
        <p:sp>
          <p:nvSpPr>
            <p:cNvPr id="9" name="Rounded Rectangle 8"/>
            <p:cNvSpPr/>
            <p:nvPr/>
          </p:nvSpPr>
          <p:spPr>
            <a:xfrm>
              <a:off x="6844227" y="1180453"/>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sz="1600">
                  <a:solidFill>
                    <a:schemeClr val="bg1"/>
                  </a:solidFill>
                  <a:latin typeface="Amazon Ember" panose="02000000000000000000" pitchFamily="2" charset="0"/>
                  <a:ea typeface="Amazon Ember" panose="02000000000000000000" pitchFamily="2" charset="0"/>
                </a:rPr>
                <a:t>Load balancer</a:t>
              </a:r>
            </a:p>
          </p:txBody>
        </p:sp>
        <p:sp>
          <p:nvSpPr>
            <p:cNvPr id="10" name="Rounded Rectangle 9"/>
            <p:cNvSpPr/>
            <p:nvPr/>
          </p:nvSpPr>
          <p:spPr>
            <a:xfrm>
              <a:off x="66854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2" name="Rounded Rectangle 11"/>
            <p:cNvSpPr/>
            <p:nvPr/>
          </p:nvSpPr>
          <p:spPr>
            <a:xfrm>
              <a:off x="79935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6" name="Rounded Rectangle 15"/>
            <p:cNvSpPr/>
            <p:nvPr/>
          </p:nvSpPr>
          <p:spPr>
            <a:xfrm>
              <a:off x="6393377" y="2796684"/>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Listener</a:t>
              </a:r>
            </a:p>
          </p:txBody>
        </p:sp>
        <p:sp>
          <p:nvSpPr>
            <p:cNvPr id="17" name="Rounded Rectangle 16"/>
            <p:cNvSpPr/>
            <p:nvPr/>
          </p:nvSpPr>
          <p:spPr>
            <a:xfrm>
              <a:off x="6486867" y="3077834"/>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Rule</a:t>
              </a:r>
            </a:p>
          </p:txBody>
        </p:sp>
        <p:sp>
          <p:nvSpPr>
            <p:cNvPr id="18" name="Rounded Rectangle 17"/>
            <p:cNvSpPr/>
            <p:nvPr/>
          </p:nvSpPr>
          <p:spPr>
            <a:xfrm>
              <a:off x="7471117" y="5727374"/>
              <a:ext cx="922510" cy="482600"/>
            </a:xfrm>
            <a:prstGeom prst="roundRect">
              <a:avLst>
                <a:gd name="adj" fmla="val 48294"/>
              </a:avLst>
            </a:prstGeom>
            <a:noFill/>
            <a:ln w="19050">
              <a:no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Target group</a:t>
              </a:r>
              <a:br>
                <a:rPr lang="en-US" sz="1600">
                  <a:solidFill>
                    <a:schemeClr val="bg1"/>
                  </a:solidFill>
                  <a:latin typeface="Amazon Ember" panose="02000000000000000000" pitchFamily="2" charset="0"/>
                  <a:ea typeface="Amazon Ember" panose="02000000000000000000" pitchFamily="2" charset="0"/>
                </a:rPr>
              </a:b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19" name="Straight Connector 18"/>
            <p:cNvCxnSpPr/>
            <p:nvPr/>
          </p:nvCxnSpPr>
          <p:spPr>
            <a:xfrm>
              <a:off x="7237927" y="4195434"/>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924608" y="2156924"/>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2379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5460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923727" y="3789033"/>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8" name="Rectangle 27"/>
          <p:cNvSpPr/>
          <p:nvPr/>
        </p:nvSpPr>
        <p:spPr>
          <a:xfrm>
            <a:off x="9022196" y="3864161"/>
            <a:ext cx="3092921" cy="226575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9" name="Rectangle 28"/>
          <p:cNvSpPr/>
          <p:nvPr/>
        </p:nvSpPr>
        <p:spPr>
          <a:xfrm>
            <a:off x="8964724" y="1572088"/>
            <a:ext cx="3092921" cy="116647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802467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16" y="1490035"/>
            <a:ext cx="8652763" cy="1200329"/>
          </a:xfrm>
          <a:prstGeom prst="rect">
            <a:avLst/>
          </a:prstGeom>
        </p:spPr>
        <p:txBody>
          <a:bodyPr wrap="square">
            <a:spAutoFit/>
          </a:bodyPr>
          <a:lstStyle/>
          <a:p>
            <a:pPr marL="352425" indent="-352425"/>
            <a:r>
              <a:rPr lang="en-US" sz="2400">
                <a:latin typeface="Amazon Ember" panose="02000000000000000000" pitchFamily="2" charset="0"/>
              </a:rPr>
              <a:t>5. Optionally, verify the health of the registered targets for your target group using the </a:t>
            </a:r>
            <a:r>
              <a:rPr lang="en-US" sz="2400" b="1">
                <a:solidFill>
                  <a:schemeClr val="tx2">
                    <a:lumMod val="75000"/>
                  </a:schemeClr>
                </a:solidFill>
                <a:latin typeface="Amazon Ember" panose="02000000000000000000" pitchFamily="2" charset="0"/>
              </a:rPr>
              <a:t>describe-target-health command</a:t>
            </a:r>
            <a:r>
              <a:rPr lang="en-US" sz="2400">
                <a:latin typeface="Amazon Ember" panose="02000000000000000000" pitchFamily="2" charset="0"/>
              </a:rPr>
              <a:t>.</a:t>
            </a:r>
          </a:p>
        </p:txBody>
      </p:sp>
      <p:sp>
        <p:nvSpPr>
          <p:cNvPr id="2" name="Title 1"/>
          <p:cNvSpPr>
            <a:spLocks noGrp="1"/>
          </p:cNvSpPr>
          <p:nvPr>
            <p:ph type="title"/>
          </p:nvPr>
        </p:nvSpPr>
        <p:spPr/>
        <p:txBody>
          <a:bodyPr>
            <a:noAutofit/>
          </a:bodyPr>
          <a:lstStyle/>
          <a:p>
            <a:r>
              <a:rPr lang="en-US" sz="3600" b="1"/>
              <a:t>Verify the health of the registered targets</a:t>
            </a:r>
          </a:p>
        </p:txBody>
      </p:sp>
      <p:sp>
        <p:nvSpPr>
          <p:cNvPr id="14" name="Rounded Rectangle 13"/>
          <p:cNvSpPr/>
          <p:nvPr/>
        </p:nvSpPr>
        <p:spPr>
          <a:xfrm>
            <a:off x="419100" y="2974406"/>
            <a:ext cx="8764256" cy="733498"/>
          </a:xfrm>
          <a:prstGeom prst="roundRect">
            <a:avLst>
              <a:gd name="adj" fmla="val 9580"/>
            </a:avLst>
          </a:prstGeom>
          <a:solidFill>
            <a:schemeClr val="bg1">
              <a:lumMod val="95000"/>
            </a:schemeClr>
          </a:solidFill>
          <a:ln w="28575">
            <a:noFill/>
          </a:ln>
          <a:effectLst>
            <a:outerShdw blurRad="50800" dist="38100" dir="2700000" algn="tl" rotWithShape="0">
              <a:prstClr val="black">
                <a:alpha val="40000"/>
              </a:prstClr>
            </a:outerShdw>
          </a:effectLst>
        </p:spPr>
        <p:txBody>
          <a:bodyPr wrap="square" lIns="91440" tIns="91440" rIns="91440" bIns="91440" rtlCol="0" anchor="ctr" anchorCtr="0">
            <a:noAutofit/>
          </a:bodyPr>
          <a:lstStyle/>
          <a:p>
            <a:r>
              <a:rPr lang="en-US" sz="1600" b="1">
                <a:solidFill>
                  <a:schemeClr val="accent1">
                    <a:lumMod val="75000"/>
                  </a:schemeClr>
                </a:solidFill>
                <a:latin typeface="Courier New" panose="02070309020205020404" pitchFamily="49" charset="0"/>
                <a:cs typeface="Courier New" panose="02070309020205020404" pitchFamily="49" charset="0"/>
              </a:rPr>
              <a:t>aws elbv2 describe-target-health --target-group-arn </a:t>
            </a:r>
            <a:r>
              <a:rPr lang="en-US" sz="1600" b="1">
                <a:solidFill>
                  <a:schemeClr val="accent6"/>
                </a:solidFill>
                <a:latin typeface="Courier New" panose="02070309020205020404" pitchFamily="49" charset="0"/>
                <a:cs typeface="Courier New" panose="02070309020205020404" pitchFamily="49" charset="0"/>
              </a:rPr>
              <a:t>targetgroup-arn</a:t>
            </a:r>
          </a:p>
        </p:txBody>
      </p:sp>
      <p:grpSp>
        <p:nvGrpSpPr>
          <p:cNvPr id="7" name="Group 6"/>
          <p:cNvGrpSpPr/>
          <p:nvPr/>
        </p:nvGrpSpPr>
        <p:grpSpPr>
          <a:xfrm>
            <a:off x="9036780" y="1771945"/>
            <a:ext cx="3044268" cy="4108588"/>
            <a:chOff x="6215577" y="1180453"/>
            <a:chExt cx="3429000" cy="5674704"/>
          </a:xfrm>
        </p:grpSpPr>
        <p:sp>
          <p:nvSpPr>
            <p:cNvPr id="8" name="Rounded Rectangle 7"/>
            <p:cNvSpPr/>
            <p:nvPr/>
          </p:nvSpPr>
          <p:spPr>
            <a:xfrm>
              <a:off x="6215577" y="4669166"/>
              <a:ext cx="3429000" cy="1609068"/>
            </a:xfrm>
            <a:prstGeom prst="roundRect">
              <a:avLst>
                <a:gd name="adj" fmla="val 20669"/>
              </a:avLst>
            </a:prstGeom>
            <a:solidFill>
              <a:schemeClr val="accent6">
                <a:lumMod val="50000"/>
              </a:schemeClr>
            </a:solidFill>
            <a:ln w="19050">
              <a:solidFill>
                <a:schemeClr val="accent6">
                  <a:lumMod val="50000"/>
                </a:schemeClr>
              </a:solidFill>
              <a:prstDash val="dash"/>
            </a:ln>
          </p:spPr>
          <p:txBody>
            <a:bodyPr wrap="none" rtlCol="0" anchor="ctr" anchorCtr="1">
              <a:noAutofit/>
            </a:bodyPr>
            <a:lstStyle/>
            <a:p>
              <a:pPr algn="ctr"/>
              <a:endParaRPr lang="en-US" sz="1600">
                <a:latin typeface="Amazon Ember" panose="02000000000000000000" pitchFamily="2" charset="0"/>
                <a:ea typeface="Amazon Ember" panose="02000000000000000000" pitchFamily="2" charset="0"/>
              </a:endParaRPr>
            </a:p>
          </p:txBody>
        </p:sp>
        <p:sp>
          <p:nvSpPr>
            <p:cNvPr id="9" name="Rounded Rectangle 8"/>
            <p:cNvSpPr/>
            <p:nvPr/>
          </p:nvSpPr>
          <p:spPr>
            <a:xfrm>
              <a:off x="6844227" y="1180453"/>
              <a:ext cx="2095500" cy="968698"/>
            </a:xfrm>
            <a:prstGeom prst="roundRect">
              <a:avLst>
                <a:gd name="adj" fmla="val 21911"/>
              </a:avLst>
            </a:prstGeom>
            <a:solidFill>
              <a:schemeClr val="accent5"/>
            </a:solidFill>
            <a:ln w="19050">
              <a:solidFill>
                <a:schemeClr val="accent5"/>
              </a:solidFill>
            </a:ln>
          </p:spPr>
          <p:txBody>
            <a:bodyPr wrap="none" rtlCol="0" anchor="ctr" anchorCtr="1">
              <a:noAutofit/>
            </a:bodyPr>
            <a:lstStyle/>
            <a:p>
              <a:r>
                <a:rPr lang="en-US" sz="1600">
                  <a:solidFill>
                    <a:schemeClr val="bg1"/>
                  </a:solidFill>
                  <a:latin typeface="Amazon Ember" panose="02000000000000000000" pitchFamily="2" charset="0"/>
                  <a:ea typeface="Amazon Ember" panose="02000000000000000000" pitchFamily="2" charset="0"/>
                </a:rPr>
                <a:t>Load balancer</a:t>
              </a:r>
            </a:p>
          </p:txBody>
        </p:sp>
        <p:sp>
          <p:nvSpPr>
            <p:cNvPr id="10" name="Rounded Rectangle 9"/>
            <p:cNvSpPr/>
            <p:nvPr/>
          </p:nvSpPr>
          <p:spPr>
            <a:xfrm>
              <a:off x="66854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2" name="Rounded Rectangle 11"/>
            <p:cNvSpPr/>
            <p:nvPr/>
          </p:nvSpPr>
          <p:spPr>
            <a:xfrm>
              <a:off x="7993577" y="4995534"/>
              <a:ext cx="1104900" cy="711200"/>
            </a:xfrm>
            <a:prstGeom prst="roundRect">
              <a:avLst>
                <a:gd name="adj" fmla="val 32625"/>
              </a:avLst>
            </a:prstGeom>
            <a:solidFill>
              <a:schemeClr val="accent5">
                <a:lumMod val="20000"/>
                <a:lumOff val="80000"/>
              </a:schemeClr>
            </a:solidFill>
            <a:ln w="19050">
              <a:solidFill>
                <a:schemeClr val="tx1"/>
              </a:solidFill>
            </a:ln>
          </p:spPr>
          <p:txBody>
            <a:bodyPr wrap="none" rtlCol="0" anchor="ctr" anchorCtr="1">
              <a:noAutofit/>
            </a:bodyPr>
            <a:lstStyle/>
            <a:p>
              <a:r>
                <a:rPr lang="en-US" sz="1600">
                  <a:solidFill>
                    <a:schemeClr val="tx1">
                      <a:lumMod val="75000"/>
                      <a:lumOff val="25000"/>
                    </a:schemeClr>
                  </a:solidFill>
                  <a:latin typeface="Amazon Ember" panose="02000000000000000000" pitchFamily="2" charset="0"/>
                  <a:ea typeface="Amazon Ember" panose="02000000000000000000" pitchFamily="2" charset="0"/>
                </a:rPr>
                <a:t>Target</a:t>
              </a:r>
            </a:p>
          </p:txBody>
        </p:sp>
        <p:sp>
          <p:nvSpPr>
            <p:cNvPr id="15" name="Rounded Rectangle 14"/>
            <p:cNvSpPr/>
            <p:nvPr/>
          </p:nvSpPr>
          <p:spPr>
            <a:xfrm>
              <a:off x="8730177" y="5732134"/>
              <a:ext cx="876300" cy="546100"/>
            </a:xfrm>
            <a:prstGeom prst="roundRect">
              <a:avLst>
                <a:gd name="adj" fmla="val 41647"/>
              </a:avLst>
            </a:prstGeom>
            <a:solidFill>
              <a:schemeClr val="bg1">
                <a:lumMod val="95000"/>
              </a:schemeClr>
            </a:solidFill>
            <a:ln w="19050">
              <a:solidFill>
                <a:schemeClr val="accent6">
                  <a:lumMod val="50000"/>
                </a:schemeClr>
              </a:solidFill>
            </a:ln>
          </p:spPr>
          <p:txBody>
            <a:bodyPr wrap="none" rtlCol="0" anchor="ctr" anchorCtr="1">
              <a:noAutofit/>
            </a:bodyPr>
            <a:lstStyle/>
            <a:p>
              <a:pPr algn="ctr"/>
              <a:r>
                <a:rPr lang="en-US" sz="1400">
                  <a:latin typeface="Amazon Ember" panose="02000000000000000000" pitchFamily="2" charset="0"/>
                  <a:ea typeface="Amazon Ember" panose="02000000000000000000" pitchFamily="2" charset="0"/>
                </a:rPr>
                <a:t>Health</a:t>
              </a:r>
              <a:br>
                <a:rPr lang="en-US" sz="1400">
                  <a:latin typeface="Amazon Ember" panose="02000000000000000000" pitchFamily="2" charset="0"/>
                  <a:ea typeface="Amazon Ember" panose="02000000000000000000" pitchFamily="2" charset="0"/>
                </a:rPr>
              </a:br>
              <a:r>
                <a:rPr lang="en-US" sz="1400">
                  <a:latin typeface="Amazon Ember" panose="02000000000000000000" pitchFamily="2" charset="0"/>
                  <a:ea typeface="Amazon Ember" panose="02000000000000000000" pitchFamily="2" charset="0"/>
                </a:rPr>
                <a:t>check</a:t>
              </a:r>
            </a:p>
          </p:txBody>
        </p:sp>
        <p:sp>
          <p:nvSpPr>
            <p:cNvPr id="16" name="Rounded Rectangle 15"/>
            <p:cNvSpPr/>
            <p:nvPr/>
          </p:nvSpPr>
          <p:spPr>
            <a:xfrm>
              <a:off x="6393377" y="2796684"/>
              <a:ext cx="3073400" cy="992349"/>
            </a:xfrm>
            <a:prstGeom prst="roundRect">
              <a:avLst>
                <a:gd name="adj" fmla="val 28849"/>
              </a:avLst>
            </a:prstGeom>
            <a:solidFill>
              <a:schemeClr val="accent4">
                <a:lumMod val="50000"/>
              </a:schemeClr>
            </a:solidFill>
            <a:ln w="19050">
              <a:solidFill>
                <a:schemeClr val="accent4">
                  <a:lumMod val="50000"/>
                </a:schemeClr>
              </a:solid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Listener</a:t>
              </a:r>
            </a:p>
          </p:txBody>
        </p:sp>
        <p:sp>
          <p:nvSpPr>
            <p:cNvPr id="17" name="Rounded Rectangle 16"/>
            <p:cNvSpPr/>
            <p:nvPr/>
          </p:nvSpPr>
          <p:spPr>
            <a:xfrm>
              <a:off x="6486867" y="3077834"/>
              <a:ext cx="922510" cy="482600"/>
            </a:xfrm>
            <a:prstGeom prst="roundRect">
              <a:avLst>
                <a:gd name="adj" fmla="val 48294"/>
              </a:avLst>
            </a:prstGeom>
            <a:solidFill>
              <a:schemeClr val="accent4">
                <a:lumMod val="20000"/>
                <a:lumOff val="80000"/>
              </a:schemeClr>
            </a:solidFill>
            <a:ln w="19050">
              <a:solidFill>
                <a:schemeClr val="accent4">
                  <a:lumMod val="20000"/>
                  <a:lumOff val="80000"/>
                </a:schemeClr>
              </a:solidFill>
            </a:ln>
          </p:spPr>
          <p:txBody>
            <a:bodyPr wrap="none" rtlCol="0" anchor="ctr" anchorCtr="1">
              <a:noAutofit/>
            </a:bodyPr>
            <a:lstStyle/>
            <a:p>
              <a:pPr algn="ctr"/>
              <a:r>
                <a:rPr lang="en-US" sz="1600">
                  <a:latin typeface="Amazon Ember" panose="02000000000000000000" pitchFamily="2" charset="0"/>
                  <a:ea typeface="Amazon Ember" panose="02000000000000000000" pitchFamily="2" charset="0"/>
                </a:rPr>
                <a:t>Rule</a:t>
              </a:r>
            </a:p>
          </p:txBody>
        </p:sp>
        <p:sp>
          <p:nvSpPr>
            <p:cNvPr id="18" name="Rounded Rectangle 17"/>
            <p:cNvSpPr/>
            <p:nvPr/>
          </p:nvSpPr>
          <p:spPr>
            <a:xfrm>
              <a:off x="7471117" y="5727374"/>
              <a:ext cx="922510" cy="482600"/>
            </a:xfrm>
            <a:prstGeom prst="roundRect">
              <a:avLst>
                <a:gd name="adj" fmla="val 48294"/>
              </a:avLst>
            </a:prstGeom>
            <a:noFill/>
            <a:ln w="19050">
              <a:noFill/>
            </a:ln>
          </p:spPr>
          <p:txBody>
            <a:bodyPr wrap="none" rtlCol="0" anchor="ctr" anchorCtr="1">
              <a:noAutofit/>
            </a:bodyPr>
            <a:lstStyle/>
            <a:p>
              <a:pPr algn="ctr"/>
              <a:r>
                <a:rPr lang="en-US" sz="1600">
                  <a:solidFill>
                    <a:schemeClr val="bg1"/>
                  </a:solidFill>
                  <a:latin typeface="Amazon Ember" panose="02000000000000000000" pitchFamily="2" charset="0"/>
                  <a:ea typeface="Amazon Ember" panose="02000000000000000000" pitchFamily="2" charset="0"/>
                </a:rPr>
                <a:t>Target group</a:t>
              </a:r>
              <a:br>
                <a:rPr lang="en-US" sz="1600">
                  <a:solidFill>
                    <a:schemeClr val="bg1"/>
                  </a:solidFill>
                  <a:latin typeface="Amazon Ember" panose="02000000000000000000" pitchFamily="2" charset="0"/>
                  <a:ea typeface="Amazon Ember" panose="02000000000000000000" pitchFamily="2" charset="0"/>
                </a:rPr>
              </a:b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(example.com)</a:t>
              </a:r>
            </a:p>
          </p:txBody>
        </p:sp>
        <p:cxnSp>
          <p:nvCxnSpPr>
            <p:cNvPr id="19" name="Straight Connector 18"/>
            <p:cNvCxnSpPr/>
            <p:nvPr/>
          </p:nvCxnSpPr>
          <p:spPr>
            <a:xfrm>
              <a:off x="7237927" y="4195434"/>
              <a:ext cx="130810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924608" y="2156924"/>
              <a:ext cx="0" cy="63976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2379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546027" y="4195434"/>
              <a:ext cx="0" cy="800100"/>
            </a:xfrm>
            <a:prstGeom prst="line">
              <a:avLst/>
            </a:prstGeom>
            <a:ln w="19050">
              <a:solidFill>
                <a:schemeClr val="accent3">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923727" y="3789033"/>
              <a:ext cx="0" cy="40640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9086087" y="6461148"/>
              <a:ext cx="258749" cy="394009"/>
              <a:chOff x="7685833" y="2129398"/>
              <a:chExt cx="258749" cy="394009"/>
            </a:xfrm>
          </p:grpSpPr>
          <p:sp>
            <p:nvSpPr>
              <p:cNvPr id="25" name="Shape 198"/>
              <p:cNvSpPr/>
              <p:nvPr/>
            </p:nvSpPr>
            <p:spPr>
              <a:xfrm>
                <a:off x="7685833" y="2416305"/>
                <a:ext cx="258749" cy="107102"/>
              </a:xfrm>
              <a:prstGeom prst="rect">
                <a:avLst/>
              </a:prstGeom>
              <a:solidFill>
                <a:srgbClr val="8BC943"/>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sp>
            <p:nvSpPr>
              <p:cNvPr id="26" name="Shape 199"/>
              <p:cNvSpPr/>
              <p:nvPr/>
            </p:nvSpPr>
            <p:spPr>
              <a:xfrm>
                <a:off x="7685833" y="2272851"/>
                <a:ext cx="258749" cy="107102"/>
              </a:xfrm>
              <a:prstGeom prst="rect">
                <a:avLst/>
              </a:prstGeom>
              <a:solidFill>
                <a:srgbClr val="FFFB00"/>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sp>
            <p:nvSpPr>
              <p:cNvPr id="27" name="Shape 200"/>
              <p:cNvSpPr/>
              <p:nvPr/>
            </p:nvSpPr>
            <p:spPr>
              <a:xfrm>
                <a:off x="7685833" y="2129398"/>
                <a:ext cx="258749" cy="107101"/>
              </a:xfrm>
              <a:prstGeom prst="rect">
                <a:avLst/>
              </a:prstGeom>
              <a:solidFill>
                <a:srgbClr val="FF2600"/>
              </a:solidFill>
              <a:ln w="12700" cap="flat">
                <a:noFill/>
                <a:miter lim="400000"/>
              </a:ln>
              <a:effectLst/>
            </p:spPr>
            <p:txBody>
              <a:bodyPr wrap="square" lIns="0" tIns="0" rIns="0" bIns="0" numCol="1" anchor="ctr">
                <a:noAutofit/>
              </a:bodyPr>
              <a:lstStyle/>
              <a:p>
                <a:pPr lvl="0">
                  <a:defRPr b="0">
                    <a:solidFill>
                      <a:srgbClr val="000000"/>
                    </a:solidFill>
                  </a:defRPr>
                </a:pPr>
                <a:endParaRPr sz="1600">
                  <a:solidFill>
                    <a:schemeClr val="bg2">
                      <a:lumMod val="10000"/>
                    </a:schemeClr>
                  </a:solidFill>
                  <a:latin typeface="Amazon Ember" panose="02000000000000000000" pitchFamily="2" charset="0"/>
                  <a:ea typeface="Amazon Ember" panose="02000000000000000000" pitchFamily="2" charset="0"/>
                </a:endParaRPr>
              </a:p>
            </p:txBody>
          </p:sp>
        </p:grpSp>
      </p:grpSp>
      <p:sp>
        <p:nvSpPr>
          <p:cNvPr id="28" name="Rectangle 27"/>
          <p:cNvSpPr/>
          <p:nvPr/>
        </p:nvSpPr>
        <p:spPr>
          <a:xfrm>
            <a:off x="9014490" y="1716504"/>
            <a:ext cx="3092921" cy="329807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9" name="Rectangle 28"/>
          <p:cNvSpPr/>
          <p:nvPr/>
        </p:nvSpPr>
        <p:spPr>
          <a:xfrm>
            <a:off x="8176322" y="5014577"/>
            <a:ext cx="3092921" cy="150966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30"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892067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1" name="Picture 10">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909200" y="365126"/>
            <a:ext cx="1772652" cy="449072"/>
          </a:xfrm>
          <a:prstGeom prst="rect">
            <a:avLst/>
          </a:prstGeom>
        </p:spPr>
      </p:pic>
      <p:sp>
        <p:nvSpPr>
          <p:cNvPr id="4" name="Title 3"/>
          <p:cNvSpPr>
            <a:spLocks noGrp="1"/>
          </p:cNvSpPr>
          <p:nvPr>
            <p:ph type="title"/>
          </p:nvPr>
        </p:nvSpPr>
        <p:spPr>
          <a:xfrm>
            <a:off x="597222" y="470709"/>
            <a:ext cx="3932237" cy="1600200"/>
          </a:xfrm>
          <a:noFill/>
          <a:ln>
            <a:solidFill>
              <a:schemeClr val="bg1"/>
            </a:solidFill>
          </a:ln>
        </p:spPr>
        <p:txBody>
          <a:bodyPr anchor="ctr"/>
          <a:lstStyle/>
          <a:p>
            <a:pPr algn="ctr"/>
            <a:r>
              <a:rPr lang="en-US">
                <a:solidFill>
                  <a:schemeClr val="bg1"/>
                </a:solidFill>
              </a:rPr>
              <a:t>Key Takeaway</a:t>
            </a:r>
          </a:p>
        </p:txBody>
      </p:sp>
      <p:pic>
        <p:nvPicPr>
          <p:cNvPr id="8" name="Picture Placeholder 6"/>
          <p:cNvPicPr>
            <a:picLocks noChangeAspect="1"/>
          </p:cNvPicPr>
          <p:nvPr/>
        </p:nvPicPr>
        <p:blipFill>
          <a:blip r:embed="rId5"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Rectangle 4"/>
          <p:cNvSpPr/>
          <p:nvPr/>
        </p:nvSpPr>
        <p:spPr>
          <a:xfrm>
            <a:off x="5585852" y="959470"/>
            <a:ext cx="6096000" cy="5663089"/>
          </a:xfrm>
          <a:prstGeom prst="rect">
            <a:avLst/>
          </a:prstGeom>
        </p:spPr>
        <p:txBody>
          <a:bodyPr>
            <a:spAutoFit/>
          </a:bodyPr>
          <a:lstStyle/>
          <a:p>
            <a:pPr marL="228600" lvl="0" indent="-228600">
              <a:spcBef>
                <a:spcPts val="600"/>
              </a:spcBef>
              <a:spcAft>
                <a:spcPts val="600"/>
              </a:spcAft>
              <a:buFont typeface="Arial" panose="020B0604020202020204" pitchFamily="34" charset="0"/>
              <a:buChar char="•"/>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There are three types of load balancers: </a:t>
            </a:r>
          </a:p>
          <a:p>
            <a:pPr marL="914400" lvl="1" indent="-457200">
              <a:spcBef>
                <a:spcPts val="600"/>
              </a:spcBef>
              <a:spcAft>
                <a:spcPts val="600"/>
              </a:spcAft>
              <a:buFont typeface="Courier New" panose="02070309020205020404" pitchFamily="49" charset="0"/>
              <a:buChar char="o"/>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Application load balancers</a:t>
            </a:r>
          </a:p>
          <a:p>
            <a:pPr marL="914400" lvl="1" indent="-457200">
              <a:spcBef>
                <a:spcPts val="600"/>
              </a:spcBef>
              <a:spcAft>
                <a:spcPts val="600"/>
              </a:spcAft>
              <a:buFont typeface="Courier New" panose="02070309020205020404" pitchFamily="49" charset="0"/>
              <a:buChar char="o"/>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Network load balancers</a:t>
            </a:r>
          </a:p>
          <a:p>
            <a:pPr marL="914400" lvl="1" indent="-457200">
              <a:spcBef>
                <a:spcPts val="600"/>
              </a:spcBef>
              <a:spcAft>
                <a:spcPts val="600"/>
              </a:spcAft>
              <a:buFont typeface="Courier New" panose="02070309020205020404" pitchFamily="49" charset="0"/>
              <a:buChar char="o"/>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Classic load balancers</a:t>
            </a:r>
          </a:p>
          <a:p>
            <a:pPr marL="685800" lvl="1" indent="-228600">
              <a:spcBef>
                <a:spcPts val="600"/>
              </a:spcBef>
              <a:spcAft>
                <a:spcPts val="600"/>
              </a:spcAft>
              <a:buFont typeface="Arial" panose="020B0604020202020204" pitchFamily="34" charset="0"/>
              <a:buChar char="•"/>
              <a:defRPr/>
            </a:pPr>
            <a:endPar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Each listener checks for connection requests from clients and then forwards requests to one or more target groups, based on the defined rules. </a:t>
            </a:r>
          </a:p>
          <a:p>
            <a:pPr marL="171450" indent="-171450"/>
            <a:endPar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Each rule specifies a target group, condition, and priority. </a:t>
            </a:r>
          </a:p>
          <a:p>
            <a:pPr marL="685800" lvl="1" indent="-228600">
              <a:spcBef>
                <a:spcPts val="600"/>
              </a:spcBef>
              <a:spcAft>
                <a:spcPts val="600"/>
              </a:spcAft>
              <a:buFont typeface="Arial" panose="020B0604020202020204" pitchFamily="34" charset="0"/>
              <a:buChar char="•"/>
              <a:defRPr/>
            </a:pPr>
            <a:endPar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fld id="{6C47991C-E129-4F74-8F6E-9664FAB5CE8D}" type="slidenum">
              <a:rPr lang="en-US" smtClean="0"/>
              <a:pPr/>
              <a:t>20</a:t>
            </a:fld>
            <a:endParaRPr lang="en-US"/>
          </a:p>
        </p:txBody>
      </p:sp>
    </p:spTree>
    <p:custDataLst>
      <p:tags r:id="rId1"/>
    </p:custDataLst>
    <p:extLst>
      <p:ext uri="{BB962C8B-B14F-4D97-AF65-F5344CB8AC3E}">
        <p14:creationId xmlns:p14="http://schemas.microsoft.com/office/powerpoint/2010/main" val="2718823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Amazon EC2 Auto Scaling</a:t>
            </a:r>
          </a:p>
        </p:txBody>
      </p:sp>
      <p:sp>
        <p:nvSpPr>
          <p:cNvPr id="3" name="Text Placeholder 2"/>
          <p:cNvSpPr>
            <a:spLocks noGrp="1"/>
          </p:cNvSpPr>
          <p:nvPr>
            <p:ph type="body" sz="quarter" idx="10"/>
          </p:nvPr>
        </p:nvSpPr>
        <p:spPr>
          <a:xfrm>
            <a:off x="419099" y="2554356"/>
            <a:ext cx="8664939" cy="488498"/>
          </a:xfrm>
        </p:spPr>
        <p:txBody>
          <a:bodyPr>
            <a:noAutofit/>
          </a:bodyPr>
          <a:lstStyle/>
          <a:p>
            <a:r>
              <a:rPr lang="en-US"/>
              <a:t>Module 4: Computing (Scaling and Name Resolution)</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376457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Amazon EC2 Auto Scaling</a:t>
            </a:r>
          </a:p>
        </p:txBody>
      </p:sp>
      <p:sp>
        <p:nvSpPr>
          <p:cNvPr id="3" name="Content Placeholder 2"/>
          <p:cNvSpPr>
            <a:spLocks noGrp="1"/>
          </p:cNvSpPr>
          <p:nvPr>
            <p:ph idx="1"/>
          </p:nvPr>
        </p:nvSpPr>
        <p:spPr>
          <a:xfrm>
            <a:off x="2684174" y="1528175"/>
            <a:ext cx="9117301" cy="4648788"/>
          </a:xfrm>
        </p:spPr>
        <p:txBody>
          <a:bodyPr/>
          <a:lstStyle/>
          <a:p>
            <a:pPr marL="0" indent="0">
              <a:lnSpc>
                <a:spcPct val="100000"/>
              </a:lnSpc>
              <a:spcBef>
                <a:spcPts val="600"/>
              </a:spcBef>
              <a:spcAft>
                <a:spcPts val="600"/>
              </a:spcAft>
              <a:buNone/>
            </a:pPr>
            <a:r>
              <a:rPr lang="en-US" b="1">
                <a:solidFill>
                  <a:schemeClr val="tx2">
                    <a:lumMod val="75000"/>
                  </a:schemeClr>
                </a:solidFill>
              </a:rPr>
              <a:t>Amazon EC2 Auto Scaling:</a:t>
            </a:r>
          </a:p>
          <a:p>
            <a:pPr>
              <a:lnSpc>
                <a:spcPct val="100000"/>
              </a:lnSpc>
              <a:spcBef>
                <a:spcPts val="600"/>
              </a:spcBef>
              <a:spcAft>
                <a:spcPts val="600"/>
              </a:spcAft>
            </a:pPr>
            <a:r>
              <a:rPr lang="en-US"/>
              <a:t>Automatically launch or terminate Amazon EC2 instances based on:</a:t>
            </a:r>
          </a:p>
          <a:p>
            <a:pPr lvl="1">
              <a:lnSpc>
                <a:spcPct val="100000"/>
              </a:lnSpc>
              <a:spcBef>
                <a:spcPts val="600"/>
              </a:spcBef>
              <a:spcAft>
                <a:spcPts val="600"/>
              </a:spcAft>
            </a:pPr>
            <a:r>
              <a:rPr lang="en-US"/>
              <a:t>Health status checks</a:t>
            </a:r>
          </a:p>
          <a:p>
            <a:pPr lvl="1">
              <a:lnSpc>
                <a:spcPct val="100000"/>
              </a:lnSpc>
              <a:spcBef>
                <a:spcPts val="600"/>
              </a:spcBef>
              <a:spcAft>
                <a:spcPts val="600"/>
              </a:spcAft>
            </a:pPr>
            <a:r>
              <a:rPr lang="en-US"/>
              <a:t>User-defined policies that are driven by Amazon CloudWatch</a:t>
            </a:r>
          </a:p>
          <a:p>
            <a:pPr lvl="1">
              <a:lnSpc>
                <a:spcPct val="100000"/>
              </a:lnSpc>
              <a:spcBef>
                <a:spcPts val="600"/>
              </a:spcBef>
              <a:spcAft>
                <a:spcPts val="600"/>
              </a:spcAft>
            </a:pPr>
            <a:r>
              <a:rPr lang="en-US"/>
              <a:t>Schedules</a:t>
            </a:r>
          </a:p>
          <a:p>
            <a:pPr lvl="1">
              <a:lnSpc>
                <a:spcPct val="100000"/>
              </a:lnSpc>
              <a:spcBef>
                <a:spcPts val="600"/>
              </a:spcBef>
              <a:spcAft>
                <a:spcPts val="600"/>
              </a:spcAft>
            </a:pPr>
            <a:r>
              <a:rPr lang="en-US"/>
              <a:t>Other criteria (i.e., programmatically)</a:t>
            </a:r>
          </a:p>
          <a:p>
            <a:pPr lvl="1">
              <a:lnSpc>
                <a:spcPct val="100000"/>
              </a:lnSpc>
              <a:spcBef>
                <a:spcPts val="600"/>
              </a:spcBef>
              <a:spcAft>
                <a:spcPts val="600"/>
              </a:spcAft>
            </a:pPr>
            <a:r>
              <a:rPr lang="en-US"/>
              <a:t>Manually using set-desired-capacity </a:t>
            </a:r>
            <a:endParaRPr lang="en-US" sz="800"/>
          </a:p>
          <a:p>
            <a:pPr>
              <a:lnSpc>
                <a:spcPct val="100000"/>
              </a:lnSpc>
              <a:spcBef>
                <a:spcPts val="600"/>
              </a:spcBef>
              <a:spcAft>
                <a:spcPts val="600"/>
              </a:spcAft>
            </a:pPr>
            <a:r>
              <a:rPr lang="en-US" sz="2400"/>
              <a:t>Scale out to meet demand, scale in to reduce costs</a:t>
            </a:r>
          </a:p>
        </p:txBody>
      </p:sp>
      <p:pic>
        <p:nvPicPr>
          <p:cNvPr id="5" name="Graphic 123">
            <a:extLst>
              <a:ext uri="{FF2B5EF4-FFF2-40B4-BE49-F238E27FC236}">
                <a16:creationId xmlns:a16="http://schemas.microsoft.com/office/drawing/2014/main" id="{5A9E985C-C9D1-434B-9491-7C5A2864A4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8639" y="2598601"/>
            <a:ext cx="1228845" cy="1228845"/>
          </a:xfrm>
          <a:prstGeom prst="rect">
            <a:avLst/>
          </a:prstGeom>
        </p:spPr>
      </p:pic>
      <p:sp>
        <p:nvSpPr>
          <p:cNvPr id="6" name="TextBox 5">
            <a:extLst>
              <a:ext uri="{FF2B5EF4-FFF2-40B4-BE49-F238E27FC236}">
                <a16:creationId xmlns:a16="http://schemas.microsoft.com/office/drawing/2014/main" id="{97104151-6779-134A-B240-03AC2BE6CB9B}"/>
              </a:ext>
            </a:extLst>
          </p:cNvPr>
          <p:cNvSpPr txBox="1"/>
          <p:nvPr/>
        </p:nvSpPr>
        <p:spPr>
          <a:xfrm>
            <a:off x="886410" y="3827446"/>
            <a:ext cx="1513305" cy="523220"/>
          </a:xfrm>
          <a:prstGeom prst="rect">
            <a:avLst/>
          </a:prstGeom>
          <a:noFill/>
        </p:spPr>
        <p:txBody>
          <a:bodyPr wrap="square" rtlCol="0">
            <a:spAutoFit/>
          </a:bodyPr>
          <a:lstStyle/>
          <a:p>
            <a:pPr algn="ctr"/>
            <a:r>
              <a:rPr lang="en-US" sz="1400">
                <a:latin typeface="Amazon Ember" panose="02000000000000000000" pitchFamily="2" charset="0"/>
              </a:rPr>
              <a:t>Amazon EC2 Auto Scaling</a:t>
            </a:r>
          </a:p>
        </p:txBody>
      </p:sp>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424460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a:t>EC2 Auto Scaling in action</a:t>
            </a:r>
          </a:p>
        </p:txBody>
      </p:sp>
      <p:graphicFrame>
        <p:nvGraphicFramePr>
          <p:cNvPr id="5" name="Table 4"/>
          <p:cNvGraphicFramePr>
            <a:graphicFrameLocks noGrp="1"/>
          </p:cNvGraphicFramePr>
          <p:nvPr>
            <p:extLst>
              <p:ext uri="{D42A27DB-BD31-4B8C-83A1-F6EECF244321}">
                <p14:modId xmlns:p14="http://schemas.microsoft.com/office/powerpoint/2010/main" val="2832895377"/>
              </p:ext>
            </p:extLst>
          </p:nvPr>
        </p:nvGraphicFramePr>
        <p:xfrm>
          <a:off x="125236" y="1231747"/>
          <a:ext cx="3160890" cy="46634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160890">
                  <a:extLst>
                    <a:ext uri="{9D8B030D-6E8A-4147-A177-3AD203B41FA5}">
                      <a16:colId xmlns:a16="http://schemas.microsoft.com/office/drawing/2014/main" val="20000"/>
                    </a:ext>
                  </a:extLst>
                </a:gridCol>
              </a:tblGrid>
              <a:tr h="345111">
                <a:tc>
                  <a:txBody>
                    <a:bodyPr/>
                    <a:lstStyle/>
                    <a:p>
                      <a:pPr algn="ctr"/>
                      <a:r>
                        <a:rPr lang="en-US" sz="1900">
                          <a:latin typeface="Amazon Ember" panose="02000000000000000000" pitchFamily="2" charset="0"/>
                          <a:ea typeface="Amazon Ember" panose="02000000000000000000" pitchFamily="2" charset="0"/>
                        </a:rPr>
                        <a:t>Launch Configuration /</a:t>
                      </a:r>
                    </a:p>
                    <a:p>
                      <a:pPr algn="ctr"/>
                      <a:r>
                        <a:rPr lang="en-US" sz="1900">
                          <a:latin typeface="Amazon Ember" panose="02000000000000000000" pitchFamily="2" charset="0"/>
                          <a:ea typeface="Amazon Ember" panose="02000000000000000000" pitchFamily="2" charset="0"/>
                        </a:rPr>
                        <a:t>Launch Template</a:t>
                      </a:r>
                    </a:p>
                  </a:txBody>
                  <a:tcPr marL="121920" marR="121920" marT="60960" marB="60960">
                    <a:solidFill>
                      <a:schemeClr val="tx2">
                        <a:lumMod val="75000"/>
                      </a:schemeClr>
                    </a:solidFill>
                  </a:tcPr>
                </a:tc>
                <a:extLst>
                  <a:ext uri="{0D108BD9-81ED-4DB2-BD59-A6C34878D82A}">
                    <a16:rowId xmlns:a16="http://schemas.microsoft.com/office/drawing/2014/main" val="10000"/>
                  </a:ext>
                </a:extLst>
              </a:tr>
              <a:tr h="2195042">
                <a:tc>
                  <a:txBody>
                    <a:bodyPr/>
                    <a:lstStyle/>
                    <a:p>
                      <a:r>
                        <a:rPr lang="en-US" sz="1800">
                          <a:latin typeface="Amazon Ember" panose="02000000000000000000" pitchFamily="2" charset="0"/>
                          <a:ea typeface="Amazon Ember" panose="02000000000000000000" pitchFamily="2" charset="0"/>
                          <a:cs typeface="Amazon Ember Light" panose="020B0403020204020204" pitchFamily="34" charset="0"/>
                        </a:rPr>
                        <a:t>Instance configuration to</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be launched. </a:t>
                      </a:r>
                    </a:p>
                    <a:p>
                      <a:endParaRPr lang="en-US" sz="1800" baseline="0">
                        <a:latin typeface="Amazon Ember" panose="02000000000000000000" pitchFamily="2" charset="0"/>
                        <a:ea typeface="Amazon Ember" panose="02000000000000000000" pitchFamily="2" charset="0"/>
                        <a:cs typeface="Amazon Ember Light" panose="020B0403020204020204" pitchFamily="34" charset="0"/>
                      </a:endParaRPr>
                    </a:p>
                    <a:p>
                      <a:r>
                        <a:rPr lang="en-US" sz="1800" baseline="0">
                          <a:latin typeface="Amazon Ember" panose="02000000000000000000" pitchFamily="2" charset="0"/>
                          <a:ea typeface="Amazon Ember" panose="02000000000000000000" pitchFamily="2" charset="0"/>
                          <a:cs typeface="Amazon Ember Light" panose="020B0403020204020204" pitchFamily="34" charset="0"/>
                        </a:rPr>
                        <a:t>Specify</a:t>
                      </a:r>
                      <a:r>
                        <a:rPr lang="en-US" sz="1800">
                          <a:latin typeface="Amazon Ember" panose="02000000000000000000" pitchFamily="2" charset="0"/>
                          <a:ea typeface="Amazon Ember" panose="02000000000000000000" pitchFamily="2" charset="0"/>
                          <a:cs typeface="Amazon Ember Light" panose="020B0403020204020204" pitchFamily="34" charset="0"/>
                        </a:rPr>
                        <a:t>: </a:t>
                      </a:r>
                    </a:p>
                    <a:p>
                      <a:pPr marL="17145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AMI</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Instance type</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Security group</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Instance key pair</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Storage</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IAM roles</a:t>
                      </a:r>
                    </a:p>
                    <a:p>
                      <a:pPr marL="171450" lvl="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User data</a:t>
                      </a:r>
                    </a:p>
                    <a:p>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r>
                        <a:rPr lang="en-US" sz="1800">
                          <a:latin typeface="Amazon Ember" panose="02000000000000000000" pitchFamily="2" charset="0"/>
                          <a:ea typeface="Amazon Ember" panose="02000000000000000000" pitchFamily="2" charset="0"/>
                          <a:cs typeface="Amazon Ember Light" panose="020B0403020204020204" pitchFamily="34" charset="0"/>
                        </a:rPr>
                        <a:t>Only one active launch configuration at a time.</a:t>
                      </a:r>
                    </a:p>
                  </a:txBody>
                  <a:tcPr marL="121920" marR="121920" marT="60960" marB="60960"/>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1672837555"/>
              </p:ext>
            </p:extLst>
          </p:nvPr>
        </p:nvGraphicFramePr>
        <p:xfrm>
          <a:off x="3503036" y="1924718"/>
          <a:ext cx="4095316" cy="43738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095316">
                  <a:extLst>
                    <a:ext uri="{9D8B030D-6E8A-4147-A177-3AD203B41FA5}">
                      <a16:colId xmlns:a16="http://schemas.microsoft.com/office/drawing/2014/main" val="20000"/>
                    </a:ext>
                  </a:extLst>
                </a:gridCol>
              </a:tblGrid>
              <a:tr h="388451">
                <a:tc>
                  <a:txBody>
                    <a:bodyPr/>
                    <a:lstStyle/>
                    <a:p>
                      <a:pPr algn="ctr">
                        <a:lnSpc>
                          <a:spcPct val="100000"/>
                        </a:lnSpc>
                        <a:spcBef>
                          <a:spcPts val="0"/>
                        </a:spcBef>
                        <a:spcAft>
                          <a:spcPts val="0"/>
                        </a:spcAft>
                      </a:pPr>
                      <a:r>
                        <a:rPr lang="en-US" sz="1900">
                          <a:latin typeface="Amazon Ember" panose="02000000000000000000" pitchFamily="2" charset="0"/>
                          <a:ea typeface="Amazon Ember" panose="02000000000000000000" pitchFamily="2" charset="0"/>
                        </a:rPr>
                        <a:t>EC2 Auto</a:t>
                      </a:r>
                      <a:r>
                        <a:rPr lang="en-US" sz="1900" baseline="0">
                          <a:latin typeface="Amazon Ember" panose="02000000000000000000" pitchFamily="2" charset="0"/>
                          <a:ea typeface="Amazon Ember" panose="02000000000000000000" pitchFamily="2" charset="0"/>
                        </a:rPr>
                        <a:t> </a:t>
                      </a:r>
                      <a:r>
                        <a:rPr lang="en-US" sz="1900">
                          <a:latin typeface="Amazon Ember" panose="02000000000000000000" pitchFamily="2" charset="0"/>
                          <a:ea typeface="Amazon Ember" panose="02000000000000000000" pitchFamily="2" charset="0"/>
                        </a:rPr>
                        <a:t>Scaling Group</a:t>
                      </a:r>
                    </a:p>
                  </a:txBody>
                  <a:tcPr marL="121920" marR="121920" marT="60960" marB="60960">
                    <a:solidFill>
                      <a:schemeClr val="accent1"/>
                    </a:solidFill>
                  </a:tcPr>
                </a:tc>
                <a:extLst>
                  <a:ext uri="{0D108BD9-81ED-4DB2-BD59-A6C34878D82A}">
                    <a16:rowId xmlns:a16="http://schemas.microsoft.com/office/drawing/2014/main" val="10000"/>
                  </a:ext>
                </a:extLst>
              </a:tr>
              <a:tr h="3740637">
                <a:tc>
                  <a:txBody>
                    <a:bodyPr/>
                    <a:lstStyle/>
                    <a:p>
                      <a:pPr>
                        <a:lnSpc>
                          <a:spcPct val="100000"/>
                        </a:lnSpc>
                        <a:spcBef>
                          <a:spcPts val="0"/>
                        </a:spcBef>
                        <a:spcAft>
                          <a:spcPts val="0"/>
                        </a:spcAft>
                      </a:pPr>
                      <a:r>
                        <a:rPr lang="en-US" sz="1800">
                          <a:latin typeface="Amazon Ember" panose="02000000000000000000" pitchFamily="2" charset="0"/>
                          <a:ea typeface="Amazon Ember" panose="02000000000000000000" pitchFamily="2" charset="0"/>
                          <a:cs typeface="Amazon Ember Light" panose="020B0403020204020204" pitchFamily="34" charset="0"/>
                        </a:rPr>
                        <a:t>Logica</a:t>
                      </a:r>
                      <a:r>
                        <a:rPr lang="en-US" sz="1800" baseline="0">
                          <a:latin typeface="Amazon Ember" panose="02000000000000000000" pitchFamily="2" charset="0"/>
                          <a:ea typeface="Amazon Ember" panose="02000000000000000000" pitchFamily="2" charset="0"/>
                          <a:cs typeface="Amazon Ember Light" panose="020B0403020204020204" pitchFamily="34" charset="0"/>
                        </a:rPr>
                        <a:t>l group of EC2 instances.</a:t>
                      </a: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a:lnSpc>
                          <a:spcPct val="100000"/>
                        </a:lnSpc>
                        <a:spcBef>
                          <a:spcPts val="0"/>
                        </a:spcBef>
                        <a:spcAft>
                          <a:spcPts val="0"/>
                        </a:spcAft>
                      </a:pP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a:lnSpc>
                          <a:spcPct val="100000"/>
                        </a:lnSpc>
                        <a:spcBef>
                          <a:spcPts val="0"/>
                        </a:spcBef>
                        <a:spcAft>
                          <a:spcPts val="0"/>
                        </a:spcAft>
                      </a:pPr>
                      <a:r>
                        <a:rPr lang="en-US" sz="1800">
                          <a:latin typeface="Amazon Ember" panose="02000000000000000000" pitchFamily="2" charset="0"/>
                          <a:ea typeface="Amazon Ember" panose="02000000000000000000" pitchFamily="2" charset="0"/>
                          <a:cs typeface="Amazon Ember Light" panose="020B0403020204020204" pitchFamily="34" charset="0"/>
                        </a:rPr>
                        <a:t>Automatically scale between:</a:t>
                      </a:r>
                    </a:p>
                    <a:p>
                      <a:pPr marL="171450" indent="-171450">
                        <a:lnSpc>
                          <a:spcPct val="100000"/>
                        </a:lnSpc>
                        <a:spcBef>
                          <a:spcPts val="0"/>
                        </a:spcBef>
                        <a:spcAft>
                          <a:spcPts val="0"/>
                        </a:spcAft>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Minimum</a:t>
                      </a:r>
                    </a:p>
                    <a:p>
                      <a:pPr marL="171450" indent="-171450">
                        <a:lnSpc>
                          <a:spcPct val="100000"/>
                        </a:lnSpc>
                        <a:spcBef>
                          <a:spcPts val="0"/>
                        </a:spcBef>
                        <a:spcAft>
                          <a:spcPts val="0"/>
                        </a:spcAft>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Desired (optional)</a:t>
                      </a:r>
                    </a:p>
                    <a:p>
                      <a:pPr marL="171450" indent="-171450">
                        <a:lnSpc>
                          <a:spcPct val="100000"/>
                        </a:lnSpc>
                        <a:spcBef>
                          <a:spcPts val="0"/>
                        </a:spcBef>
                        <a:spcAft>
                          <a:spcPts val="0"/>
                        </a:spcAft>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Maximum</a:t>
                      </a:r>
                    </a:p>
                    <a:p>
                      <a:pPr>
                        <a:lnSpc>
                          <a:spcPct val="100000"/>
                        </a:lnSpc>
                        <a:spcBef>
                          <a:spcPts val="0"/>
                        </a:spcBef>
                        <a:spcAft>
                          <a:spcPts val="0"/>
                        </a:spcAft>
                      </a:pP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a:lnSpc>
                          <a:spcPct val="100000"/>
                        </a:lnSpc>
                        <a:spcBef>
                          <a:spcPts val="0"/>
                        </a:spcBef>
                        <a:spcAft>
                          <a:spcPts val="0"/>
                        </a:spcAft>
                      </a:pPr>
                      <a:r>
                        <a:rPr lang="en-US" sz="1800">
                          <a:latin typeface="Amazon Ember" panose="02000000000000000000" pitchFamily="2" charset="0"/>
                          <a:ea typeface="Amazon Ember" panose="02000000000000000000" pitchFamily="2" charset="0"/>
                          <a:cs typeface="Amazon Ember Light" panose="020B0403020204020204" pitchFamily="34" charset="0"/>
                        </a:rPr>
                        <a:t>Integration with Elastic Load Balancing (optional).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Amazon Ember" panose="02000000000000000000" pitchFamily="2" charset="0"/>
                          <a:ea typeface="Amazon Ember" panose="02000000000000000000" pitchFamily="2" charset="0"/>
                          <a:cs typeface="Amazon Ember Light" panose="020B0403020204020204" pitchFamily="34" charset="0"/>
                        </a:rPr>
                        <a:t>Health checks</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to maintain group size.</a:t>
                      </a: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a:lnSpc>
                          <a:spcPct val="100000"/>
                        </a:lnSpc>
                        <a:spcBef>
                          <a:spcPts val="0"/>
                        </a:spcBef>
                        <a:spcAft>
                          <a:spcPts val="0"/>
                        </a:spcAft>
                      </a:pP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a:lnSpc>
                          <a:spcPct val="100000"/>
                        </a:lnSpc>
                        <a:spcBef>
                          <a:spcPts val="0"/>
                        </a:spcBef>
                        <a:spcAft>
                          <a:spcPts val="0"/>
                        </a:spcAft>
                      </a:pPr>
                      <a:r>
                        <a:rPr lang="en-US" sz="1800">
                          <a:latin typeface="Amazon Ember" panose="02000000000000000000" pitchFamily="2" charset="0"/>
                          <a:ea typeface="Amazon Ember" panose="02000000000000000000" pitchFamily="2" charset="0"/>
                          <a:cs typeface="Amazon Ember Light" panose="020B0403020204020204" pitchFamily="34" charset="0"/>
                        </a:rPr>
                        <a:t>Distribute and balance instances across</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Availability Zones.</a:t>
                      </a:r>
                      <a:endParaRPr lang="en-US" sz="2800">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tc>
                <a:extLst>
                  <a:ext uri="{0D108BD9-81ED-4DB2-BD59-A6C34878D82A}">
                    <a16:rowId xmlns:a16="http://schemas.microsoft.com/office/drawing/2014/main" val="10001"/>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3176361212"/>
              </p:ext>
            </p:extLst>
          </p:nvPr>
        </p:nvGraphicFramePr>
        <p:xfrm>
          <a:off x="7815263" y="1220481"/>
          <a:ext cx="4200525" cy="49225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00525">
                  <a:extLst>
                    <a:ext uri="{9D8B030D-6E8A-4147-A177-3AD203B41FA5}">
                      <a16:colId xmlns:a16="http://schemas.microsoft.com/office/drawing/2014/main" val="20000"/>
                    </a:ext>
                  </a:extLst>
                </a:gridCol>
              </a:tblGrid>
              <a:tr h="369246">
                <a:tc>
                  <a:txBody>
                    <a:bodyPr/>
                    <a:lstStyle/>
                    <a:p>
                      <a:pPr algn="ctr"/>
                      <a:r>
                        <a:rPr lang="en-US" sz="1900">
                          <a:latin typeface="Amazon Ember" panose="02000000000000000000" pitchFamily="2" charset="0"/>
                          <a:ea typeface="Amazon Ember" panose="02000000000000000000" pitchFamily="2" charset="0"/>
                        </a:rPr>
                        <a:t>EC2 Auto Scaling Policy</a:t>
                      </a:r>
                    </a:p>
                  </a:txBody>
                  <a:tcPr marL="121920" marR="121920" marT="60960" marB="60960">
                    <a:solidFill>
                      <a:schemeClr val="tx2">
                        <a:lumMod val="75000"/>
                      </a:schemeClr>
                    </a:solidFill>
                  </a:tcPr>
                </a:tc>
                <a:extLst>
                  <a:ext uri="{0D108BD9-81ED-4DB2-BD59-A6C34878D82A}">
                    <a16:rowId xmlns:a16="http://schemas.microsoft.com/office/drawing/2014/main" val="10000"/>
                  </a:ext>
                </a:extLst>
              </a:tr>
              <a:tr h="4294194">
                <a:tc>
                  <a:txBody>
                    <a:bodyPr/>
                    <a:lstStyle/>
                    <a:p>
                      <a:r>
                        <a:rPr lang="en-US" sz="1800">
                          <a:latin typeface="Amazon Ember" panose="02000000000000000000" pitchFamily="2" charset="0"/>
                          <a:ea typeface="Amazon Ember" panose="02000000000000000000" pitchFamily="2" charset="0"/>
                          <a:cs typeface="Amazon Ember Light" panose="020B0403020204020204" pitchFamily="34" charset="0"/>
                        </a:rPr>
                        <a:t>Parameters for performing an Amazon</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a:t>
                      </a:r>
                      <a:r>
                        <a:rPr lang="en-US" sz="1800">
                          <a:latin typeface="Amazon Ember" panose="02000000000000000000" pitchFamily="2" charset="0"/>
                          <a:ea typeface="Amazon Ember" panose="02000000000000000000" pitchFamily="2" charset="0"/>
                          <a:cs typeface="Amazon Ember Light" panose="020B0403020204020204" pitchFamily="34" charset="0"/>
                        </a:rPr>
                        <a:t>EC2 Auto Scaling action.</a:t>
                      </a:r>
                    </a:p>
                    <a:p>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r>
                        <a:rPr lang="en-US" sz="1800">
                          <a:latin typeface="Amazon Ember" panose="02000000000000000000" pitchFamily="2" charset="0"/>
                          <a:ea typeface="Amazon Ember" panose="02000000000000000000" pitchFamily="2" charset="0"/>
                          <a:cs typeface="Amazon Ember Light" panose="020B0403020204020204" pitchFamily="34" charset="0"/>
                        </a:rPr>
                        <a:t>How to trigger policies?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latin typeface="Amazon Ember" panose="02000000000000000000" pitchFamily="2" charset="0"/>
                          <a:ea typeface="Amazon Ember" panose="02000000000000000000" pitchFamily="2" charset="0"/>
                          <a:cs typeface="Amazon Ember Light" panose="020B0403020204020204" pitchFamily="34" charset="0"/>
                        </a:rPr>
                        <a:t>Amazon</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CloudWatch</a:t>
                      </a:r>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latin typeface="Amazon Ember" panose="02000000000000000000" pitchFamily="2" charset="0"/>
                          <a:ea typeface="Amazon Ember" panose="02000000000000000000" pitchFamily="2" charset="0"/>
                          <a:cs typeface="Amazon Ember Light" panose="020B0403020204020204" pitchFamily="34" charset="0"/>
                        </a:rPr>
                        <a:t>Instance failure (health check)</a:t>
                      </a:r>
                    </a:p>
                    <a:p>
                      <a:pPr marL="17145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Scheduled</a:t>
                      </a:r>
                    </a:p>
                    <a:p>
                      <a:pPr marL="17145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Manually</a:t>
                      </a:r>
                    </a:p>
                    <a:p>
                      <a:endParaRPr lang="en-US" sz="1800">
                        <a:latin typeface="Amazon Ember" panose="02000000000000000000" pitchFamily="2" charset="0"/>
                        <a:ea typeface="Amazon Ember" panose="02000000000000000000" pitchFamily="2" charset="0"/>
                        <a:cs typeface="Amazon Ember Light" panose="020B0403020204020204" pitchFamily="34" charset="0"/>
                      </a:endParaRPr>
                    </a:p>
                    <a:p>
                      <a:r>
                        <a:rPr lang="en-US" sz="1800">
                          <a:latin typeface="Amazon Ember" panose="02000000000000000000" pitchFamily="2" charset="0"/>
                          <a:ea typeface="Amazon Ember" panose="02000000000000000000" pitchFamily="2" charset="0"/>
                          <a:cs typeface="Amazon Ember Light" panose="020B0403020204020204" pitchFamily="34" charset="0"/>
                        </a:rPr>
                        <a:t>Scale out</a:t>
                      </a:r>
                      <a:r>
                        <a:rPr lang="en-US" sz="1800" baseline="0">
                          <a:latin typeface="Amazon Ember" panose="02000000000000000000" pitchFamily="2" charset="0"/>
                          <a:ea typeface="Amazon Ember" panose="02000000000000000000" pitchFamily="2" charset="0"/>
                          <a:cs typeface="Amazon Ember Light" panose="020B0403020204020204" pitchFamily="34" charset="0"/>
                        </a:rPr>
                        <a:t> or </a:t>
                      </a:r>
                      <a:r>
                        <a:rPr lang="en-US" sz="1800">
                          <a:latin typeface="Amazon Ember" panose="02000000000000000000" pitchFamily="2" charset="0"/>
                          <a:ea typeface="Amazon Ember" panose="02000000000000000000" pitchFamily="2" charset="0"/>
                          <a:cs typeface="Amazon Ember Light" panose="020B0403020204020204" pitchFamily="34" charset="0"/>
                        </a:rPr>
                        <a:t>in, and by how much:</a:t>
                      </a:r>
                    </a:p>
                    <a:p>
                      <a:pPr marL="171450" indent="-171450">
                        <a:buFont typeface="Arial" panose="020B0604020202020204" pitchFamily="34" charset="0"/>
                        <a:buChar char="•"/>
                      </a:pPr>
                      <a:r>
                        <a:rPr lang="en-US" sz="1800">
                          <a:latin typeface="Amazon Ember" panose="02000000000000000000" pitchFamily="2" charset="0"/>
                          <a:ea typeface="Amazon Ember" panose="02000000000000000000" pitchFamily="2" charset="0"/>
                          <a:cs typeface="Amazon Ember Light" panose="020B0403020204020204" pitchFamily="34" charset="0"/>
                        </a:rPr>
                        <a:t>ChangeIn</a:t>
                      </a:r>
                      <a:r>
                        <a:rPr lang="en-US" sz="1800" baseline="0">
                          <a:latin typeface="Amazon Ember" panose="02000000000000000000" pitchFamily="2" charset="0"/>
                          <a:ea typeface="Amazon Ember" panose="02000000000000000000" pitchFamily="2" charset="0"/>
                          <a:cs typeface="Amazon Ember Light" panose="020B0403020204020204" pitchFamily="34" charset="0"/>
                        </a:rPr>
                        <a:t>Capacity (+/-#)</a:t>
                      </a:r>
                    </a:p>
                    <a:p>
                      <a:pPr marL="171450" indent="-171450">
                        <a:buFont typeface="Arial" panose="020B0604020202020204" pitchFamily="34" charset="0"/>
                        <a:buChar char="•"/>
                      </a:pPr>
                      <a:r>
                        <a:rPr lang="en-US" sz="1800" baseline="0">
                          <a:latin typeface="Amazon Ember" panose="02000000000000000000" pitchFamily="2" charset="0"/>
                          <a:ea typeface="Amazon Ember" panose="02000000000000000000" pitchFamily="2" charset="0"/>
                          <a:cs typeface="Amazon Ember Light" panose="020B0403020204020204" pitchFamily="34" charset="0"/>
                        </a:rPr>
                        <a:t>ExactCapacity(#)</a:t>
                      </a:r>
                    </a:p>
                    <a:p>
                      <a:pPr marL="171450" indent="-171450">
                        <a:buFont typeface="Arial" panose="020B0604020202020204" pitchFamily="34" charset="0"/>
                        <a:buChar char="•"/>
                      </a:pPr>
                      <a:r>
                        <a:rPr lang="en-US" sz="1800" baseline="0">
                          <a:latin typeface="Amazon Ember" panose="02000000000000000000" pitchFamily="2" charset="0"/>
                          <a:ea typeface="Amazon Ember" panose="02000000000000000000" pitchFamily="2" charset="0"/>
                          <a:cs typeface="Amazon Ember Light" panose="020B0403020204020204" pitchFamily="34" charset="0"/>
                        </a:rPr>
                        <a:t>ChangeInPercent (+/-%)</a:t>
                      </a:r>
                    </a:p>
                    <a:p>
                      <a:endParaRPr lang="en-US" sz="1800" baseline="0">
                        <a:latin typeface="Amazon Ember" panose="02000000000000000000" pitchFamily="2" charset="0"/>
                        <a:ea typeface="Amazon Ember" panose="02000000000000000000" pitchFamily="2" charset="0"/>
                        <a:cs typeface="Amazon Ember Light" panose="020B0403020204020204" pitchFamily="34" charset="0"/>
                      </a:endParaRPr>
                    </a:p>
                    <a:p>
                      <a:pPr marL="285750" indent="-285750">
                        <a:buFont typeface="Arial" panose="020B0604020202020204" pitchFamily="34" charset="0"/>
                        <a:buChar char="•"/>
                      </a:pPr>
                      <a:r>
                        <a:rPr lang="en-US" sz="1800" baseline="0">
                          <a:latin typeface="Amazon Ember" panose="02000000000000000000" pitchFamily="2" charset="0"/>
                          <a:ea typeface="Amazon Ember" panose="02000000000000000000" pitchFamily="2" charset="0"/>
                          <a:cs typeface="Amazon Ember Light" panose="020B0403020204020204" pitchFamily="34" charset="0"/>
                        </a:rPr>
                        <a:t>Cooldown period (simple scaling)</a:t>
                      </a:r>
                    </a:p>
                    <a:p>
                      <a:pPr marL="285750" indent="-285750">
                        <a:buFont typeface="Arial" panose="020B0604020202020204" pitchFamily="34" charset="0"/>
                        <a:buChar char="•"/>
                      </a:pPr>
                      <a:r>
                        <a:rPr lang="en-US" sz="1800" baseline="0">
                          <a:latin typeface="Amazon Ember" panose="02000000000000000000" pitchFamily="2" charset="0"/>
                          <a:ea typeface="Amazon Ember" panose="02000000000000000000" pitchFamily="2" charset="0"/>
                          <a:cs typeface="Amazon Ember Light" panose="020B0403020204020204" pitchFamily="34" charset="0"/>
                        </a:rPr>
                        <a:t>Warmup period (step scaling)</a:t>
                      </a:r>
                    </a:p>
                  </a:txBody>
                  <a:tcPr marL="121920" marR="121920" marT="60960" marB="60960"/>
                </a:tc>
                <a:extLst>
                  <a:ext uri="{0D108BD9-81ED-4DB2-BD59-A6C34878D82A}">
                    <a16:rowId xmlns:a16="http://schemas.microsoft.com/office/drawing/2014/main" val="10001"/>
                  </a:ext>
                </a:extLst>
              </a:tr>
            </a:tbl>
          </a:graphicData>
        </a:graphic>
      </p:graphicFrame>
      <p:pic>
        <p:nvPicPr>
          <p:cNvPr id="7" name="Graphic 123">
            <a:extLst>
              <a:ext uri="{FF2B5EF4-FFF2-40B4-BE49-F238E27FC236}">
                <a16:creationId xmlns:a16="http://schemas.microsoft.com/office/drawing/2014/main" id="{5A9E985C-C9D1-434B-9491-7C5A2864A4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78533" y="1156000"/>
            <a:ext cx="763706" cy="763706"/>
          </a:xfrm>
          <a:prstGeom prst="rect">
            <a:avLst/>
          </a:prstGeom>
        </p:spPr>
      </p:pic>
      <p:sp>
        <p:nvSpPr>
          <p:cNvPr id="8" name="TextBox 7">
            <a:extLst>
              <a:ext uri="{FF2B5EF4-FFF2-40B4-BE49-F238E27FC236}">
                <a16:creationId xmlns:a16="http://schemas.microsoft.com/office/drawing/2014/main" id="{97104151-6779-134A-B240-03AC2BE6CB9B}"/>
              </a:ext>
            </a:extLst>
          </p:cNvPr>
          <p:cNvSpPr txBox="1"/>
          <p:nvPr/>
        </p:nvSpPr>
        <p:spPr>
          <a:xfrm>
            <a:off x="5442239" y="1488560"/>
            <a:ext cx="1615407" cy="307777"/>
          </a:xfrm>
          <a:prstGeom prst="rect">
            <a:avLst/>
          </a:prstGeom>
          <a:noFill/>
        </p:spPr>
        <p:txBody>
          <a:bodyPr wrap="square" rtlCol="0">
            <a:spAutoFit/>
          </a:bodyPr>
          <a:lstStyle/>
          <a:p>
            <a:pPr algn="ctr"/>
            <a:r>
              <a:rPr lang="en-US" sz="1400">
                <a:latin typeface="Amazon Ember" panose="02000000000000000000" pitchFamily="2" charset="0"/>
              </a:rPr>
              <a:t>EC2 Auto Scaling</a:t>
            </a:r>
          </a:p>
        </p:txBody>
      </p:sp>
      <p:sp>
        <p:nvSpPr>
          <p:cNvPr id="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23</a:t>
            </a:fld>
            <a:endParaRPr lang="en-US">
              <a:solidFill>
                <a:srgbClr val="000000">
                  <a:tint val="75000"/>
                </a:srgbClr>
              </a:solidFill>
            </a:endParaRPr>
          </a:p>
        </p:txBody>
      </p:sp>
      <p:sp>
        <p:nvSpPr>
          <p:cNvPr id="4" name="TextBox 3">
            <a:extLst>
              <a:ext uri="{FF2B5EF4-FFF2-40B4-BE49-F238E27FC236}">
                <a16:creationId xmlns:a16="http://schemas.microsoft.com/office/drawing/2014/main" id="{2C407C88-0DBB-3944-97DB-350068169BBF}"/>
              </a:ext>
            </a:extLst>
          </p:cNvPr>
          <p:cNvSpPr txBox="1"/>
          <p:nvPr/>
        </p:nvSpPr>
        <p:spPr>
          <a:xfrm>
            <a:off x="13971181" y="4742121"/>
            <a:ext cx="184731" cy="523220"/>
          </a:xfrm>
          <a:prstGeom prst="rect">
            <a:avLst/>
          </a:prstGeom>
          <a:noFill/>
        </p:spPr>
        <p:txBody>
          <a:bodyPr wrap="none" rtlCol="0">
            <a:spAutoFit/>
          </a:bodyPr>
          <a:lstStyle/>
          <a:p>
            <a:endParaRPr lang="en-US" sz="2800" err="1">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410960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5"/>
                                        </p:tgtEl>
                                        <p:attrNameLst>
                                          <p:attrName>style.opacity</p:attrName>
                                        </p:attrNameLst>
                                      </p:cBhvr>
                                      <p:to>
                                        <p:strVal val="0.5"/>
                                      </p:to>
                                    </p:set>
                                    <p:animEffect filter="image" prLst="opacity: 0.5">
                                      <p:cBhvr rctx="IE">
                                        <p:cTn id="7" dur="indefinite"/>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9" presetClass="emph" presetSubtype="0" nodeType="clickEffect">
                                  <p:stCondLst>
                                    <p:cond delay="0"/>
                                  </p:stCondLst>
                                  <p:childTnLst>
                                    <p:set>
                                      <p:cBhvr rctx="PPT">
                                        <p:cTn id="13" dur="indefinite"/>
                                        <p:tgtEl>
                                          <p:spTgt spid="21"/>
                                        </p:tgtEl>
                                        <p:attrNameLst>
                                          <p:attrName>style.opacity</p:attrName>
                                        </p:attrNameLst>
                                      </p:cBhvr>
                                      <p:to>
                                        <p:strVal val="0.5"/>
                                      </p:to>
                                    </p:set>
                                    <p:animEffect filter="image" prLst="opacity: 0.5">
                                      <p:cBhvr rctx="IE">
                                        <p:cTn id="14" dur="indefinite"/>
                                        <p:tgtEl>
                                          <p:spTgt spid="21"/>
                                        </p:tgtEl>
                                      </p:cBhvr>
                                    </p:animEffec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EC2 Auto Scaling and instance health</a:t>
            </a:r>
          </a:p>
        </p:txBody>
      </p:sp>
      <p:sp>
        <p:nvSpPr>
          <p:cNvPr id="5" name="Content Placeholder 2"/>
          <p:cNvSpPr>
            <a:spLocks noGrp="1"/>
          </p:cNvSpPr>
          <p:nvPr>
            <p:ph idx="1"/>
          </p:nvPr>
        </p:nvSpPr>
        <p:spPr/>
        <p:txBody>
          <a:bodyPr/>
          <a:lstStyle/>
          <a:p>
            <a:pPr>
              <a:lnSpc>
                <a:spcPct val="100000"/>
              </a:lnSpc>
              <a:spcBef>
                <a:spcPts val="600"/>
              </a:spcBef>
              <a:spcAft>
                <a:spcPts val="600"/>
              </a:spcAft>
            </a:pPr>
            <a:r>
              <a:rPr lang="en-US"/>
              <a:t>Maintains health state for instances</a:t>
            </a:r>
          </a:p>
          <a:p>
            <a:pPr>
              <a:lnSpc>
                <a:spcPct val="100000"/>
              </a:lnSpc>
              <a:spcBef>
                <a:spcPts val="600"/>
              </a:spcBef>
              <a:spcAft>
                <a:spcPts val="600"/>
              </a:spcAft>
            </a:pPr>
            <a:r>
              <a:rPr lang="en-US"/>
              <a:t>Terminates instances marked unhealthy</a:t>
            </a:r>
          </a:p>
          <a:p>
            <a:pPr>
              <a:lnSpc>
                <a:spcPct val="100000"/>
              </a:lnSpc>
              <a:spcBef>
                <a:spcPts val="600"/>
              </a:spcBef>
              <a:spcAft>
                <a:spcPts val="600"/>
              </a:spcAft>
            </a:pPr>
            <a:r>
              <a:rPr lang="en-US"/>
              <a:t>Uses Amazon EC2 instance status checks by default</a:t>
            </a:r>
          </a:p>
          <a:p>
            <a:pPr>
              <a:lnSpc>
                <a:spcPct val="100000"/>
              </a:lnSpc>
              <a:spcBef>
                <a:spcPts val="600"/>
              </a:spcBef>
              <a:spcAft>
                <a:spcPts val="600"/>
              </a:spcAft>
            </a:pPr>
            <a:r>
              <a:rPr lang="en-US"/>
              <a:t>Can configure these checks if instances are behind a load balancer:</a:t>
            </a:r>
          </a:p>
          <a:p>
            <a:pPr lvl="1">
              <a:lnSpc>
                <a:spcPct val="100000"/>
              </a:lnSpc>
              <a:spcBef>
                <a:spcPts val="600"/>
              </a:spcBef>
              <a:spcAft>
                <a:spcPts val="600"/>
              </a:spcAft>
            </a:pPr>
            <a:r>
              <a:rPr lang="en-US"/>
              <a:t>Load balancer instance checks</a:t>
            </a:r>
          </a:p>
          <a:p>
            <a:pPr lvl="1">
              <a:lnSpc>
                <a:spcPct val="100000"/>
              </a:lnSpc>
              <a:spcBef>
                <a:spcPts val="600"/>
              </a:spcBef>
              <a:spcAft>
                <a:spcPts val="600"/>
              </a:spcAft>
            </a:pPr>
            <a:r>
              <a:rPr lang="en-US"/>
              <a:t>Amazon EC2 instance checks </a:t>
            </a:r>
          </a:p>
          <a:p>
            <a:pPr>
              <a:lnSpc>
                <a:spcPct val="100000"/>
              </a:lnSpc>
              <a:spcBef>
                <a:spcPts val="600"/>
              </a:spcBef>
              <a:spcAft>
                <a:spcPts val="600"/>
              </a:spcAft>
            </a:pPr>
            <a:r>
              <a:rPr lang="en-US"/>
              <a:t>Can trigger instance recycling by using external scripts:</a:t>
            </a:r>
            <a:br>
              <a:rPr lang="en-US"/>
            </a:br>
            <a:r>
              <a:rPr lang="en-US" b="1">
                <a:solidFill>
                  <a:schemeClr val="tx2">
                    <a:lumMod val="75000"/>
                  </a:schemeClr>
                </a:solidFill>
                <a:latin typeface="Courier New" panose="02070309020205020404" pitchFamily="49" charset="0"/>
                <a:cs typeface="Courier New" panose="02070309020205020404" pitchFamily="49" charset="0"/>
              </a:rPr>
              <a:t>aws autoscaling set-instance-health </a:t>
            </a:r>
            <a:r>
              <a:rPr lang="en-US"/>
              <a:t>command</a:t>
            </a:r>
          </a:p>
          <a:p>
            <a:pPr lvl="1">
              <a:lnSpc>
                <a:spcPct val="100000"/>
              </a:lnSpc>
              <a:spcBef>
                <a:spcPts val="600"/>
              </a:spcBef>
              <a:spcAft>
                <a:spcPts val="600"/>
              </a:spcAft>
            </a:pPr>
            <a:endParaRPr lang="en-US"/>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870284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EC2 Auto Scaling termination policy</a:t>
            </a:r>
          </a:p>
        </p:txBody>
      </p:sp>
      <p:sp>
        <p:nvSpPr>
          <p:cNvPr id="5" name="Content Placeholder 2"/>
          <p:cNvSpPr>
            <a:spLocks noGrp="1"/>
          </p:cNvSpPr>
          <p:nvPr>
            <p:ph idx="1"/>
          </p:nvPr>
        </p:nvSpPr>
        <p:spPr>
          <a:xfrm>
            <a:off x="419100" y="1528175"/>
            <a:ext cx="5377266" cy="4648788"/>
          </a:xfrm>
        </p:spPr>
        <p:txBody>
          <a:bodyPr/>
          <a:lstStyle/>
          <a:p>
            <a:pPr marL="0" indent="0">
              <a:lnSpc>
                <a:spcPct val="100000"/>
              </a:lnSpc>
              <a:spcBef>
                <a:spcPts val="600"/>
              </a:spcBef>
              <a:spcAft>
                <a:spcPts val="600"/>
              </a:spcAft>
              <a:buNone/>
            </a:pPr>
            <a:r>
              <a:rPr lang="en-US" b="1">
                <a:solidFill>
                  <a:schemeClr val="tx2">
                    <a:lumMod val="75000"/>
                  </a:schemeClr>
                </a:solidFill>
              </a:rPr>
              <a:t>Auto Scaling termination policy:</a:t>
            </a:r>
          </a:p>
          <a:p>
            <a:pPr>
              <a:lnSpc>
                <a:spcPct val="100000"/>
              </a:lnSpc>
              <a:spcBef>
                <a:spcPts val="600"/>
              </a:spcBef>
              <a:spcAft>
                <a:spcPts val="600"/>
              </a:spcAft>
            </a:pPr>
            <a:r>
              <a:rPr lang="en-US"/>
              <a:t>Determines which instance is terminated when scaling in</a:t>
            </a:r>
          </a:p>
          <a:p>
            <a:pPr>
              <a:lnSpc>
                <a:spcPct val="100000"/>
              </a:lnSpc>
              <a:spcBef>
                <a:spcPts val="600"/>
              </a:spcBef>
              <a:spcAft>
                <a:spcPts val="600"/>
              </a:spcAft>
            </a:pPr>
            <a:r>
              <a:rPr lang="en-US"/>
              <a:t>Determines termination order based on these factors:</a:t>
            </a:r>
          </a:p>
          <a:p>
            <a:pPr lvl="1">
              <a:lnSpc>
                <a:spcPct val="100000"/>
              </a:lnSpc>
              <a:spcBef>
                <a:spcPts val="600"/>
              </a:spcBef>
              <a:spcAft>
                <a:spcPts val="600"/>
              </a:spcAft>
            </a:pPr>
            <a:r>
              <a:rPr lang="en-US"/>
              <a:t>Availability Zone with largest number of instances</a:t>
            </a:r>
          </a:p>
          <a:p>
            <a:pPr lvl="1">
              <a:lnSpc>
                <a:spcPct val="100000"/>
              </a:lnSpc>
              <a:spcBef>
                <a:spcPts val="600"/>
              </a:spcBef>
              <a:spcAft>
                <a:spcPts val="600"/>
              </a:spcAft>
            </a:pPr>
            <a:r>
              <a:rPr lang="en-US"/>
              <a:t>Multiple policies (the policies will be run in the order they are listed)</a:t>
            </a:r>
          </a:p>
        </p:txBody>
      </p:sp>
      <p:grpSp>
        <p:nvGrpSpPr>
          <p:cNvPr id="11" name="Group 10"/>
          <p:cNvGrpSpPr/>
          <p:nvPr/>
        </p:nvGrpSpPr>
        <p:grpSpPr>
          <a:xfrm>
            <a:off x="6049656" y="1550342"/>
            <a:ext cx="5558532" cy="3823660"/>
            <a:chOff x="6473590" y="1611452"/>
            <a:chExt cx="4480473" cy="3082073"/>
          </a:xfrm>
        </p:grpSpPr>
        <p:sp>
          <p:nvSpPr>
            <p:cNvPr id="14" name="TextBox 13">
              <a:extLst>
                <a:ext uri="{FF2B5EF4-FFF2-40B4-BE49-F238E27FC236}">
                  <a16:creationId xmlns:a16="http://schemas.microsoft.com/office/drawing/2014/main" id="{A2E66441-9232-CE4C-A615-A53B805B95E2}"/>
                </a:ext>
              </a:extLst>
            </p:cNvPr>
            <p:cNvSpPr txBox="1"/>
            <p:nvPr/>
          </p:nvSpPr>
          <p:spPr>
            <a:xfrm>
              <a:off x="9268361" y="2602101"/>
              <a:ext cx="1485100" cy="297701"/>
            </a:xfrm>
            <a:prstGeom prst="rect">
              <a:avLst/>
            </a:prstGeom>
            <a:noFill/>
          </p:spPr>
          <p:txBody>
            <a:bodyPr wrap="square" rtlCol="0">
              <a:spAutoFit/>
            </a:bodyPr>
            <a:lstStyle/>
            <a:p>
              <a:pPr algn="ctr"/>
              <a:r>
                <a:rPr lang="en-US">
                  <a:solidFill>
                    <a:srgbClr val="232F3E"/>
                  </a:solidFill>
                  <a:latin typeface="Amazon Ember" panose="02000000000000000000" pitchFamily="2" charset="0"/>
                </a:rPr>
                <a:t>Instance</a:t>
              </a:r>
            </a:p>
          </p:txBody>
        </p:sp>
        <p:pic>
          <p:nvPicPr>
            <p:cNvPr id="4"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33444" y="2518912"/>
              <a:ext cx="394953" cy="394953"/>
            </a:xfrm>
            <a:prstGeom prst="rect">
              <a:avLst/>
            </a:prstGeom>
          </p:spPr>
        </p:pic>
        <p:sp>
          <p:nvSpPr>
            <p:cNvPr id="6" name="Multiply 5"/>
            <p:cNvSpPr/>
            <p:nvPr/>
          </p:nvSpPr>
          <p:spPr>
            <a:xfrm>
              <a:off x="10319651" y="2402265"/>
              <a:ext cx="572876" cy="627857"/>
            </a:xfrm>
            <a:prstGeom prst="mathMultiply">
              <a:avLst/>
            </a:prstGeom>
            <a:solidFill>
              <a:schemeClr val="accent6">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Amazon Ember" panose="02000000000000000000" pitchFamily="2" charset="0"/>
              </a:endParaRPr>
            </a:p>
          </p:txBody>
        </p:sp>
        <p:cxnSp>
          <p:nvCxnSpPr>
            <p:cNvPr id="7" name="Straight Arrow Connector 6"/>
            <p:cNvCxnSpPr/>
            <p:nvPr/>
          </p:nvCxnSpPr>
          <p:spPr>
            <a:xfrm flipH="1">
              <a:off x="7283103" y="2819944"/>
              <a:ext cx="288464" cy="4934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8"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9287" y="2527482"/>
              <a:ext cx="394953" cy="394953"/>
            </a:xfrm>
            <a:prstGeom prst="rect">
              <a:avLst/>
            </a:prstGeom>
          </p:spPr>
        </p:pic>
        <p:sp>
          <p:nvSpPr>
            <p:cNvPr id="9" name="TextBox 8">
              <a:extLst>
                <a:ext uri="{FF2B5EF4-FFF2-40B4-BE49-F238E27FC236}">
                  <a16:creationId xmlns:a16="http://schemas.microsoft.com/office/drawing/2014/main" id="{A2E66441-9232-CE4C-A615-A53B805B95E2}"/>
                </a:ext>
              </a:extLst>
            </p:cNvPr>
            <p:cNvSpPr txBox="1"/>
            <p:nvPr/>
          </p:nvSpPr>
          <p:spPr>
            <a:xfrm>
              <a:off x="6473590" y="2532259"/>
              <a:ext cx="1485100" cy="297701"/>
            </a:xfrm>
            <a:prstGeom prst="rect">
              <a:avLst/>
            </a:prstGeom>
            <a:noFill/>
          </p:spPr>
          <p:txBody>
            <a:bodyPr wrap="square" rtlCol="0">
              <a:spAutoFit/>
            </a:bodyPr>
            <a:lstStyle/>
            <a:p>
              <a:pPr algn="ctr"/>
              <a:r>
                <a:rPr lang="en-US">
                  <a:solidFill>
                    <a:srgbClr val="232F3E"/>
                  </a:solidFill>
                  <a:latin typeface="Amazon Ember" panose="02000000000000000000" pitchFamily="2" charset="0"/>
                </a:rPr>
                <a:t>Instance</a:t>
              </a:r>
            </a:p>
          </p:txBody>
        </p:sp>
        <p:pic>
          <p:nvPicPr>
            <p:cNvPr id="10"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84514" y="4100918"/>
              <a:ext cx="469900" cy="469900"/>
            </a:xfrm>
            <a:prstGeom prst="rect">
              <a:avLst/>
            </a:prstGeom>
          </p:spPr>
        </p:pic>
        <p:pic>
          <p:nvPicPr>
            <p:cNvPr id="12"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63915" y="3925924"/>
              <a:ext cx="469900" cy="469900"/>
            </a:xfrm>
            <a:prstGeom prst="rect">
              <a:avLst/>
            </a:prstGeom>
          </p:spPr>
        </p:pic>
        <p:sp>
          <p:nvSpPr>
            <p:cNvPr id="13" name="TextBox 12">
              <a:extLst>
                <a:ext uri="{FF2B5EF4-FFF2-40B4-BE49-F238E27FC236}">
                  <a16:creationId xmlns:a16="http://schemas.microsoft.com/office/drawing/2014/main" id="{4C1CD0DB-DD3F-CF4F-87F7-8B83B28C0A71}"/>
                </a:ext>
              </a:extLst>
            </p:cNvPr>
            <p:cNvSpPr txBox="1"/>
            <p:nvPr/>
          </p:nvSpPr>
          <p:spPr>
            <a:xfrm>
              <a:off x="9283273" y="4395824"/>
              <a:ext cx="1513305" cy="297701"/>
            </a:xfrm>
            <a:prstGeom prst="rect">
              <a:avLst/>
            </a:prstGeom>
            <a:noFill/>
          </p:spPr>
          <p:txBody>
            <a:bodyPr wrap="square" rtlCol="0">
              <a:spAutoFit/>
            </a:bodyPr>
            <a:lstStyle/>
            <a:p>
              <a:pPr algn="ctr"/>
              <a:r>
                <a:rPr lang="en-US">
                  <a:latin typeface="Amazon Ember" panose="02000000000000000000" pitchFamily="2" charset="0"/>
                </a:rPr>
                <a:t>Instances</a:t>
              </a:r>
            </a:p>
          </p:txBody>
        </p:sp>
        <p:sp>
          <p:nvSpPr>
            <p:cNvPr id="15" name="Rectangle 14">
              <a:extLst>
                <a:ext uri="{FF2B5EF4-FFF2-40B4-BE49-F238E27FC236}">
                  <a16:creationId xmlns:a16="http://schemas.microsoft.com/office/drawing/2014/main" id="{25B2706C-95D8-A94F-9EC8-6497FA7FB136}"/>
                </a:ext>
              </a:extLst>
            </p:cNvPr>
            <p:cNvSpPr/>
            <p:nvPr/>
          </p:nvSpPr>
          <p:spPr>
            <a:xfrm>
              <a:off x="6760517" y="2938967"/>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91440" numCol="1" spcCol="0" rtlCol="0" fromWordArt="0" anchor="t" anchorCtr="0" forceAA="0" compatLnSpc="1">
              <a:prstTxWarp prst="textNoShape">
                <a:avLst/>
              </a:prstTxWarp>
              <a:noAutofit/>
            </a:bodyPr>
            <a:lstStyle/>
            <a:p>
              <a:pPr algn="ctr"/>
              <a:endParaRPr lang="en-US">
                <a:solidFill>
                  <a:srgbClr val="D86613"/>
                </a:solidFill>
                <a:latin typeface="Amazon Ember" panose="02000000000000000000" pitchFamily="2" charset="0"/>
              </a:endParaRPr>
            </a:p>
            <a:p>
              <a:pPr algn="ctr"/>
              <a:endParaRPr lang="en-US">
                <a:solidFill>
                  <a:srgbClr val="D86613"/>
                </a:solidFill>
                <a:latin typeface="Amazon Ember" panose="02000000000000000000" pitchFamily="2" charset="0"/>
              </a:endParaRPr>
            </a:p>
            <a:p>
              <a:pPr algn="ctr"/>
              <a:r>
                <a:rPr lang="en-US">
                  <a:solidFill>
                    <a:srgbClr val="D86613"/>
                  </a:solidFill>
                  <a:latin typeface="Amazon Ember" panose="02000000000000000000" pitchFamily="2" charset="0"/>
                </a:rPr>
                <a:t>Auto Scaling group</a:t>
              </a:r>
            </a:p>
          </p:txBody>
        </p:sp>
        <p:pic>
          <p:nvPicPr>
            <p:cNvPr id="16"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54670" y="2925273"/>
              <a:ext cx="330200" cy="330200"/>
            </a:xfrm>
            <a:prstGeom prst="rect">
              <a:avLst/>
            </a:prstGeom>
          </p:spPr>
        </p:pic>
        <p:sp>
          <p:nvSpPr>
            <p:cNvPr id="17" name="Rectangle 16">
              <a:extLst>
                <a:ext uri="{FF2B5EF4-FFF2-40B4-BE49-F238E27FC236}">
                  <a16:creationId xmlns:a16="http://schemas.microsoft.com/office/drawing/2014/main" id="{25B2706C-95D8-A94F-9EC8-6497FA7FB136}"/>
                </a:ext>
              </a:extLst>
            </p:cNvPr>
            <p:cNvSpPr/>
            <p:nvPr/>
          </p:nvSpPr>
          <p:spPr>
            <a:xfrm>
              <a:off x="9361067" y="2899980"/>
              <a:ext cx="1282937" cy="1787121"/>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t" anchorCtr="0" forceAA="0" compatLnSpc="1">
              <a:prstTxWarp prst="textNoShape">
                <a:avLst/>
              </a:prstTxWarp>
              <a:noAutofit/>
            </a:bodyPr>
            <a:lstStyle/>
            <a:p>
              <a:pPr algn="ctr"/>
              <a:endParaRPr lang="en-US">
                <a:solidFill>
                  <a:srgbClr val="D86613"/>
                </a:solidFill>
                <a:latin typeface="Amazon Ember" panose="02000000000000000000" pitchFamily="2" charset="0"/>
              </a:endParaRPr>
            </a:p>
            <a:p>
              <a:pPr algn="ctr"/>
              <a:endParaRPr lang="en-US">
                <a:solidFill>
                  <a:srgbClr val="D86613"/>
                </a:solidFill>
                <a:latin typeface="Amazon Ember" panose="02000000000000000000" pitchFamily="2" charset="0"/>
              </a:endParaRPr>
            </a:p>
            <a:p>
              <a:pPr algn="ctr"/>
              <a:r>
                <a:rPr lang="en-US">
                  <a:solidFill>
                    <a:srgbClr val="D86613"/>
                  </a:solidFill>
                  <a:latin typeface="Amazon Ember" panose="02000000000000000000" pitchFamily="2" charset="0"/>
                </a:rPr>
                <a:t>Auto Scaling group</a:t>
              </a:r>
            </a:p>
          </p:txBody>
        </p:sp>
        <p:pic>
          <p:nvPicPr>
            <p:cNvPr id="18"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61067" y="2938967"/>
              <a:ext cx="330200" cy="330200"/>
            </a:xfrm>
            <a:prstGeom prst="rect">
              <a:avLst/>
            </a:prstGeom>
          </p:spPr>
        </p:pic>
        <p:sp>
          <p:nvSpPr>
            <p:cNvPr id="3" name="TextBox 2"/>
            <p:cNvSpPr txBox="1"/>
            <p:nvPr/>
          </p:nvSpPr>
          <p:spPr>
            <a:xfrm>
              <a:off x="6553612" y="1611452"/>
              <a:ext cx="1736898" cy="868295"/>
            </a:xfrm>
            <a:prstGeom prst="rect">
              <a:avLst/>
            </a:prstGeom>
            <a:noFill/>
          </p:spPr>
          <p:txBody>
            <a:bodyPr wrap="square" rtlCol="0">
              <a:spAutoFit/>
            </a:bodyPr>
            <a:lstStyle/>
            <a:p>
              <a:pPr algn="ctr"/>
              <a:r>
                <a:rPr lang="en-US" sz="2400" b="1">
                  <a:latin typeface="Amazon Ember" panose="02000000000000000000" pitchFamily="2" charset="0"/>
                  <a:ea typeface="Amazon Ember" panose="02000000000000000000" pitchFamily="2" charset="0"/>
                  <a:cs typeface="Amazon Ember Light" panose="020B0403020204020204" pitchFamily="34" charset="0"/>
                </a:rPr>
                <a:t>Scale Out</a:t>
              </a:r>
            </a:p>
            <a:p>
              <a:pPr algn="ctr"/>
              <a:r>
                <a:rPr lang="en-US" sz="2000">
                  <a:latin typeface="Amazon Ember" panose="02000000000000000000" pitchFamily="2" charset="0"/>
                  <a:ea typeface="Amazon Ember" panose="02000000000000000000" pitchFamily="2" charset="0"/>
                  <a:cs typeface="Amazon Ember Light" panose="020B0403020204020204" pitchFamily="34" charset="0"/>
                </a:rPr>
                <a:t>New Instance Added</a:t>
              </a:r>
            </a:p>
          </p:txBody>
        </p:sp>
        <p:sp>
          <p:nvSpPr>
            <p:cNvPr id="19" name="TextBox 18"/>
            <p:cNvSpPr txBox="1"/>
            <p:nvPr/>
          </p:nvSpPr>
          <p:spPr>
            <a:xfrm>
              <a:off x="9217165" y="1611452"/>
              <a:ext cx="1736898" cy="868295"/>
            </a:xfrm>
            <a:prstGeom prst="rect">
              <a:avLst/>
            </a:prstGeom>
            <a:noFill/>
          </p:spPr>
          <p:txBody>
            <a:bodyPr wrap="square" rtlCol="0">
              <a:spAutoFit/>
            </a:bodyPr>
            <a:lstStyle/>
            <a:p>
              <a:pPr algn="ctr"/>
              <a:r>
                <a:rPr lang="en-US" sz="2400" b="1">
                  <a:latin typeface="Amazon Ember" panose="02000000000000000000" pitchFamily="2" charset="0"/>
                  <a:ea typeface="Amazon Ember" panose="02000000000000000000" pitchFamily="2" charset="0"/>
                  <a:cs typeface="Amazon Ember Light" panose="020B0403020204020204" pitchFamily="34" charset="0"/>
                </a:rPr>
                <a:t>Scale In</a:t>
              </a:r>
            </a:p>
            <a:p>
              <a:pPr algn="ctr"/>
              <a:r>
                <a:rPr lang="en-US" sz="2000">
                  <a:latin typeface="Amazon Ember" panose="02000000000000000000" pitchFamily="2" charset="0"/>
                  <a:ea typeface="Amazon Ember" panose="02000000000000000000" pitchFamily="2" charset="0"/>
                  <a:cs typeface="Amazon Ember Light" panose="020B0403020204020204" pitchFamily="34" charset="0"/>
                </a:rPr>
                <a:t>Instance is Removed</a:t>
              </a:r>
            </a:p>
          </p:txBody>
        </p:sp>
      </p:grpSp>
      <p:sp>
        <p:nvSpPr>
          <p:cNvPr id="2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0" name="Slide Number Placeholder 19"/>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797131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a:t>Termination policies</a:t>
            </a:r>
          </a:p>
        </p:txBody>
      </p:sp>
      <p:graphicFrame>
        <p:nvGraphicFramePr>
          <p:cNvPr id="6" name="Table 5"/>
          <p:cNvGraphicFramePr>
            <a:graphicFrameLocks noGrp="1"/>
          </p:cNvGraphicFramePr>
          <p:nvPr>
            <p:extLst>
              <p:ext uri="{D42A27DB-BD31-4B8C-83A1-F6EECF244321}">
                <p14:modId xmlns:p14="http://schemas.microsoft.com/office/powerpoint/2010/main" val="745060319"/>
              </p:ext>
            </p:extLst>
          </p:nvPr>
        </p:nvGraphicFramePr>
        <p:xfrm>
          <a:off x="672543" y="1442301"/>
          <a:ext cx="10879302" cy="469767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12675">
                  <a:extLst>
                    <a:ext uri="{9D8B030D-6E8A-4147-A177-3AD203B41FA5}">
                      <a16:colId xmlns:a16="http://schemas.microsoft.com/office/drawing/2014/main" val="20000"/>
                    </a:ext>
                  </a:extLst>
                </a:gridCol>
                <a:gridCol w="6766627">
                  <a:extLst>
                    <a:ext uri="{9D8B030D-6E8A-4147-A177-3AD203B41FA5}">
                      <a16:colId xmlns:a16="http://schemas.microsoft.com/office/drawing/2014/main" val="20001"/>
                    </a:ext>
                  </a:extLst>
                </a:gridCol>
              </a:tblGrid>
              <a:tr h="606472">
                <a:tc>
                  <a:txBody>
                    <a:bodyPr/>
                    <a:lstStyle/>
                    <a:p>
                      <a:pPr algn="ctr"/>
                      <a:r>
                        <a:rPr lang="en-US" sz="3200" b="1" i="0">
                          <a:solidFill>
                            <a:schemeClr val="bg1"/>
                          </a:solidFill>
                          <a:latin typeface="Amazon Ember" charset="0"/>
                          <a:ea typeface="Amazon Ember" charset="0"/>
                          <a:cs typeface="Amazon Ember" charset="0"/>
                        </a:rPr>
                        <a:t>Termination Policy</a:t>
                      </a:r>
                    </a:p>
                  </a:txBody>
                  <a:tcPr marL="121920" marR="121920"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1"/>
                    </a:solidFill>
                  </a:tcPr>
                </a:tc>
                <a:tc>
                  <a:txBody>
                    <a:bodyPr/>
                    <a:lstStyle/>
                    <a:p>
                      <a:pPr algn="ctr"/>
                      <a:r>
                        <a:rPr lang="en-US" sz="3200" b="1" i="0">
                          <a:latin typeface="Amazon Ember" charset="0"/>
                          <a:ea typeface="Amazon Ember" charset="0"/>
                          <a:cs typeface="Amazon Ember" charset="0"/>
                        </a:rPr>
                        <a:t>Description</a:t>
                      </a:r>
                    </a:p>
                  </a:txBody>
                  <a:tcPr marL="121920" marR="121920"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tx2">
                        <a:lumMod val="75000"/>
                      </a:schemeClr>
                    </a:solidFill>
                  </a:tcPr>
                </a:tc>
                <a:extLst>
                  <a:ext uri="{0D108BD9-81ED-4DB2-BD59-A6C34878D82A}">
                    <a16:rowId xmlns:a16="http://schemas.microsoft.com/office/drawing/2014/main" val="10000"/>
                  </a:ext>
                </a:extLst>
              </a:tr>
              <a:tr h="1018275">
                <a:tc>
                  <a:txBody>
                    <a:bodyPr/>
                    <a:lstStyle/>
                    <a:p>
                      <a:pPr algn="ctr"/>
                      <a:r>
                        <a:rPr lang="en-US" sz="2400" b="1">
                          <a:solidFill>
                            <a:schemeClr val="bg1"/>
                          </a:solidFill>
                          <a:latin typeface="Courier"/>
                        </a:rPr>
                        <a:t>OldestInstance</a:t>
                      </a:r>
                    </a:p>
                  </a:txBody>
                  <a:tcPr marL="121920" marR="121920" marT="60960" marB="60960" anchor="ctr">
                    <a:lnL w="38100" cap="flat" cmpd="sng" algn="ctr">
                      <a:solidFill>
                        <a:schemeClr val="tx1"/>
                      </a:solidFill>
                      <a:prstDash val="solid"/>
                      <a:round/>
                      <a:headEnd type="none" w="med" len="med"/>
                      <a:tailEnd type="none" w="med" len="med"/>
                    </a:lnL>
                    <a:solidFill>
                      <a:schemeClr val="accent1"/>
                    </a:solidFill>
                  </a:tcPr>
                </a:tc>
                <a:tc>
                  <a:txBody>
                    <a:bodyPr/>
                    <a:lstStyle/>
                    <a:p>
                      <a:r>
                        <a:rPr lang="en-US" sz="2400" b="0" i="0">
                          <a:latin typeface="Amazon Ember" panose="02000000000000000000" pitchFamily="2" charset="0"/>
                          <a:ea typeface="Amazon Ember" panose="02000000000000000000" pitchFamily="2" charset="0"/>
                          <a:cs typeface="Amazon Ember Light" charset="0"/>
                        </a:rPr>
                        <a:t>Selects</a:t>
                      </a:r>
                      <a:r>
                        <a:rPr lang="en-US" sz="2400" b="0" i="0" baseline="0">
                          <a:latin typeface="Amazon Ember" panose="02000000000000000000" pitchFamily="2" charset="0"/>
                          <a:ea typeface="Amazon Ember" panose="02000000000000000000" pitchFamily="2" charset="0"/>
                          <a:cs typeface="Amazon Ember Light" charset="0"/>
                        </a:rPr>
                        <a:t> longest-running instance</a:t>
                      </a:r>
                      <a:endParaRPr lang="en-US" sz="2400" b="0" i="0">
                        <a:latin typeface="Amazon Ember" panose="02000000000000000000" pitchFamily="2" charset="0"/>
                        <a:ea typeface="Amazon Ember" panose="02000000000000000000" pitchFamily="2" charset="0"/>
                        <a:cs typeface="Amazon Ember Light"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018275">
                <a:tc>
                  <a:txBody>
                    <a:bodyPr/>
                    <a:lstStyle/>
                    <a:p>
                      <a:pPr algn="ctr"/>
                      <a:r>
                        <a:rPr lang="en-US" sz="2400" b="1">
                          <a:solidFill>
                            <a:schemeClr val="bg1"/>
                          </a:solidFill>
                          <a:latin typeface="Courier"/>
                        </a:rPr>
                        <a:t>NewestInstance</a:t>
                      </a:r>
                    </a:p>
                  </a:txBody>
                  <a:tcPr marL="121920" marR="121920" marT="60960" marB="60960" anchor="ctr">
                    <a:lnL w="38100" cap="flat" cmpd="sng" algn="ctr">
                      <a:solidFill>
                        <a:schemeClr val="tx1"/>
                      </a:solidFill>
                      <a:prstDash val="solid"/>
                      <a:round/>
                      <a:headEnd type="none" w="med" len="med"/>
                      <a:tailEnd type="none" w="med" len="med"/>
                    </a:lnL>
                    <a:solidFill>
                      <a:schemeClr val="accent1"/>
                    </a:solidFill>
                  </a:tcPr>
                </a:tc>
                <a:tc>
                  <a:txBody>
                    <a:bodyPr/>
                    <a:lstStyle/>
                    <a:p>
                      <a:r>
                        <a:rPr lang="en-US" sz="2400" b="0" i="0">
                          <a:latin typeface="Amazon Ember" panose="02000000000000000000" pitchFamily="2" charset="0"/>
                          <a:ea typeface="Amazon Ember" panose="02000000000000000000" pitchFamily="2" charset="0"/>
                          <a:cs typeface="Amazon Ember Light" charset="0"/>
                        </a:rPr>
                        <a:t>Selects</a:t>
                      </a:r>
                      <a:r>
                        <a:rPr lang="en-US" sz="2400" b="0" i="0" baseline="0">
                          <a:latin typeface="Amazon Ember" panose="02000000000000000000" pitchFamily="2" charset="0"/>
                          <a:ea typeface="Amazon Ember" panose="02000000000000000000" pitchFamily="2" charset="0"/>
                          <a:cs typeface="Amazon Ember Light" charset="0"/>
                        </a:rPr>
                        <a:t> shortest-running instance</a:t>
                      </a:r>
                      <a:endParaRPr lang="en-US" sz="2400" b="0" i="0">
                        <a:latin typeface="Amazon Ember" panose="02000000000000000000" pitchFamily="2" charset="0"/>
                        <a:ea typeface="Amazon Ember" panose="02000000000000000000" pitchFamily="2" charset="0"/>
                        <a:cs typeface="Amazon Ember Light"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018275">
                <a:tc>
                  <a:txBody>
                    <a:bodyPr/>
                    <a:lstStyle/>
                    <a:p>
                      <a:pPr algn="ctr"/>
                      <a:r>
                        <a:rPr lang="en-US" sz="2400" b="1">
                          <a:solidFill>
                            <a:schemeClr val="bg1"/>
                          </a:solidFill>
                          <a:latin typeface="Courier"/>
                        </a:rPr>
                        <a:t>OldestLaunchConfiguration</a:t>
                      </a:r>
                    </a:p>
                  </a:txBody>
                  <a:tcPr marL="121920" marR="121920" marT="60960" marB="60960" anchor="ctr">
                    <a:lnL w="38100" cap="flat" cmpd="sng" algn="ctr">
                      <a:solidFill>
                        <a:schemeClr val="tx1"/>
                      </a:solidFill>
                      <a:prstDash val="solid"/>
                      <a:round/>
                      <a:headEnd type="none" w="med" len="med"/>
                      <a:tailEnd type="none" w="med" len="med"/>
                    </a:lnL>
                    <a:solidFill>
                      <a:schemeClr val="accent1"/>
                    </a:solidFill>
                  </a:tcPr>
                </a:tc>
                <a:tc>
                  <a:txBody>
                    <a:bodyPr/>
                    <a:lstStyle/>
                    <a:p>
                      <a:r>
                        <a:rPr lang="en-US" sz="2400" b="0" i="0" baseline="0">
                          <a:latin typeface="Amazon Ember" panose="02000000000000000000" pitchFamily="2" charset="0"/>
                          <a:ea typeface="Amazon Ember" panose="02000000000000000000" pitchFamily="2" charset="0"/>
                          <a:cs typeface="Amazon Ember Light" charset="0"/>
                        </a:rPr>
                        <a:t>Terminates instance with the oldest configuration </a:t>
                      </a:r>
                      <a:br>
                        <a:rPr lang="en-US" sz="2400" b="0" i="0" baseline="0">
                          <a:latin typeface="Amazon Ember" panose="02000000000000000000" pitchFamily="2" charset="0"/>
                          <a:ea typeface="Amazon Ember" panose="02000000000000000000" pitchFamily="2" charset="0"/>
                          <a:cs typeface="Amazon Ember Light" charset="0"/>
                        </a:rPr>
                      </a:br>
                      <a:r>
                        <a:rPr lang="en-US" sz="2400" b="1" i="0" baseline="0">
                          <a:latin typeface="Amazon Ember" panose="02000000000000000000" pitchFamily="2" charset="0"/>
                          <a:ea typeface="Amazon Ember" panose="02000000000000000000" pitchFamily="2" charset="0"/>
                          <a:cs typeface="Amazon Ember Light" charset="0"/>
                        </a:rPr>
                        <a:t>(default)</a:t>
                      </a:r>
                      <a:endParaRPr lang="en-US" sz="2400" b="1" i="0">
                        <a:latin typeface="Amazon Ember" panose="02000000000000000000" pitchFamily="2" charset="0"/>
                        <a:ea typeface="Amazon Ember" panose="02000000000000000000" pitchFamily="2" charset="0"/>
                        <a:cs typeface="Amazon Ember Light"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033250">
                <a:tc>
                  <a:txBody>
                    <a:bodyPr/>
                    <a:lstStyle/>
                    <a:p>
                      <a:pPr algn="ctr"/>
                      <a:r>
                        <a:rPr lang="en-US" sz="2400" b="1">
                          <a:solidFill>
                            <a:schemeClr val="bg1"/>
                          </a:solidFill>
                          <a:latin typeface="Courier"/>
                        </a:rPr>
                        <a:t>ClosestToNextInstanceHour</a:t>
                      </a:r>
                    </a:p>
                  </a:txBody>
                  <a:tcPr marL="121920" marR="121920" marT="60960" marB="60960" anchor="ctr">
                    <a:lnL w="38100" cap="flat" cmpd="sng" algn="ctr">
                      <a:solidFill>
                        <a:schemeClr val="tx1"/>
                      </a:solidFill>
                      <a:prstDash val="solid"/>
                      <a:round/>
                      <a:headEnd type="none" w="med" len="med"/>
                      <a:tailEnd type="none" w="med" len="med"/>
                    </a:lnL>
                    <a:solidFill>
                      <a:schemeClr val="accent1"/>
                    </a:solidFill>
                  </a:tcPr>
                </a:tc>
                <a:tc>
                  <a:txBody>
                    <a:bodyPr/>
                    <a:lstStyle/>
                    <a:p>
                      <a:r>
                        <a:rPr lang="en-US" sz="2400" b="0" i="0">
                          <a:latin typeface="Amazon Ember" panose="02000000000000000000" pitchFamily="2" charset="0"/>
                          <a:ea typeface="Amazon Ember" panose="02000000000000000000" pitchFamily="2" charset="0"/>
                          <a:cs typeface="Amazon Ember Light" charset="0"/>
                        </a:rPr>
                        <a:t>Terminates the instance closest to the next</a:t>
                      </a:r>
                      <a:r>
                        <a:rPr lang="en-US" sz="2400" b="0" i="0" baseline="0">
                          <a:latin typeface="Amazon Ember" panose="02000000000000000000" pitchFamily="2" charset="0"/>
                          <a:ea typeface="Amazon Ember" panose="02000000000000000000" pitchFamily="2" charset="0"/>
                          <a:cs typeface="Amazon Ember Light" charset="0"/>
                        </a:rPr>
                        <a:t> billable hour </a:t>
                      </a:r>
                      <a:r>
                        <a:rPr lang="en-US" sz="2400" b="1" i="0" baseline="0">
                          <a:latin typeface="Amazon Ember" panose="02000000000000000000" pitchFamily="2" charset="0"/>
                          <a:ea typeface="Amazon Ember" panose="02000000000000000000" pitchFamily="2" charset="0"/>
                          <a:cs typeface="Amazon Ember Light" charset="0"/>
                        </a:rPr>
                        <a:t>(default)</a:t>
                      </a:r>
                      <a:endParaRPr lang="en-US" sz="2400" b="1" i="0">
                        <a:latin typeface="Amazon Ember" panose="02000000000000000000" pitchFamily="2" charset="0"/>
                        <a:ea typeface="Amazon Ember" panose="02000000000000000000" pitchFamily="2" charset="0"/>
                        <a:cs typeface="Amazon Ember Light"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bl>
          </a:graphicData>
        </a:graphic>
      </p:graphicFrame>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161590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a:t>Creating a steady-state </a:t>
            </a:r>
            <a:r>
              <a:rPr lang="en-US" b="1"/>
              <a:t>g</a:t>
            </a:r>
            <a:r>
              <a:rPr lang="en-US" sz="4000" b="1"/>
              <a:t>roup</a:t>
            </a:r>
          </a:p>
        </p:txBody>
      </p:sp>
      <p:sp>
        <p:nvSpPr>
          <p:cNvPr id="5" name="Content Placeholder 2"/>
          <p:cNvSpPr>
            <a:spLocks noGrp="1"/>
          </p:cNvSpPr>
          <p:nvPr>
            <p:ph idx="1"/>
          </p:nvPr>
        </p:nvSpPr>
        <p:spPr>
          <a:xfrm>
            <a:off x="419100" y="1528175"/>
            <a:ext cx="8229226" cy="4648788"/>
          </a:xfrm>
        </p:spPr>
        <p:txBody>
          <a:bodyPr/>
          <a:lstStyle/>
          <a:p>
            <a:pPr marL="0" indent="0">
              <a:buNone/>
            </a:pPr>
            <a:r>
              <a:rPr lang="en-US" b="1">
                <a:solidFill>
                  <a:schemeClr val="tx2">
                    <a:lumMod val="75000"/>
                  </a:schemeClr>
                </a:solidFill>
              </a:rPr>
              <a:t>Steady-state group:</a:t>
            </a:r>
          </a:p>
          <a:p>
            <a:r>
              <a:rPr lang="en-US"/>
              <a:t>You set an EC2 Auto Scaling group with the same min, max, and desired values</a:t>
            </a:r>
          </a:p>
          <a:p>
            <a:r>
              <a:rPr lang="en-US"/>
              <a:t>Instance is recreated automatically if it becomes unhealthy or if Availability Zone fails</a:t>
            </a:r>
          </a:p>
          <a:p>
            <a:r>
              <a:rPr lang="en-US"/>
              <a:t>Still potential downtime while instance recycles</a:t>
            </a:r>
          </a:p>
          <a:p>
            <a:endParaRPr lang="en-US" b="1"/>
          </a:p>
          <a:p>
            <a:pPr marL="0" indent="0">
              <a:buNone/>
            </a:pPr>
            <a:r>
              <a:rPr lang="en-US" b="1">
                <a:solidFill>
                  <a:schemeClr val="tx2">
                    <a:lumMod val="75000"/>
                  </a:schemeClr>
                </a:solidFill>
              </a:rPr>
              <a:t>Use case</a:t>
            </a:r>
            <a:r>
              <a:rPr lang="en-US">
                <a:solidFill>
                  <a:schemeClr val="tx2">
                    <a:lumMod val="75000"/>
                  </a:schemeClr>
                </a:solidFill>
              </a:rPr>
              <a:t>: </a:t>
            </a:r>
            <a:br>
              <a:rPr lang="en-US"/>
            </a:br>
            <a:r>
              <a:rPr lang="en-US"/>
              <a:t>Maintain a steady-state NAT server in each Availability Zone.</a:t>
            </a:r>
          </a:p>
        </p:txBody>
      </p:sp>
      <p:sp>
        <p:nvSpPr>
          <p:cNvPr id="8" name="TextBox 31"/>
          <p:cNvSpPr txBox="1">
            <a:spLocks noChangeArrowheads="1"/>
          </p:cNvSpPr>
          <p:nvPr/>
        </p:nvSpPr>
        <p:spPr bwMode="auto">
          <a:xfrm>
            <a:off x="8774417" y="4535397"/>
            <a:ext cx="2928907" cy="830997"/>
          </a:xfrm>
          <a:prstGeom prst="rect">
            <a:avLst/>
          </a:prstGeom>
          <a:solidFill>
            <a:schemeClr val="bg1"/>
          </a:solidFill>
          <a:ln w="9525">
            <a:noFill/>
            <a:miter lim="800000"/>
            <a:headEnd/>
            <a:tailEnd/>
          </a:ln>
        </p:spPr>
        <p:txBody>
          <a:bodyPr wrap="square">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Min = 1</a:t>
            </a:r>
          </a:p>
          <a:p>
            <a:pPr algn="ctr"/>
            <a:r>
              <a:rPr lang="en-US" sz="1600">
                <a:latin typeface="Amazon Ember" panose="020B0603020204020204" pitchFamily="34" charset="0"/>
                <a:ea typeface="Amazon Ember" panose="020B0603020204020204" pitchFamily="34" charset="0"/>
                <a:cs typeface="Amazon Ember" panose="020B0603020204020204" pitchFamily="34" charset="0"/>
              </a:rPr>
              <a:t>Max = 1</a:t>
            </a:r>
          </a:p>
          <a:p>
            <a:pPr algn="ctr"/>
            <a:r>
              <a:rPr lang="en-US" sz="1600">
                <a:latin typeface="Amazon Ember" panose="020B0603020204020204" pitchFamily="34" charset="0"/>
                <a:ea typeface="Amazon Ember" panose="020B0603020204020204" pitchFamily="34" charset="0"/>
                <a:cs typeface="Amazon Ember" panose="020B0603020204020204" pitchFamily="34" charset="0"/>
              </a:rPr>
              <a:t>Desired = 1</a:t>
            </a:r>
          </a:p>
        </p:txBody>
      </p:sp>
      <p:pic>
        <p:nvPicPr>
          <p:cNvPr id="11"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65530" y="2874451"/>
            <a:ext cx="1019029" cy="1019029"/>
          </a:xfrm>
          <a:prstGeom prst="rect">
            <a:avLst/>
          </a:prstGeom>
        </p:spPr>
      </p:pic>
      <p:sp>
        <p:nvSpPr>
          <p:cNvPr id="12" name="TextBox 11">
            <a:extLst>
              <a:ext uri="{FF2B5EF4-FFF2-40B4-BE49-F238E27FC236}">
                <a16:creationId xmlns:a16="http://schemas.microsoft.com/office/drawing/2014/main" id="{A2E66441-9232-CE4C-A615-A53B805B95E2}"/>
              </a:ext>
            </a:extLst>
          </p:cNvPr>
          <p:cNvSpPr txBox="1"/>
          <p:nvPr/>
        </p:nvSpPr>
        <p:spPr>
          <a:xfrm>
            <a:off x="9216022" y="3897536"/>
            <a:ext cx="2045696"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endParaRPr lang="en-US" sz="1400">
              <a:solidFill>
                <a:srgbClr val="232F3E"/>
              </a:solidFill>
              <a:latin typeface="Amazon Ember" panose="02000000000000000000" pitchFamily="2" charset="0"/>
            </a:endParaRPr>
          </a:p>
        </p:txBody>
      </p:sp>
      <p:sp>
        <p:nvSpPr>
          <p:cNvPr id="13" name="Rectangle 12">
            <a:extLst>
              <a:ext uri="{FF2B5EF4-FFF2-40B4-BE49-F238E27FC236}">
                <a16:creationId xmlns:a16="http://schemas.microsoft.com/office/drawing/2014/main" id="{25B2706C-95D8-A94F-9EC8-6497FA7FB136}"/>
              </a:ext>
            </a:extLst>
          </p:cNvPr>
          <p:cNvSpPr/>
          <p:nvPr/>
        </p:nvSpPr>
        <p:spPr>
          <a:xfrm>
            <a:off x="8972858" y="1969268"/>
            <a:ext cx="2604375" cy="3718610"/>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rgbClr val="D86613"/>
              </a:solidFill>
              <a:latin typeface="Amazon Ember" panose="02000000000000000000" pitchFamily="2" charset="0"/>
            </a:endParaRPr>
          </a:p>
          <a:p>
            <a:pPr algn="ctr"/>
            <a:endParaRPr lang="en-US" sz="12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14" name="Graphic 3">
            <a:extLst>
              <a:ext uri="{FF2B5EF4-FFF2-40B4-BE49-F238E27FC236}">
                <a16:creationId xmlns:a16="http://schemas.microsoft.com/office/drawing/2014/main" id="{D7A7873E-A1CC-804E-816C-DC0FF152D8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72858" y="1958927"/>
            <a:ext cx="460631" cy="460631"/>
          </a:xfrm>
          <a:prstGeom prst="rect">
            <a:avLst/>
          </a:prstGeom>
        </p:spPr>
      </p:pic>
      <p:pic>
        <p:nvPicPr>
          <p:cNvPr id="3" name="Picture 2"/>
          <p:cNvPicPr>
            <a:picLocks noChangeAspect="1"/>
          </p:cNvPicPr>
          <p:nvPr/>
        </p:nvPicPr>
        <p:blipFill>
          <a:blip r:embed="rId8"/>
          <a:stretch>
            <a:fillRect/>
          </a:stretch>
        </p:blipFill>
        <p:spPr>
          <a:xfrm>
            <a:off x="8550476" y="1447123"/>
            <a:ext cx="3641524" cy="4892714"/>
          </a:xfrm>
          <a:prstGeom prst="rect">
            <a:avLst/>
          </a:prstGeom>
        </p:spPr>
      </p:pic>
      <p:sp>
        <p:nvSpPr>
          <p:cNvPr id="10"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923305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Scheduled scaling: Amazon EC2</a:t>
            </a:r>
          </a:p>
        </p:txBody>
      </p:sp>
      <p:sp>
        <p:nvSpPr>
          <p:cNvPr id="3" name="Content Placeholder 2"/>
          <p:cNvSpPr>
            <a:spLocks noGrp="1"/>
          </p:cNvSpPr>
          <p:nvPr>
            <p:ph idx="1"/>
          </p:nvPr>
        </p:nvSpPr>
        <p:spPr/>
        <p:txBody>
          <a:bodyPr/>
          <a:lstStyle/>
          <a:p>
            <a:pPr marL="0" indent="0">
              <a:buNone/>
            </a:pPr>
            <a:r>
              <a:rPr lang="en-US"/>
              <a:t>Scaling that’s based on a schedule allows you to scale your application in response to </a:t>
            </a:r>
            <a:r>
              <a:rPr lang="en-US" b="1">
                <a:solidFill>
                  <a:schemeClr val="tx2">
                    <a:lumMod val="75000"/>
                  </a:schemeClr>
                </a:solidFill>
              </a:rPr>
              <a:t>predictable load</a:t>
            </a:r>
            <a:r>
              <a:rPr lang="en-US"/>
              <a:t> changes.</a:t>
            </a:r>
          </a:p>
        </p:txBody>
      </p:sp>
      <p:graphicFrame>
        <p:nvGraphicFramePr>
          <p:cNvPr id="8" name="Table 7"/>
          <p:cNvGraphicFramePr>
            <a:graphicFrameLocks noGrp="1"/>
          </p:cNvGraphicFramePr>
          <p:nvPr>
            <p:extLst>
              <p:ext uri="{D42A27DB-BD31-4B8C-83A1-F6EECF244321}">
                <p14:modId xmlns:p14="http://schemas.microsoft.com/office/powerpoint/2010/main" val="3756417688"/>
              </p:ext>
            </p:extLst>
          </p:nvPr>
        </p:nvGraphicFramePr>
        <p:xfrm>
          <a:off x="571500" y="2520805"/>
          <a:ext cx="10864315" cy="2014664"/>
        </p:xfrm>
        <a:graphic>
          <a:graphicData uri="http://schemas.openxmlformats.org/drawingml/2006/table">
            <a:tbl>
              <a:tblPr firstRow="1" bandRow="1">
                <a:tableStyleId>{5C22544A-7EE6-4342-B048-85BDC9FD1C3A}</a:tableStyleId>
              </a:tblPr>
              <a:tblGrid>
                <a:gridCol w="1552045">
                  <a:extLst>
                    <a:ext uri="{9D8B030D-6E8A-4147-A177-3AD203B41FA5}">
                      <a16:colId xmlns:a16="http://schemas.microsoft.com/office/drawing/2014/main" val="1921219993"/>
                    </a:ext>
                  </a:extLst>
                </a:gridCol>
                <a:gridCol w="1552045">
                  <a:extLst>
                    <a:ext uri="{9D8B030D-6E8A-4147-A177-3AD203B41FA5}">
                      <a16:colId xmlns:a16="http://schemas.microsoft.com/office/drawing/2014/main" val="230880180"/>
                    </a:ext>
                  </a:extLst>
                </a:gridCol>
                <a:gridCol w="1552045">
                  <a:extLst>
                    <a:ext uri="{9D8B030D-6E8A-4147-A177-3AD203B41FA5}">
                      <a16:colId xmlns:a16="http://schemas.microsoft.com/office/drawing/2014/main" val="804396029"/>
                    </a:ext>
                  </a:extLst>
                </a:gridCol>
                <a:gridCol w="1552045">
                  <a:extLst>
                    <a:ext uri="{9D8B030D-6E8A-4147-A177-3AD203B41FA5}">
                      <a16:colId xmlns:a16="http://schemas.microsoft.com/office/drawing/2014/main" val="3922454553"/>
                    </a:ext>
                  </a:extLst>
                </a:gridCol>
                <a:gridCol w="1552045">
                  <a:extLst>
                    <a:ext uri="{9D8B030D-6E8A-4147-A177-3AD203B41FA5}">
                      <a16:colId xmlns:a16="http://schemas.microsoft.com/office/drawing/2014/main" val="1036512289"/>
                    </a:ext>
                  </a:extLst>
                </a:gridCol>
                <a:gridCol w="1552045">
                  <a:extLst>
                    <a:ext uri="{9D8B030D-6E8A-4147-A177-3AD203B41FA5}">
                      <a16:colId xmlns:a16="http://schemas.microsoft.com/office/drawing/2014/main" val="673596335"/>
                    </a:ext>
                  </a:extLst>
                </a:gridCol>
                <a:gridCol w="1552045">
                  <a:extLst>
                    <a:ext uri="{9D8B030D-6E8A-4147-A177-3AD203B41FA5}">
                      <a16:colId xmlns:a16="http://schemas.microsoft.com/office/drawing/2014/main" val="17101056"/>
                    </a:ext>
                  </a:extLst>
                </a:gridCol>
              </a:tblGrid>
              <a:tr h="2014664">
                <a:tc>
                  <a:txBody>
                    <a:bodyPr/>
                    <a:lstStyle/>
                    <a:p>
                      <a:pPr algn="ctr"/>
                      <a:r>
                        <a:rPr lang="en-US">
                          <a:solidFill>
                            <a:schemeClr val="accent1"/>
                          </a:solidFill>
                          <a:latin typeface="Amazon Ember" panose="02000000000000000000" pitchFamily="2" charset="0"/>
                        </a:rPr>
                        <a:t>Sun</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Mon</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Tues</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Wed</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Thurs</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Fri</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Sat</a:t>
                      </a:r>
                    </a:p>
                  </a:txBody>
                  <a:tcPr>
                    <a:solidFill>
                      <a:schemeClr val="accent1">
                        <a:lumMod val="25000"/>
                        <a:lumOff val="75000"/>
                      </a:schemeClr>
                    </a:solidFill>
                  </a:tcPr>
                </a:tc>
                <a:extLst>
                  <a:ext uri="{0D108BD9-81ED-4DB2-BD59-A6C34878D82A}">
                    <a16:rowId xmlns:a16="http://schemas.microsoft.com/office/drawing/2014/main" val="3309278404"/>
                  </a:ext>
                </a:extLst>
              </a:tr>
            </a:tbl>
          </a:graphicData>
        </a:graphic>
      </p:graphicFrame>
      <p:grpSp>
        <p:nvGrpSpPr>
          <p:cNvPr id="20" name="Group 19"/>
          <p:cNvGrpSpPr/>
          <p:nvPr/>
        </p:nvGrpSpPr>
        <p:grpSpPr>
          <a:xfrm>
            <a:off x="1005453" y="2962285"/>
            <a:ext cx="10310918" cy="1183472"/>
            <a:chOff x="4359495" y="3665127"/>
            <a:chExt cx="3991130" cy="1183472"/>
          </a:xfrm>
        </p:grpSpPr>
        <p:sp>
          <p:nvSpPr>
            <p:cNvPr id="14" name="Freeform 13">
              <a:extLst>
                <a:ext uri="{FF2B5EF4-FFF2-40B4-BE49-F238E27FC236}">
                  <a16:creationId xmlns:a16="http://schemas.microsoft.com/office/drawing/2014/main" id="{E2CB9673-5271-FC4F-8729-EAEADC7F21E3}"/>
                </a:ext>
              </a:extLst>
            </p:cNvPr>
            <p:cNvSpPr/>
            <p:nvPr/>
          </p:nvSpPr>
          <p:spPr>
            <a:xfrm>
              <a:off x="6676000" y="3700506"/>
              <a:ext cx="1154223" cy="758536"/>
            </a:xfrm>
            <a:custGeom>
              <a:avLst/>
              <a:gdLst>
                <a:gd name="connsiteX0" fmla="*/ 0 w 754007"/>
                <a:gd name="connsiteY0" fmla="*/ 0 h 748385"/>
                <a:gd name="connsiteX1" fmla="*/ 407624 w 754007"/>
                <a:gd name="connsiteY1" fmla="*/ 683045 h 748385"/>
                <a:gd name="connsiteX2" fmla="*/ 716097 w 754007"/>
                <a:gd name="connsiteY2" fmla="*/ 727113 h 748385"/>
                <a:gd name="connsiteX3" fmla="*/ 738130 w 754007"/>
                <a:gd name="connsiteY3" fmla="*/ 738130 h 748385"/>
                <a:gd name="connsiteX0" fmla="*/ 0 w 754007"/>
                <a:gd name="connsiteY0" fmla="*/ 0 h 748385"/>
                <a:gd name="connsiteX1" fmla="*/ 407624 w 754007"/>
                <a:gd name="connsiteY1" fmla="*/ 683045 h 748385"/>
                <a:gd name="connsiteX2" fmla="*/ 716097 w 754007"/>
                <a:gd name="connsiteY2" fmla="*/ 727113 h 748385"/>
                <a:gd name="connsiteX3" fmla="*/ 738130 w 754007"/>
                <a:gd name="connsiteY3" fmla="*/ 738130 h 748385"/>
                <a:gd name="connsiteX0" fmla="*/ 0 w 738130"/>
                <a:gd name="connsiteY0" fmla="*/ 0 h 752875"/>
                <a:gd name="connsiteX1" fmla="*/ 407624 w 738130"/>
                <a:gd name="connsiteY1" fmla="*/ 683045 h 752875"/>
                <a:gd name="connsiteX2" fmla="*/ 738130 w 738130"/>
                <a:gd name="connsiteY2" fmla="*/ 738130 h 752875"/>
                <a:gd name="connsiteX0" fmla="*/ 0 w 738130"/>
                <a:gd name="connsiteY0" fmla="*/ 0 h 738130"/>
                <a:gd name="connsiteX1" fmla="*/ 738130 w 738130"/>
                <a:gd name="connsiteY1" fmla="*/ 738130 h 738130"/>
                <a:gd name="connsiteX0" fmla="*/ 0 w 738130"/>
                <a:gd name="connsiteY0" fmla="*/ 0 h 752332"/>
                <a:gd name="connsiteX1" fmla="*/ 738130 w 738130"/>
                <a:gd name="connsiteY1" fmla="*/ 738130 h 752332"/>
                <a:gd name="connsiteX0" fmla="*/ 0 w 738130"/>
                <a:gd name="connsiteY0" fmla="*/ 0 h 749550"/>
                <a:gd name="connsiteX1" fmla="*/ 738130 w 738130"/>
                <a:gd name="connsiteY1" fmla="*/ 738130 h 749550"/>
                <a:gd name="connsiteX0" fmla="*/ 0 w 738130"/>
                <a:gd name="connsiteY0" fmla="*/ 0 h 769995"/>
                <a:gd name="connsiteX1" fmla="*/ 738130 w 738130"/>
                <a:gd name="connsiteY1" fmla="*/ 758843 h 769995"/>
                <a:gd name="connsiteX0" fmla="*/ 0 w 738130"/>
                <a:gd name="connsiteY0" fmla="*/ 0 h 758843"/>
                <a:gd name="connsiteX1" fmla="*/ 738130 w 738130"/>
                <a:gd name="connsiteY1" fmla="*/ 758843 h 758843"/>
                <a:gd name="connsiteX0" fmla="*/ 0 w 760079"/>
                <a:gd name="connsiteY0" fmla="*/ 0 h 742273"/>
                <a:gd name="connsiteX1" fmla="*/ 760079 w 760079"/>
                <a:gd name="connsiteY1" fmla="*/ 742273 h 742273"/>
              </a:gdLst>
              <a:ahLst/>
              <a:cxnLst>
                <a:cxn ang="0">
                  <a:pos x="connsiteX0" y="connsiteY0"/>
                </a:cxn>
                <a:cxn ang="0">
                  <a:pos x="connsiteX1" y="connsiteY1"/>
                </a:cxn>
              </a:cxnLst>
              <a:rect l="l" t="t" r="r" b="b"/>
              <a:pathLst>
                <a:path w="760079" h="742273">
                  <a:moveTo>
                    <a:pt x="0" y="0"/>
                  </a:moveTo>
                  <a:cubicBezTo>
                    <a:pt x="145075" y="72055"/>
                    <a:pt x="237472" y="740640"/>
                    <a:pt x="760079" y="742273"/>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 name="Freeform 14">
              <a:extLst>
                <a:ext uri="{FF2B5EF4-FFF2-40B4-BE49-F238E27FC236}">
                  <a16:creationId xmlns:a16="http://schemas.microsoft.com/office/drawing/2014/main" id="{D70352B0-D1C4-6648-937C-183E8C3D5B85}"/>
                </a:ext>
              </a:extLst>
            </p:cNvPr>
            <p:cNvSpPr/>
            <p:nvPr/>
          </p:nvSpPr>
          <p:spPr>
            <a:xfrm>
              <a:off x="7818726" y="4469472"/>
              <a:ext cx="531899" cy="379127"/>
            </a:xfrm>
            <a:custGeom>
              <a:avLst/>
              <a:gdLst>
                <a:gd name="connsiteX0" fmla="*/ 0 w 517792"/>
                <a:gd name="connsiteY0" fmla="*/ 0 h 385590"/>
                <a:gd name="connsiteX1" fmla="*/ 154236 w 517792"/>
                <a:gd name="connsiteY1" fmla="*/ 209320 h 385590"/>
                <a:gd name="connsiteX2" fmla="*/ 429657 w 517792"/>
                <a:gd name="connsiteY2" fmla="*/ 286438 h 385590"/>
                <a:gd name="connsiteX3" fmla="*/ 517792 w 517792"/>
                <a:gd name="connsiteY3" fmla="*/ 385590 h 385590"/>
                <a:gd name="connsiteX0" fmla="*/ 0 w 517792"/>
                <a:gd name="connsiteY0" fmla="*/ 0 h 385590"/>
                <a:gd name="connsiteX1" fmla="*/ 154236 w 517792"/>
                <a:gd name="connsiteY1" fmla="*/ 209320 h 385590"/>
                <a:gd name="connsiteX2" fmla="*/ 429657 w 517792"/>
                <a:gd name="connsiteY2" fmla="*/ 286438 h 385590"/>
                <a:gd name="connsiteX3" fmla="*/ 517792 w 517792"/>
                <a:gd name="connsiteY3" fmla="*/ 385590 h 385590"/>
                <a:gd name="connsiteX0" fmla="*/ 0 w 517792"/>
                <a:gd name="connsiteY0" fmla="*/ 0 h 385590"/>
                <a:gd name="connsiteX1" fmla="*/ 154236 w 517792"/>
                <a:gd name="connsiteY1" fmla="*/ 209320 h 385590"/>
                <a:gd name="connsiteX2" fmla="*/ 517792 w 517792"/>
                <a:gd name="connsiteY2" fmla="*/ 385590 h 385590"/>
                <a:gd name="connsiteX0" fmla="*/ 0 w 517792"/>
                <a:gd name="connsiteY0" fmla="*/ 0 h 385590"/>
                <a:gd name="connsiteX1" fmla="*/ 238902 w 517792"/>
                <a:gd name="connsiteY1" fmla="*/ 243186 h 385590"/>
                <a:gd name="connsiteX2" fmla="*/ 517792 w 517792"/>
                <a:gd name="connsiteY2"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Lst>
              <a:ahLst/>
              <a:cxnLst>
                <a:cxn ang="0">
                  <a:pos x="connsiteX0" y="connsiteY0"/>
                </a:cxn>
                <a:cxn ang="0">
                  <a:pos x="connsiteX1" y="connsiteY1"/>
                </a:cxn>
              </a:cxnLst>
              <a:rect l="l" t="t" r="r" b="b"/>
              <a:pathLst>
                <a:path w="517792" h="385590">
                  <a:moveTo>
                    <a:pt x="0" y="0"/>
                  </a:moveTo>
                  <a:cubicBezTo>
                    <a:pt x="147197" y="9997"/>
                    <a:pt x="252061" y="367126"/>
                    <a:pt x="517792" y="385590"/>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 name="Freeform 16">
              <a:extLst>
                <a:ext uri="{FF2B5EF4-FFF2-40B4-BE49-F238E27FC236}">
                  <a16:creationId xmlns:a16="http://schemas.microsoft.com/office/drawing/2014/main" id="{80E0841A-AF48-A840-809F-0FEA9D98F314}"/>
                </a:ext>
              </a:extLst>
            </p:cNvPr>
            <p:cNvSpPr/>
            <p:nvPr/>
          </p:nvSpPr>
          <p:spPr>
            <a:xfrm>
              <a:off x="5532206" y="3665127"/>
              <a:ext cx="1143794" cy="605069"/>
            </a:xfrm>
            <a:custGeom>
              <a:avLst/>
              <a:gdLst>
                <a:gd name="connsiteX0" fmla="*/ 0 w 451691"/>
                <a:gd name="connsiteY0" fmla="*/ 269602 h 269602"/>
                <a:gd name="connsiteX1" fmla="*/ 275421 w 451691"/>
                <a:gd name="connsiteY1" fmla="*/ 27231 h 269602"/>
                <a:gd name="connsiteX2" fmla="*/ 451691 w 451691"/>
                <a:gd name="connsiteY2" fmla="*/ 16214 h 269602"/>
                <a:gd name="connsiteX0" fmla="*/ 0 w 451691"/>
                <a:gd name="connsiteY0" fmla="*/ 269602 h 269602"/>
                <a:gd name="connsiteX1" fmla="*/ 275421 w 451691"/>
                <a:gd name="connsiteY1" fmla="*/ 27231 h 269602"/>
                <a:gd name="connsiteX2" fmla="*/ 451691 w 451691"/>
                <a:gd name="connsiteY2" fmla="*/ 16214 h 269602"/>
                <a:gd name="connsiteX0" fmla="*/ 0 w 468625"/>
                <a:gd name="connsiteY0" fmla="*/ 269602 h 269602"/>
                <a:gd name="connsiteX1" fmla="*/ 292355 w 468625"/>
                <a:gd name="connsiteY1" fmla="*/ 27231 h 269602"/>
                <a:gd name="connsiteX2" fmla="*/ 468625 w 468625"/>
                <a:gd name="connsiteY2" fmla="*/ 16214 h 269602"/>
              </a:gdLst>
              <a:ahLst/>
              <a:cxnLst>
                <a:cxn ang="0">
                  <a:pos x="connsiteX0" y="connsiteY0"/>
                </a:cxn>
                <a:cxn ang="0">
                  <a:pos x="connsiteX1" y="connsiteY1"/>
                </a:cxn>
                <a:cxn ang="0">
                  <a:pos x="connsiteX2" y="connsiteY2"/>
                </a:cxn>
              </a:cxnLst>
              <a:rect l="l" t="t" r="r" b="b"/>
              <a:pathLst>
                <a:path w="468625" h="269602">
                  <a:moveTo>
                    <a:pt x="0" y="269602"/>
                  </a:moveTo>
                  <a:cubicBezTo>
                    <a:pt x="121236" y="262665"/>
                    <a:pt x="217073" y="69462"/>
                    <a:pt x="292355" y="27231"/>
                  </a:cubicBezTo>
                  <a:cubicBezTo>
                    <a:pt x="367637" y="-15000"/>
                    <a:pt x="418131" y="607"/>
                    <a:pt x="468625" y="16214"/>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Freeform 17">
              <a:extLst>
                <a:ext uri="{FF2B5EF4-FFF2-40B4-BE49-F238E27FC236}">
                  <a16:creationId xmlns:a16="http://schemas.microsoft.com/office/drawing/2014/main" id="{C49C4B2F-EC42-1142-B489-02A6AAE169AC}"/>
                </a:ext>
              </a:extLst>
            </p:cNvPr>
            <p:cNvSpPr/>
            <p:nvPr/>
          </p:nvSpPr>
          <p:spPr>
            <a:xfrm>
              <a:off x="4752712" y="4282051"/>
              <a:ext cx="792697" cy="187291"/>
            </a:xfrm>
            <a:custGeom>
              <a:avLst/>
              <a:gdLst>
                <a:gd name="connsiteX0" fmla="*/ 0 w 771181"/>
                <a:gd name="connsiteY0" fmla="*/ 187761 h 187761"/>
                <a:gd name="connsiteX1" fmla="*/ 583894 w 771181"/>
                <a:gd name="connsiteY1" fmla="*/ 77592 h 187761"/>
                <a:gd name="connsiteX2" fmla="*/ 683046 w 771181"/>
                <a:gd name="connsiteY2" fmla="*/ 11491 h 187761"/>
                <a:gd name="connsiteX3" fmla="*/ 771181 w 771181"/>
                <a:gd name="connsiteY3" fmla="*/ 474 h 187761"/>
                <a:gd name="connsiteX0" fmla="*/ 0 w 771181"/>
                <a:gd name="connsiteY0" fmla="*/ 187287 h 187287"/>
                <a:gd name="connsiteX1" fmla="*/ 583894 w 771181"/>
                <a:gd name="connsiteY1" fmla="*/ 77118 h 187287"/>
                <a:gd name="connsiteX2" fmla="*/ 771181 w 771181"/>
                <a:gd name="connsiteY2" fmla="*/ 0 h 187287"/>
                <a:gd name="connsiteX0" fmla="*/ 0 w 771181"/>
                <a:gd name="connsiteY0" fmla="*/ 187287 h 187287"/>
                <a:gd name="connsiteX1" fmla="*/ 771181 w 771181"/>
                <a:gd name="connsiteY1" fmla="*/ 0 h 187287"/>
                <a:gd name="connsiteX0" fmla="*/ 0 w 771181"/>
                <a:gd name="connsiteY0" fmla="*/ 187287 h 187287"/>
                <a:gd name="connsiteX1" fmla="*/ 771181 w 771181"/>
                <a:gd name="connsiteY1" fmla="*/ 0 h 187287"/>
                <a:gd name="connsiteX0" fmla="*/ 0 w 771181"/>
                <a:gd name="connsiteY0" fmla="*/ 187287 h 187291"/>
                <a:gd name="connsiteX1" fmla="*/ 771181 w 771181"/>
                <a:gd name="connsiteY1" fmla="*/ 0 h 187291"/>
              </a:gdLst>
              <a:ahLst/>
              <a:cxnLst>
                <a:cxn ang="0">
                  <a:pos x="connsiteX0" y="connsiteY0"/>
                </a:cxn>
                <a:cxn ang="0">
                  <a:pos x="connsiteX1" y="connsiteY1"/>
                </a:cxn>
              </a:cxnLst>
              <a:rect l="l" t="t" r="r" b="b"/>
              <a:pathLst>
                <a:path w="771181" h="187291">
                  <a:moveTo>
                    <a:pt x="0" y="187287"/>
                  </a:moveTo>
                  <a:cubicBezTo>
                    <a:pt x="218960" y="188358"/>
                    <a:pt x="611487" y="3162"/>
                    <a:pt x="771181" y="0"/>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9" name="Freeform 18">
              <a:extLst>
                <a:ext uri="{FF2B5EF4-FFF2-40B4-BE49-F238E27FC236}">
                  <a16:creationId xmlns:a16="http://schemas.microsoft.com/office/drawing/2014/main" id="{246474BB-597D-CC42-967F-C9F4598C4522}"/>
                </a:ext>
              </a:extLst>
            </p:cNvPr>
            <p:cNvSpPr/>
            <p:nvPr/>
          </p:nvSpPr>
          <p:spPr>
            <a:xfrm>
              <a:off x="4359495" y="4459140"/>
              <a:ext cx="412758" cy="210118"/>
            </a:xfrm>
            <a:custGeom>
              <a:avLst/>
              <a:gdLst>
                <a:gd name="connsiteX0" fmla="*/ 0 w 472287"/>
                <a:gd name="connsiteY0" fmla="*/ 209954 h 219468"/>
                <a:gd name="connsiteX1" fmla="*/ 146934 w 472287"/>
                <a:gd name="connsiteY1" fmla="*/ 199457 h 219468"/>
                <a:gd name="connsiteX2" fmla="*/ 230896 w 472287"/>
                <a:gd name="connsiteY2" fmla="*/ 31506 h 219468"/>
                <a:gd name="connsiteX3" fmla="*/ 472287 w 472287"/>
                <a:gd name="connsiteY3" fmla="*/ 15 h 219468"/>
                <a:gd name="connsiteX0" fmla="*/ 0 w 472287"/>
                <a:gd name="connsiteY0" fmla="*/ 209954 h 219468"/>
                <a:gd name="connsiteX1" fmla="*/ 97326 w 472287"/>
                <a:gd name="connsiteY1" fmla="*/ 199457 h 219468"/>
                <a:gd name="connsiteX2" fmla="*/ 230896 w 472287"/>
                <a:gd name="connsiteY2" fmla="*/ 31506 h 219468"/>
                <a:gd name="connsiteX3" fmla="*/ 472287 w 472287"/>
                <a:gd name="connsiteY3" fmla="*/ 15 h 219468"/>
                <a:gd name="connsiteX0" fmla="*/ 0 w 412758"/>
                <a:gd name="connsiteY0" fmla="*/ 209954 h 219468"/>
                <a:gd name="connsiteX1" fmla="*/ 97326 w 412758"/>
                <a:gd name="connsiteY1" fmla="*/ 199457 h 219468"/>
                <a:gd name="connsiteX2" fmla="*/ 230896 w 412758"/>
                <a:gd name="connsiteY2" fmla="*/ 31506 h 219468"/>
                <a:gd name="connsiteX3" fmla="*/ 412758 w 412758"/>
                <a:gd name="connsiteY3" fmla="*/ 15 h 219468"/>
                <a:gd name="connsiteX0" fmla="*/ 0 w 412758"/>
                <a:gd name="connsiteY0" fmla="*/ 209954 h 214209"/>
                <a:gd name="connsiteX1" fmla="*/ 97326 w 412758"/>
                <a:gd name="connsiteY1" fmla="*/ 199457 h 214209"/>
                <a:gd name="connsiteX2" fmla="*/ 230896 w 412758"/>
                <a:gd name="connsiteY2" fmla="*/ 31506 h 214209"/>
                <a:gd name="connsiteX3" fmla="*/ 412758 w 412758"/>
                <a:gd name="connsiteY3" fmla="*/ 15 h 214209"/>
                <a:gd name="connsiteX0" fmla="*/ 0 w 412758"/>
                <a:gd name="connsiteY0" fmla="*/ 209939 h 209939"/>
                <a:gd name="connsiteX1" fmla="*/ 109233 w 412758"/>
                <a:gd name="connsiteY1" fmla="*/ 179598 h 209939"/>
                <a:gd name="connsiteX2" fmla="*/ 230896 w 412758"/>
                <a:gd name="connsiteY2" fmla="*/ 31491 h 209939"/>
                <a:gd name="connsiteX3" fmla="*/ 412758 w 412758"/>
                <a:gd name="connsiteY3" fmla="*/ 0 h 209939"/>
                <a:gd name="connsiteX0" fmla="*/ 0 w 412758"/>
                <a:gd name="connsiteY0" fmla="*/ 209943 h 211692"/>
                <a:gd name="connsiteX1" fmla="*/ 121140 w 412758"/>
                <a:gd name="connsiteY1" fmla="*/ 195477 h 211692"/>
                <a:gd name="connsiteX2" fmla="*/ 230896 w 412758"/>
                <a:gd name="connsiteY2" fmla="*/ 31495 h 211692"/>
                <a:gd name="connsiteX3" fmla="*/ 412758 w 412758"/>
                <a:gd name="connsiteY3" fmla="*/ 4 h 211692"/>
                <a:gd name="connsiteX0" fmla="*/ 0 w 412758"/>
                <a:gd name="connsiteY0" fmla="*/ 209939 h 209939"/>
                <a:gd name="connsiteX1" fmla="*/ 97327 w 412758"/>
                <a:gd name="connsiteY1" fmla="*/ 187536 h 209939"/>
                <a:gd name="connsiteX2" fmla="*/ 230896 w 412758"/>
                <a:gd name="connsiteY2" fmla="*/ 31491 h 209939"/>
                <a:gd name="connsiteX3" fmla="*/ 412758 w 412758"/>
                <a:gd name="connsiteY3" fmla="*/ 0 h 209939"/>
                <a:gd name="connsiteX0" fmla="*/ 0 w 412758"/>
                <a:gd name="connsiteY0" fmla="*/ 209939 h 209939"/>
                <a:gd name="connsiteX1" fmla="*/ 97327 w 412758"/>
                <a:gd name="connsiteY1" fmla="*/ 187536 h 209939"/>
                <a:gd name="connsiteX2" fmla="*/ 207083 w 412758"/>
                <a:gd name="connsiteY2" fmla="*/ 31491 h 209939"/>
                <a:gd name="connsiteX3" fmla="*/ 412758 w 412758"/>
                <a:gd name="connsiteY3" fmla="*/ 0 h 209939"/>
                <a:gd name="connsiteX0" fmla="*/ 0 w 412758"/>
                <a:gd name="connsiteY0" fmla="*/ 251937 h 251937"/>
                <a:gd name="connsiteX1" fmla="*/ 97327 w 412758"/>
                <a:gd name="connsiteY1" fmla="*/ 229534 h 251937"/>
                <a:gd name="connsiteX2" fmla="*/ 207083 w 412758"/>
                <a:gd name="connsiteY2" fmla="*/ 73489 h 251937"/>
                <a:gd name="connsiteX3" fmla="*/ 412758 w 412758"/>
                <a:gd name="connsiteY3" fmla="*/ 41998 h 251937"/>
                <a:gd name="connsiteX0" fmla="*/ 0 w 412758"/>
                <a:gd name="connsiteY0" fmla="*/ 214872 h 214872"/>
                <a:gd name="connsiteX1" fmla="*/ 97327 w 412758"/>
                <a:gd name="connsiteY1" fmla="*/ 192469 h 214872"/>
                <a:gd name="connsiteX2" fmla="*/ 207083 w 412758"/>
                <a:gd name="connsiteY2" fmla="*/ 36424 h 214872"/>
                <a:gd name="connsiteX3" fmla="*/ 412758 w 412758"/>
                <a:gd name="connsiteY3" fmla="*/ 4933 h 214872"/>
                <a:gd name="connsiteX0" fmla="*/ 0 w 412758"/>
                <a:gd name="connsiteY0" fmla="*/ 210118 h 210118"/>
                <a:gd name="connsiteX1" fmla="*/ 97327 w 412758"/>
                <a:gd name="connsiteY1" fmla="*/ 187715 h 210118"/>
                <a:gd name="connsiteX2" fmla="*/ 207083 w 412758"/>
                <a:gd name="connsiteY2" fmla="*/ 31670 h 210118"/>
                <a:gd name="connsiteX3" fmla="*/ 412758 w 412758"/>
                <a:gd name="connsiteY3" fmla="*/ 179 h 210118"/>
              </a:gdLst>
              <a:ahLst/>
              <a:cxnLst>
                <a:cxn ang="0">
                  <a:pos x="connsiteX0" y="connsiteY0"/>
                </a:cxn>
                <a:cxn ang="0">
                  <a:pos x="connsiteX1" y="connsiteY1"/>
                </a:cxn>
                <a:cxn ang="0">
                  <a:pos x="connsiteX2" y="connsiteY2"/>
                </a:cxn>
                <a:cxn ang="0">
                  <a:pos x="connsiteX3" y="connsiteY3"/>
                </a:cxn>
              </a:cxnLst>
              <a:rect l="l" t="t" r="r" b="b"/>
              <a:pathLst>
                <a:path w="412758" h="210118">
                  <a:moveTo>
                    <a:pt x="0" y="210118"/>
                  </a:moveTo>
                  <a:cubicBezTo>
                    <a:pt x="70100" y="203865"/>
                    <a:pt x="62813" y="217456"/>
                    <a:pt x="97327" y="187715"/>
                  </a:cubicBezTo>
                  <a:cubicBezTo>
                    <a:pt x="131841" y="157974"/>
                    <a:pt x="154511" y="62926"/>
                    <a:pt x="207083" y="31670"/>
                  </a:cubicBezTo>
                  <a:cubicBezTo>
                    <a:pt x="269082" y="-4300"/>
                    <a:pt x="412758" y="179"/>
                    <a:pt x="412758" y="179"/>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aphicFrame>
        <p:nvGraphicFramePr>
          <p:cNvPr id="21" name="Table 20"/>
          <p:cNvGraphicFramePr>
            <a:graphicFrameLocks noGrp="1"/>
          </p:cNvGraphicFramePr>
          <p:nvPr>
            <p:extLst>
              <p:ext uri="{D42A27DB-BD31-4B8C-83A1-F6EECF244321}">
                <p14:modId xmlns:p14="http://schemas.microsoft.com/office/powerpoint/2010/main" val="2528395098"/>
              </p:ext>
            </p:extLst>
          </p:nvPr>
        </p:nvGraphicFramePr>
        <p:xfrm>
          <a:off x="571500" y="4512892"/>
          <a:ext cx="10864315" cy="2014664"/>
        </p:xfrm>
        <a:graphic>
          <a:graphicData uri="http://schemas.openxmlformats.org/drawingml/2006/table">
            <a:tbl>
              <a:tblPr firstRow="1" bandRow="1">
                <a:tableStyleId>{5C22544A-7EE6-4342-B048-85BDC9FD1C3A}</a:tableStyleId>
              </a:tblPr>
              <a:tblGrid>
                <a:gridCol w="1552045">
                  <a:extLst>
                    <a:ext uri="{9D8B030D-6E8A-4147-A177-3AD203B41FA5}">
                      <a16:colId xmlns:a16="http://schemas.microsoft.com/office/drawing/2014/main" val="1921219993"/>
                    </a:ext>
                  </a:extLst>
                </a:gridCol>
                <a:gridCol w="1552045">
                  <a:extLst>
                    <a:ext uri="{9D8B030D-6E8A-4147-A177-3AD203B41FA5}">
                      <a16:colId xmlns:a16="http://schemas.microsoft.com/office/drawing/2014/main" val="230880180"/>
                    </a:ext>
                  </a:extLst>
                </a:gridCol>
                <a:gridCol w="1552045">
                  <a:extLst>
                    <a:ext uri="{9D8B030D-6E8A-4147-A177-3AD203B41FA5}">
                      <a16:colId xmlns:a16="http://schemas.microsoft.com/office/drawing/2014/main" val="804396029"/>
                    </a:ext>
                  </a:extLst>
                </a:gridCol>
                <a:gridCol w="1552045">
                  <a:extLst>
                    <a:ext uri="{9D8B030D-6E8A-4147-A177-3AD203B41FA5}">
                      <a16:colId xmlns:a16="http://schemas.microsoft.com/office/drawing/2014/main" val="3922454553"/>
                    </a:ext>
                  </a:extLst>
                </a:gridCol>
                <a:gridCol w="1552045">
                  <a:extLst>
                    <a:ext uri="{9D8B030D-6E8A-4147-A177-3AD203B41FA5}">
                      <a16:colId xmlns:a16="http://schemas.microsoft.com/office/drawing/2014/main" val="1036512289"/>
                    </a:ext>
                  </a:extLst>
                </a:gridCol>
                <a:gridCol w="1552045">
                  <a:extLst>
                    <a:ext uri="{9D8B030D-6E8A-4147-A177-3AD203B41FA5}">
                      <a16:colId xmlns:a16="http://schemas.microsoft.com/office/drawing/2014/main" val="673596335"/>
                    </a:ext>
                  </a:extLst>
                </a:gridCol>
                <a:gridCol w="1552045">
                  <a:extLst>
                    <a:ext uri="{9D8B030D-6E8A-4147-A177-3AD203B41FA5}">
                      <a16:colId xmlns:a16="http://schemas.microsoft.com/office/drawing/2014/main" val="17101056"/>
                    </a:ext>
                  </a:extLst>
                </a:gridCol>
              </a:tblGrid>
              <a:tr h="2014664">
                <a:tc>
                  <a:txBody>
                    <a:bodyPr/>
                    <a:lstStyle/>
                    <a:p>
                      <a:pPr algn="ctr"/>
                      <a:r>
                        <a:rPr lang="en-US">
                          <a:solidFill>
                            <a:schemeClr val="accent1"/>
                          </a:solidFill>
                          <a:latin typeface="Amazon Ember" panose="02000000000000000000" pitchFamily="2" charset="0"/>
                        </a:rPr>
                        <a:t>Sun</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Mon</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Tues</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Wed</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Thurs</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Fri</a:t>
                      </a:r>
                    </a:p>
                  </a:txBody>
                  <a:tcPr>
                    <a:solidFill>
                      <a:schemeClr val="accent1">
                        <a:lumMod val="25000"/>
                        <a:lumOff val="75000"/>
                      </a:schemeClr>
                    </a:solidFill>
                  </a:tcPr>
                </a:tc>
                <a:tc>
                  <a:txBody>
                    <a:bodyPr/>
                    <a:lstStyle/>
                    <a:p>
                      <a:pPr algn="ctr"/>
                      <a:r>
                        <a:rPr lang="en-US">
                          <a:solidFill>
                            <a:schemeClr val="accent1"/>
                          </a:solidFill>
                          <a:latin typeface="Amazon Ember" panose="02000000000000000000" pitchFamily="2" charset="0"/>
                        </a:rPr>
                        <a:t>Sat</a:t>
                      </a:r>
                    </a:p>
                  </a:txBody>
                  <a:tcPr>
                    <a:solidFill>
                      <a:schemeClr val="accent1">
                        <a:lumMod val="25000"/>
                        <a:lumOff val="75000"/>
                      </a:schemeClr>
                    </a:solidFill>
                  </a:tcPr>
                </a:tc>
                <a:extLst>
                  <a:ext uri="{0D108BD9-81ED-4DB2-BD59-A6C34878D82A}">
                    <a16:rowId xmlns:a16="http://schemas.microsoft.com/office/drawing/2014/main" val="3309278404"/>
                  </a:ext>
                </a:extLst>
              </a:tr>
            </a:tbl>
          </a:graphicData>
        </a:graphic>
      </p:graphicFrame>
      <p:grpSp>
        <p:nvGrpSpPr>
          <p:cNvPr id="22" name="Group 21"/>
          <p:cNvGrpSpPr/>
          <p:nvPr/>
        </p:nvGrpSpPr>
        <p:grpSpPr>
          <a:xfrm>
            <a:off x="850471" y="5156551"/>
            <a:ext cx="9950598" cy="1021562"/>
            <a:chOff x="3978565" y="3665127"/>
            <a:chExt cx="3851658" cy="1021562"/>
          </a:xfrm>
        </p:grpSpPr>
        <p:sp>
          <p:nvSpPr>
            <p:cNvPr id="23" name="Freeform 22">
              <a:extLst>
                <a:ext uri="{FF2B5EF4-FFF2-40B4-BE49-F238E27FC236}">
                  <a16:creationId xmlns:a16="http://schemas.microsoft.com/office/drawing/2014/main" id="{E2CB9673-5271-FC4F-8729-EAEADC7F21E3}"/>
                </a:ext>
              </a:extLst>
            </p:cNvPr>
            <p:cNvSpPr/>
            <p:nvPr/>
          </p:nvSpPr>
          <p:spPr>
            <a:xfrm>
              <a:off x="6676000" y="3700506"/>
              <a:ext cx="1154223" cy="758536"/>
            </a:xfrm>
            <a:custGeom>
              <a:avLst/>
              <a:gdLst>
                <a:gd name="connsiteX0" fmla="*/ 0 w 754007"/>
                <a:gd name="connsiteY0" fmla="*/ 0 h 748385"/>
                <a:gd name="connsiteX1" fmla="*/ 407624 w 754007"/>
                <a:gd name="connsiteY1" fmla="*/ 683045 h 748385"/>
                <a:gd name="connsiteX2" fmla="*/ 716097 w 754007"/>
                <a:gd name="connsiteY2" fmla="*/ 727113 h 748385"/>
                <a:gd name="connsiteX3" fmla="*/ 738130 w 754007"/>
                <a:gd name="connsiteY3" fmla="*/ 738130 h 748385"/>
                <a:gd name="connsiteX0" fmla="*/ 0 w 754007"/>
                <a:gd name="connsiteY0" fmla="*/ 0 h 748385"/>
                <a:gd name="connsiteX1" fmla="*/ 407624 w 754007"/>
                <a:gd name="connsiteY1" fmla="*/ 683045 h 748385"/>
                <a:gd name="connsiteX2" fmla="*/ 716097 w 754007"/>
                <a:gd name="connsiteY2" fmla="*/ 727113 h 748385"/>
                <a:gd name="connsiteX3" fmla="*/ 738130 w 754007"/>
                <a:gd name="connsiteY3" fmla="*/ 738130 h 748385"/>
                <a:gd name="connsiteX0" fmla="*/ 0 w 738130"/>
                <a:gd name="connsiteY0" fmla="*/ 0 h 752875"/>
                <a:gd name="connsiteX1" fmla="*/ 407624 w 738130"/>
                <a:gd name="connsiteY1" fmla="*/ 683045 h 752875"/>
                <a:gd name="connsiteX2" fmla="*/ 738130 w 738130"/>
                <a:gd name="connsiteY2" fmla="*/ 738130 h 752875"/>
                <a:gd name="connsiteX0" fmla="*/ 0 w 738130"/>
                <a:gd name="connsiteY0" fmla="*/ 0 h 738130"/>
                <a:gd name="connsiteX1" fmla="*/ 738130 w 738130"/>
                <a:gd name="connsiteY1" fmla="*/ 738130 h 738130"/>
                <a:gd name="connsiteX0" fmla="*/ 0 w 738130"/>
                <a:gd name="connsiteY0" fmla="*/ 0 h 752332"/>
                <a:gd name="connsiteX1" fmla="*/ 738130 w 738130"/>
                <a:gd name="connsiteY1" fmla="*/ 738130 h 752332"/>
                <a:gd name="connsiteX0" fmla="*/ 0 w 738130"/>
                <a:gd name="connsiteY0" fmla="*/ 0 h 749550"/>
                <a:gd name="connsiteX1" fmla="*/ 738130 w 738130"/>
                <a:gd name="connsiteY1" fmla="*/ 738130 h 749550"/>
                <a:gd name="connsiteX0" fmla="*/ 0 w 738130"/>
                <a:gd name="connsiteY0" fmla="*/ 0 h 769995"/>
                <a:gd name="connsiteX1" fmla="*/ 738130 w 738130"/>
                <a:gd name="connsiteY1" fmla="*/ 758843 h 769995"/>
                <a:gd name="connsiteX0" fmla="*/ 0 w 738130"/>
                <a:gd name="connsiteY0" fmla="*/ 0 h 758843"/>
                <a:gd name="connsiteX1" fmla="*/ 738130 w 738130"/>
                <a:gd name="connsiteY1" fmla="*/ 758843 h 758843"/>
                <a:gd name="connsiteX0" fmla="*/ 0 w 760079"/>
                <a:gd name="connsiteY0" fmla="*/ 0 h 742273"/>
                <a:gd name="connsiteX1" fmla="*/ 760079 w 760079"/>
                <a:gd name="connsiteY1" fmla="*/ 742273 h 742273"/>
              </a:gdLst>
              <a:ahLst/>
              <a:cxnLst>
                <a:cxn ang="0">
                  <a:pos x="connsiteX0" y="connsiteY0"/>
                </a:cxn>
                <a:cxn ang="0">
                  <a:pos x="connsiteX1" y="connsiteY1"/>
                </a:cxn>
              </a:cxnLst>
              <a:rect l="l" t="t" r="r" b="b"/>
              <a:pathLst>
                <a:path w="760079" h="742273">
                  <a:moveTo>
                    <a:pt x="0" y="0"/>
                  </a:moveTo>
                  <a:cubicBezTo>
                    <a:pt x="145075" y="72055"/>
                    <a:pt x="237472" y="740640"/>
                    <a:pt x="760079" y="742273"/>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4" name="Freeform 23">
              <a:extLst>
                <a:ext uri="{FF2B5EF4-FFF2-40B4-BE49-F238E27FC236}">
                  <a16:creationId xmlns:a16="http://schemas.microsoft.com/office/drawing/2014/main" id="{D70352B0-D1C4-6648-937C-183E8C3D5B85}"/>
                </a:ext>
              </a:extLst>
            </p:cNvPr>
            <p:cNvSpPr/>
            <p:nvPr/>
          </p:nvSpPr>
          <p:spPr>
            <a:xfrm>
              <a:off x="3978565" y="4307562"/>
              <a:ext cx="380930" cy="379127"/>
            </a:xfrm>
            <a:custGeom>
              <a:avLst/>
              <a:gdLst>
                <a:gd name="connsiteX0" fmla="*/ 0 w 517792"/>
                <a:gd name="connsiteY0" fmla="*/ 0 h 385590"/>
                <a:gd name="connsiteX1" fmla="*/ 154236 w 517792"/>
                <a:gd name="connsiteY1" fmla="*/ 209320 h 385590"/>
                <a:gd name="connsiteX2" fmla="*/ 429657 w 517792"/>
                <a:gd name="connsiteY2" fmla="*/ 286438 h 385590"/>
                <a:gd name="connsiteX3" fmla="*/ 517792 w 517792"/>
                <a:gd name="connsiteY3" fmla="*/ 385590 h 385590"/>
                <a:gd name="connsiteX0" fmla="*/ 0 w 517792"/>
                <a:gd name="connsiteY0" fmla="*/ 0 h 385590"/>
                <a:gd name="connsiteX1" fmla="*/ 154236 w 517792"/>
                <a:gd name="connsiteY1" fmla="*/ 209320 h 385590"/>
                <a:gd name="connsiteX2" fmla="*/ 429657 w 517792"/>
                <a:gd name="connsiteY2" fmla="*/ 286438 h 385590"/>
                <a:gd name="connsiteX3" fmla="*/ 517792 w 517792"/>
                <a:gd name="connsiteY3" fmla="*/ 385590 h 385590"/>
                <a:gd name="connsiteX0" fmla="*/ 0 w 517792"/>
                <a:gd name="connsiteY0" fmla="*/ 0 h 385590"/>
                <a:gd name="connsiteX1" fmla="*/ 154236 w 517792"/>
                <a:gd name="connsiteY1" fmla="*/ 209320 h 385590"/>
                <a:gd name="connsiteX2" fmla="*/ 517792 w 517792"/>
                <a:gd name="connsiteY2" fmla="*/ 385590 h 385590"/>
                <a:gd name="connsiteX0" fmla="*/ 0 w 517792"/>
                <a:gd name="connsiteY0" fmla="*/ 0 h 385590"/>
                <a:gd name="connsiteX1" fmla="*/ 238902 w 517792"/>
                <a:gd name="connsiteY1" fmla="*/ 243186 h 385590"/>
                <a:gd name="connsiteX2" fmla="*/ 517792 w 517792"/>
                <a:gd name="connsiteY2"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 name="connsiteX0" fmla="*/ 0 w 517792"/>
                <a:gd name="connsiteY0" fmla="*/ 0 h 385590"/>
                <a:gd name="connsiteX1" fmla="*/ 517792 w 517792"/>
                <a:gd name="connsiteY1" fmla="*/ 385590 h 385590"/>
              </a:gdLst>
              <a:ahLst/>
              <a:cxnLst>
                <a:cxn ang="0">
                  <a:pos x="connsiteX0" y="connsiteY0"/>
                </a:cxn>
                <a:cxn ang="0">
                  <a:pos x="connsiteX1" y="connsiteY1"/>
                </a:cxn>
              </a:cxnLst>
              <a:rect l="l" t="t" r="r" b="b"/>
              <a:pathLst>
                <a:path w="517792" h="385590">
                  <a:moveTo>
                    <a:pt x="0" y="0"/>
                  </a:moveTo>
                  <a:cubicBezTo>
                    <a:pt x="147197" y="9997"/>
                    <a:pt x="252061" y="367126"/>
                    <a:pt x="517792" y="385590"/>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Freeform 24">
              <a:extLst>
                <a:ext uri="{FF2B5EF4-FFF2-40B4-BE49-F238E27FC236}">
                  <a16:creationId xmlns:a16="http://schemas.microsoft.com/office/drawing/2014/main" id="{80E0841A-AF48-A840-809F-0FEA9D98F314}"/>
                </a:ext>
              </a:extLst>
            </p:cNvPr>
            <p:cNvSpPr/>
            <p:nvPr/>
          </p:nvSpPr>
          <p:spPr>
            <a:xfrm>
              <a:off x="5532206" y="3665127"/>
              <a:ext cx="1143794" cy="605069"/>
            </a:xfrm>
            <a:custGeom>
              <a:avLst/>
              <a:gdLst>
                <a:gd name="connsiteX0" fmla="*/ 0 w 451691"/>
                <a:gd name="connsiteY0" fmla="*/ 269602 h 269602"/>
                <a:gd name="connsiteX1" fmla="*/ 275421 w 451691"/>
                <a:gd name="connsiteY1" fmla="*/ 27231 h 269602"/>
                <a:gd name="connsiteX2" fmla="*/ 451691 w 451691"/>
                <a:gd name="connsiteY2" fmla="*/ 16214 h 269602"/>
                <a:gd name="connsiteX0" fmla="*/ 0 w 451691"/>
                <a:gd name="connsiteY0" fmla="*/ 269602 h 269602"/>
                <a:gd name="connsiteX1" fmla="*/ 275421 w 451691"/>
                <a:gd name="connsiteY1" fmla="*/ 27231 h 269602"/>
                <a:gd name="connsiteX2" fmla="*/ 451691 w 451691"/>
                <a:gd name="connsiteY2" fmla="*/ 16214 h 269602"/>
                <a:gd name="connsiteX0" fmla="*/ 0 w 468625"/>
                <a:gd name="connsiteY0" fmla="*/ 269602 h 269602"/>
                <a:gd name="connsiteX1" fmla="*/ 292355 w 468625"/>
                <a:gd name="connsiteY1" fmla="*/ 27231 h 269602"/>
                <a:gd name="connsiteX2" fmla="*/ 468625 w 468625"/>
                <a:gd name="connsiteY2" fmla="*/ 16214 h 269602"/>
              </a:gdLst>
              <a:ahLst/>
              <a:cxnLst>
                <a:cxn ang="0">
                  <a:pos x="connsiteX0" y="connsiteY0"/>
                </a:cxn>
                <a:cxn ang="0">
                  <a:pos x="connsiteX1" y="connsiteY1"/>
                </a:cxn>
                <a:cxn ang="0">
                  <a:pos x="connsiteX2" y="connsiteY2"/>
                </a:cxn>
              </a:cxnLst>
              <a:rect l="l" t="t" r="r" b="b"/>
              <a:pathLst>
                <a:path w="468625" h="269602">
                  <a:moveTo>
                    <a:pt x="0" y="269602"/>
                  </a:moveTo>
                  <a:cubicBezTo>
                    <a:pt x="121236" y="262665"/>
                    <a:pt x="217073" y="69462"/>
                    <a:pt x="292355" y="27231"/>
                  </a:cubicBezTo>
                  <a:cubicBezTo>
                    <a:pt x="367637" y="-15000"/>
                    <a:pt x="418131" y="607"/>
                    <a:pt x="468625" y="16214"/>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Freeform 25">
              <a:extLst>
                <a:ext uri="{FF2B5EF4-FFF2-40B4-BE49-F238E27FC236}">
                  <a16:creationId xmlns:a16="http://schemas.microsoft.com/office/drawing/2014/main" id="{C49C4B2F-EC42-1142-B489-02A6AAE169AC}"/>
                </a:ext>
              </a:extLst>
            </p:cNvPr>
            <p:cNvSpPr/>
            <p:nvPr/>
          </p:nvSpPr>
          <p:spPr>
            <a:xfrm>
              <a:off x="4752712" y="4282051"/>
              <a:ext cx="792697" cy="187291"/>
            </a:xfrm>
            <a:custGeom>
              <a:avLst/>
              <a:gdLst>
                <a:gd name="connsiteX0" fmla="*/ 0 w 771181"/>
                <a:gd name="connsiteY0" fmla="*/ 187761 h 187761"/>
                <a:gd name="connsiteX1" fmla="*/ 583894 w 771181"/>
                <a:gd name="connsiteY1" fmla="*/ 77592 h 187761"/>
                <a:gd name="connsiteX2" fmla="*/ 683046 w 771181"/>
                <a:gd name="connsiteY2" fmla="*/ 11491 h 187761"/>
                <a:gd name="connsiteX3" fmla="*/ 771181 w 771181"/>
                <a:gd name="connsiteY3" fmla="*/ 474 h 187761"/>
                <a:gd name="connsiteX0" fmla="*/ 0 w 771181"/>
                <a:gd name="connsiteY0" fmla="*/ 187287 h 187287"/>
                <a:gd name="connsiteX1" fmla="*/ 583894 w 771181"/>
                <a:gd name="connsiteY1" fmla="*/ 77118 h 187287"/>
                <a:gd name="connsiteX2" fmla="*/ 771181 w 771181"/>
                <a:gd name="connsiteY2" fmla="*/ 0 h 187287"/>
                <a:gd name="connsiteX0" fmla="*/ 0 w 771181"/>
                <a:gd name="connsiteY0" fmla="*/ 187287 h 187287"/>
                <a:gd name="connsiteX1" fmla="*/ 771181 w 771181"/>
                <a:gd name="connsiteY1" fmla="*/ 0 h 187287"/>
                <a:gd name="connsiteX0" fmla="*/ 0 w 771181"/>
                <a:gd name="connsiteY0" fmla="*/ 187287 h 187287"/>
                <a:gd name="connsiteX1" fmla="*/ 771181 w 771181"/>
                <a:gd name="connsiteY1" fmla="*/ 0 h 187287"/>
                <a:gd name="connsiteX0" fmla="*/ 0 w 771181"/>
                <a:gd name="connsiteY0" fmla="*/ 187287 h 187291"/>
                <a:gd name="connsiteX1" fmla="*/ 771181 w 771181"/>
                <a:gd name="connsiteY1" fmla="*/ 0 h 187291"/>
              </a:gdLst>
              <a:ahLst/>
              <a:cxnLst>
                <a:cxn ang="0">
                  <a:pos x="connsiteX0" y="connsiteY0"/>
                </a:cxn>
                <a:cxn ang="0">
                  <a:pos x="connsiteX1" y="connsiteY1"/>
                </a:cxn>
              </a:cxnLst>
              <a:rect l="l" t="t" r="r" b="b"/>
              <a:pathLst>
                <a:path w="771181" h="187291">
                  <a:moveTo>
                    <a:pt x="0" y="187287"/>
                  </a:moveTo>
                  <a:cubicBezTo>
                    <a:pt x="218960" y="188358"/>
                    <a:pt x="611487" y="3162"/>
                    <a:pt x="771181" y="0"/>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7" name="Freeform 26">
              <a:extLst>
                <a:ext uri="{FF2B5EF4-FFF2-40B4-BE49-F238E27FC236}">
                  <a16:creationId xmlns:a16="http://schemas.microsoft.com/office/drawing/2014/main" id="{246474BB-597D-CC42-967F-C9F4598C4522}"/>
                </a:ext>
              </a:extLst>
            </p:cNvPr>
            <p:cNvSpPr/>
            <p:nvPr/>
          </p:nvSpPr>
          <p:spPr>
            <a:xfrm>
              <a:off x="4359495" y="4470943"/>
              <a:ext cx="412758" cy="210118"/>
            </a:xfrm>
            <a:custGeom>
              <a:avLst/>
              <a:gdLst>
                <a:gd name="connsiteX0" fmla="*/ 0 w 472287"/>
                <a:gd name="connsiteY0" fmla="*/ 209954 h 219468"/>
                <a:gd name="connsiteX1" fmla="*/ 146934 w 472287"/>
                <a:gd name="connsiteY1" fmla="*/ 199457 h 219468"/>
                <a:gd name="connsiteX2" fmla="*/ 230896 w 472287"/>
                <a:gd name="connsiteY2" fmla="*/ 31506 h 219468"/>
                <a:gd name="connsiteX3" fmla="*/ 472287 w 472287"/>
                <a:gd name="connsiteY3" fmla="*/ 15 h 219468"/>
                <a:gd name="connsiteX0" fmla="*/ 0 w 472287"/>
                <a:gd name="connsiteY0" fmla="*/ 209954 h 219468"/>
                <a:gd name="connsiteX1" fmla="*/ 97326 w 472287"/>
                <a:gd name="connsiteY1" fmla="*/ 199457 h 219468"/>
                <a:gd name="connsiteX2" fmla="*/ 230896 w 472287"/>
                <a:gd name="connsiteY2" fmla="*/ 31506 h 219468"/>
                <a:gd name="connsiteX3" fmla="*/ 472287 w 472287"/>
                <a:gd name="connsiteY3" fmla="*/ 15 h 219468"/>
                <a:gd name="connsiteX0" fmla="*/ 0 w 412758"/>
                <a:gd name="connsiteY0" fmla="*/ 209954 h 219468"/>
                <a:gd name="connsiteX1" fmla="*/ 97326 w 412758"/>
                <a:gd name="connsiteY1" fmla="*/ 199457 h 219468"/>
                <a:gd name="connsiteX2" fmla="*/ 230896 w 412758"/>
                <a:gd name="connsiteY2" fmla="*/ 31506 h 219468"/>
                <a:gd name="connsiteX3" fmla="*/ 412758 w 412758"/>
                <a:gd name="connsiteY3" fmla="*/ 15 h 219468"/>
                <a:gd name="connsiteX0" fmla="*/ 0 w 412758"/>
                <a:gd name="connsiteY0" fmla="*/ 209954 h 214209"/>
                <a:gd name="connsiteX1" fmla="*/ 97326 w 412758"/>
                <a:gd name="connsiteY1" fmla="*/ 199457 h 214209"/>
                <a:gd name="connsiteX2" fmla="*/ 230896 w 412758"/>
                <a:gd name="connsiteY2" fmla="*/ 31506 h 214209"/>
                <a:gd name="connsiteX3" fmla="*/ 412758 w 412758"/>
                <a:gd name="connsiteY3" fmla="*/ 15 h 214209"/>
                <a:gd name="connsiteX0" fmla="*/ 0 w 412758"/>
                <a:gd name="connsiteY0" fmla="*/ 209939 h 209939"/>
                <a:gd name="connsiteX1" fmla="*/ 109233 w 412758"/>
                <a:gd name="connsiteY1" fmla="*/ 179598 h 209939"/>
                <a:gd name="connsiteX2" fmla="*/ 230896 w 412758"/>
                <a:gd name="connsiteY2" fmla="*/ 31491 h 209939"/>
                <a:gd name="connsiteX3" fmla="*/ 412758 w 412758"/>
                <a:gd name="connsiteY3" fmla="*/ 0 h 209939"/>
                <a:gd name="connsiteX0" fmla="*/ 0 w 412758"/>
                <a:gd name="connsiteY0" fmla="*/ 209943 h 211692"/>
                <a:gd name="connsiteX1" fmla="*/ 121140 w 412758"/>
                <a:gd name="connsiteY1" fmla="*/ 195477 h 211692"/>
                <a:gd name="connsiteX2" fmla="*/ 230896 w 412758"/>
                <a:gd name="connsiteY2" fmla="*/ 31495 h 211692"/>
                <a:gd name="connsiteX3" fmla="*/ 412758 w 412758"/>
                <a:gd name="connsiteY3" fmla="*/ 4 h 211692"/>
                <a:gd name="connsiteX0" fmla="*/ 0 w 412758"/>
                <a:gd name="connsiteY0" fmla="*/ 209939 h 209939"/>
                <a:gd name="connsiteX1" fmla="*/ 97327 w 412758"/>
                <a:gd name="connsiteY1" fmla="*/ 187536 h 209939"/>
                <a:gd name="connsiteX2" fmla="*/ 230896 w 412758"/>
                <a:gd name="connsiteY2" fmla="*/ 31491 h 209939"/>
                <a:gd name="connsiteX3" fmla="*/ 412758 w 412758"/>
                <a:gd name="connsiteY3" fmla="*/ 0 h 209939"/>
                <a:gd name="connsiteX0" fmla="*/ 0 w 412758"/>
                <a:gd name="connsiteY0" fmla="*/ 209939 h 209939"/>
                <a:gd name="connsiteX1" fmla="*/ 97327 w 412758"/>
                <a:gd name="connsiteY1" fmla="*/ 187536 h 209939"/>
                <a:gd name="connsiteX2" fmla="*/ 207083 w 412758"/>
                <a:gd name="connsiteY2" fmla="*/ 31491 h 209939"/>
                <a:gd name="connsiteX3" fmla="*/ 412758 w 412758"/>
                <a:gd name="connsiteY3" fmla="*/ 0 h 209939"/>
                <a:gd name="connsiteX0" fmla="*/ 0 w 412758"/>
                <a:gd name="connsiteY0" fmla="*/ 251937 h 251937"/>
                <a:gd name="connsiteX1" fmla="*/ 97327 w 412758"/>
                <a:gd name="connsiteY1" fmla="*/ 229534 h 251937"/>
                <a:gd name="connsiteX2" fmla="*/ 207083 w 412758"/>
                <a:gd name="connsiteY2" fmla="*/ 73489 h 251937"/>
                <a:gd name="connsiteX3" fmla="*/ 412758 w 412758"/>
                <a:gd name="connsiteY3" fmla="*/ 41998 h 251937"/>
                <a:gd name="connsiteX0" fmla="*/ 0 w 412758"/>
                <a:gd name="connsiteY0" fmla="*/ 214872 h 214872"/>
                <a:gd name="connsiteX1" fmla="*/ 97327 w 412758"/>
                <a:gd name="connsiteY1" fmla="*/ 192469 h 214872"/>
                <a:gd name="connsiteX2" fmla="*/ 207083 w 412758"/>
                <a:gd name="connsiteY2" fmla="*/ 36424 h 214872"/>
                <a:gd name="connsiteX3" fmla="*/ 412758 w 412758"/>
                <a:gd name="connsiteY3" fmla="*/ 4933 h 214872"/>
                <a:gd name="connsiteX0" fmla="*/ 0 w 412758"/>
                <a:gd name="connsiteY0" fmla="*/ 210118 h 210118"/>
                <a:gd name="connsiteX1" fmla="*/ 97327 w 412758"/>
                <a:gd name="connsiteY1" fmla="*/ 187715 h 210118"/>
                <a:gd name="connsiteX2" fmla="*/ 207083 w 412758"/>
                <a:gd name="connsiteY2" fmla="*/ 31670 h 210118"/>
                <a:gd name="connsiteX3" fmla="*/ 412758 w 412758"/>
                <a:gd name="connsiteY3" fmla="*/ 179 h 210118"/>
              </a:gdLst>
              <a:ahLst/>
              <a:cxnLst>
                <a:cxn ang="0">
                  <a:pos x="connsiteX0" y="connsiteY0"/>
                </a:cxn>
                <a:cxn ang="0">
                  <a:pos x="connsiteX1" y="connsiteY1"/>
                </a:cxn>
                <a:cxn ang="0">
                  <a:pos x="connsiteX2" y="connsiteY2"/>
                </a:cxn>
                <a:cxn ang="0">
                  <a:pos x="connsiteX3" y="connsiteY3"/>
                </a:cxn>
              </a:cxnLst>
              <a:rect l="l" t="t" r="r" b="b"/>
              <a:pathLst>
                <a:path w="412758" h="210118">
                  <a:moveTo>
                    <a:pt x="0" y="210118"/>
                  </a:moveTo>
                  <a:cubicBezTo>
                    <a:pt x="70100" y="203865"/>
                    <a:pt x="62813" y="217456"/>
                    <a:pt x="97327" y="187715"/>
                  </a:cubicBezTo>
                  <a:cubicBezTo>
                    <a:pt x="131841" y="157974"/>
                    <a:pt x="154511" y="62926"/>
                    <a:pt x="207083" y="31670"/>
                  </a:cubicBezTo>
                  <a:cubicBezTo>
                    <a:pt x="269082" y="-4300"/>
                    <a:pt x="412758" y="179"/>
                    <a:pt x="412758" y="179"/>
                  </a:cubicBezTo>
                </a:path>
              </a:pathLst>
            </a:custGeom>
            <a:noFill/>
            <a:ln w="25400">
              <a:solidFill>
                <a:schemeClr val="accent4">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28" name="Rectangle 27"/>
          <p:cNvSpPr/>
          <p:nvPr/>
        </p:nvSpPr>
        <p:spPr>
          <a:xfrm>
            <a:off x="3333346" y="3671316"/>
            <a:ext cx="5758332" cy="839554"/>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2400" b="1">
                <a:latin typeface="Amazon Ember" panose="02000000000000000000" pitchFamily="2" charset="0"/>
              </a:rPr>
              <a:t>Example weekly traffic to an application</a:t>
            </a:r>
          </a:p>
        </p:txBody>
      </p:sp>
      <p:sp>
        <p:nvSpPr>
          <p:cNvPr id="2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155635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Dynamic scaling: Amazon EC2</a:t>
            </a:r>
          </a:p>
        </p:txBody>
      </p:sp>
      <p:graphicFrame>
        <p:nvGraphicFramePr>
          <p:cNvPr id="6" name="Diagram 5"/>
          <p:cNvGraphicFramePr/>
          <p:nvPr>
            <p:extLst>
              <p:ext uri="{D42A27DB-BD31-4B8C-83A1-F6EECF244321}">
                <p14:modId xmlns:p14="http://schemas.microsoft.com/office/powerpoint/2010/main" val="3312565759"/>
              </p:ext>
            </p:extLst>
          </p:nvPr>
        </p:nvGraphicFramePr>
        <p:xfrm>
          <a:off x="-233083" y="1398495"/>
          <a:ext cx="11905129" cy="51815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122121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Predictive scaling: Amazon EC2</a:t>
            </a:r>
          </a:p>
        </p:txBody>
      </p:sp>
      <p:sp>
        <p:nvSpPr>
          <p:cNvPr id="3" name="Content Placeholder 2"/>
          <p:cNvSpPr>
            <a:spLocks noGrp="1"/>
          </p:cNvSpPr>
          <p:nvPr>
            <p:ph idx="1"/>
          </p:nvPr>
        </p:nvSpPr>
        <p:spPr/>
        <p:txBody>
          <a:bodyPr/>
          <a:lstStyle/>
          <a:p>
            <a:pPr marL="0" indent="0">
              <a:buNone/>
            </a:pPr>
            <a:r>
              <a:rPr lang="en-US" b="1">
                <a:solidFill>
                  <a:schemeClr val="tx2">
                    <a:lumMod val="75000"/>
                  </a:schemeClr>
                </a:solidFill>
              </a:rPr>
              <a:t>Predictive scaling: </a:t>
            </a:r>
          </a:p>
          <a:p>
            <a:r>
              <a:rPr lang="en-US">
                <a:solidFill>
                  <a:srgbClr val="333333"/>
                </a:solidFill>
              </a:rPr>
              <a:t>Forecast load </a:t>
            </a:r>
          </a:p>
          <a:p>
            <a:r>
              <a:rPr lang="en-US">
                <a:solidFill>
                  <a:srgbClr val="333333"/>
                </a:solidFill>
              </a:rPr>
              <a:t>Schedule minimum capacity </a:t>
            </a:r>
          </a:p>
          <a:p>
            <a:endParaRPr lang="en-US">
              <a:solidFill>
                <a:srgbClr val="333333"/>
              </a:solidFill>
            </a:endParaRPr>
          </a:p>
        </p:txBody>
      </p:sp>
      <p:pic>
        <p:nvPicPr>
          <p:cNvPr id="6" name="Picture 5"/>
          <p:cNvPicPr>
            <a:picLocks noChangeAspect="1"/>
          </p:cNvPicPr>
          <p:nvPr/>
        </p:nvPicPr>
        <p:blipFill>
          <a:blip r:embed="rId4"/>
          <a:stretch>
            <a:fillRect/>
          </a:stretch>
        </p:blipFill>
        <p:spPr>
          <a:xfrm>
            <a:off x="6881248" y="1696243"/>
            <a:ext cx="4628445" cy="4184455"/>
          </a:xfrm>
          <a:prstGeom prst="rect">
            <a:avLst/>
          </a:prstGeom>
        </p:spPr>
      </p:pic>
      <p:sp>
        <p:nvSpPr>
          <p:cNvPr id="7" name="Rectangle 6"/>
          <p:cNvSpPr/>
          <p:nvPr/>
        </p:nvSpPr>
        <p:spPr>
          <a:xfrm>
            <a:off x="419100" y="3536284"/>
            <a:ext cx="6096000" cy="1261884"/>
          </a:xfrm>
          <a:prstGeom prst="rect">
            <a:avLst/>
          </a:prstGeom>
        </p:spPr>
        <p:txBody>
          <a:bodyPr>
            <a:spAutoFit/>
          </a:bodyPr>
          <a:lstStyle/>
          <a:p>
            <a:pPr>
              <a:buClr>
                <a:schemeClr val="tx1"/>
              </a:buClr>
            </a:pPr>
            <a:r>
              <a:rPr lang="en-US" sz="2800" b="1">
                <a:solidFill>
                  <a:schemeClr val="tx2">
                    <a:lumMod val="75000"/>
                  </a:schemeClr>
                </a:solidFill>
                <a:latin typeface="Amazon Ember" panose="02000000000000000000" pitchFamily="2" charset="0"/>
              </a:rPr>
              <a:t>Use case</a:t>
            </a:r>
            <a:r>
              <a:rPr lang="en-US" sz="2800">
                <a:solidFill>
                  <a:schemeClr val="tx2">
                    <a:lumMod val="75000"/>
                  </a:schemeClr>
                </a:solidFill>
                <a:latin typeface="Amazon Ember" panose="02000000000000000000" pitchFamily="2" charset="0"/>
              </a:rPr>
              <a:t>: </a:t>
            </a:r>
          </a:p>
          <a:p>
            <a:pPr marL="457200" indent="-457200">
              <a:buClr>
                <a:schemeClr val="tx1"/>
              </a:buClr>
              <a:buFont typeface="Arial" panose="020B0604020202020204" pitchFamily="34" charset="0"/>
              <a:buChar char="•"/>
            </a:pPr>
            <a:r>
              <a:rPr lang="en-US" sz="2400">
                <a:solidFill>
                  <a:srgbClr val="333333"/>
                </a:solidFill>
                <a:latin typeface="Amazon Ember" panose="02000000000000000000" pitchFamily="2" charset="0"/>
                <a:ea typeface="Amazon Ember" panose="02000000000000000000" pitchFamily="2" charset="0"/>
                <a:cs typeface="Amazon Ember Light" panose="020B0403020204020204" pitchFamily="34" charset="0"/>
              </a:rPr>
              <a:t>Dynamic scaling target tracking</a:t>
            </a:r>
          </a:p>
          <a:p>
            <a:pPr marL="457200" indent="-457200">
              <a:buClr>
                <a:schemeClr val="tx1"/>
              </a:buClr>
              <a:buFont typeface="Arial" panose="020B0604020202020204" pitchFamily="34" charset="0"/>
              <a:buChar char="•"/>
            </a:pPr>
            <a:r>
              <a:rPr lang="en-US" sz="2400">
                <a:solidFill>
                  <a:srgbClr val="333333"/>
                </a:solidFill>
                <a:latin typeface="Amazon Ember" panose="02000000000000000000" pitchFamily="2" charset="0"/>
                <a:ea typeface="Amazon Ember" panose="02000000000000000000" pitchFamily="2" charset="0"/>
                <a:cs typeface="Amazon Ember Light" panose="020B0403020204020204" pitchFamily="34" charset="0"/>
              </a:rPr>
              <a:t>Applications that have periodic spikes</a:t>
            </a:r>
          </a:p>
        </p:txBody>
      </p:sp>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30</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660359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1" name="Picture 10">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909200" y="365126"/>
            <a:ext cx="1772652" cy="449072"/>
          </a:xfrm>
          <a:prstGeom prst="rect">
            <a:avLst/>
          </a:prstGeom>
        </p:spPr>
      </p:pic>
      <p:sp>
        <p:nvSpPr>
          <p:cNvPr id="4" name="Title 3"/>
          <p:cNvSpPr>
            <a:spLocks noGrp="1"/>
          </p:cNvSpPr>
          <p:nvPr>
            <p:ph type="title"/>
          </p:nvPr>
        </p:nvSpPr>
        <p:spPr>
          <a:xfrm>
            <a:off x="597222" y="470709"/>
            <a:ext cx="3932237" cy="1600200"/>
          </a:xfrm>
          <a:noFill/>
          <a:ln>
            <a:solidFill>
              <a:schemeClr val="bg1"/>
            </a:solidFill>
          </a:ln>
        </p:spPr>
        <p:txBody>
          <a:bodyPr anchor="ctr"/>
          <a:lstStyle/>
          <a:p>
            <a:pPr algn="ctr"/>
            <a:r>
              <a:rPr lang="en-US">
                <a:solidFill>
                  <a:schemeClr val="bg1"/>
                </a:solidFill>
              </a:rPr>
              <a:t>Key Takeaway</a:t>
            </a:r>
          </a:p>
        </p:txBody>
      </p:sp>
      <p:pic>
        <p:nvPicPr>
          <p:cNvPr id="8" name="Picture Placeholder 6"/>
          <p:cNvPicPr>
            <a:picLocks noChangeAspect="1"/>
          </p:cNvPicPr>
          <p:nvPr/>
        </p:nvPicPr>
        <p:blipFill>
          <a:blip r:embed="rId5"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Rectangle 4"/>
          <p:cNvSpPr/>
          <p:nvPr/>
        </p:nvSpPr>
        <p:spPr>
          <a:xfrm>
            <a:off x="5585852" y="959470"/>
            <a:ext cx="6392788" cy="5016758"/>
          </a:xfrm>
          <a:prstGeom prst="rect">
            <a:avLst/>
          </a:prstGeom>
        </p:spPr>
        <p:txBody>
          <a:bodyPr wrap="square">
            <a:spAutoFit/>
          </a:bodyPr>
          <a:lstStyle/>
          <a:p>
            <a:pPr marL="228600" lvl="0" indent="-228600">
              <a:spcBef>
                <a:spcPts val="600"/>
              </a:spcBef>
              <a:spcAft>
                <a:spcPts val="600"/>
              </a:spcAft>
              <a:buFont typeface="Arial" panose="020B0604020202020204" pitchFamily="34" charset="0"/>
              <a:buChar char="•"/>
              <a:defRPr/>
            </a:pPr>
            <a:r>
              <a:rPr lang="en-US" sz="20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Amazon EC2 Auto Scaling helps maintain application availability by automatically adding or removing EC2 instances according to defined conditions.</a:t>
            </a:r>
          </a:p>
          <a:p>
            <a:pPr marL="228600" lvl="0" indent="-228600">
              <a:spcBef>
                <a:spcPts val="600"/>
              </a:spcBef>
              <a:spcAft>
                <a:spcPts val="600"/>
              </a:spcAft>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EC2 Auto Scaling consists of three parts: </a:t>
            </a:r>
          </a:p>
          <a:p>
            <a:pPr marL="685800" lvl="1" indent="-228600">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Launch configuration/launch template</a:t>
            </a:r>
          </a:p>
          <a:p>
            <a:pPr marL="685800" lvl="1" indent="-228600">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Auto Scaling group</a:t>
            </a:r>
          </a:p>
          <a:p>
            <a:pPr marL="685800" lvl="1" indent="-228600">
              <a:spcAft>
                <a:spcPts val="600"/>
              </a:spcAft>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Scaling policies</a:t>
            </a:r>
          </a:p>
          <a:p>
            <a:pPr marL="228600" lvl="0" indent="-228600">
              <a:spcBef>
                <a:spcPts val="600"/>
              </a:spcBef>
              <a:spcAft>
                <a:spcPts val="600"/>
              </a:spcAft>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Scaling can be based on: </a:t>
            </a:r>
          </a:p>
          <a:p>
            <a:pPr marL="685800" lvl="1" indent="-228600">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Instance health</a:t>
            </a:r>
          </a:p>
          <a:p>
            <a:pPr marL="685800" lvl="1" indent="-228600">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Amazon CloudWatch alarms</a:t>
            </a:r>
          </a:p>
          <a:p>
            <a:pPr marL="685800" lvl="1" indent="-228600">
              <a:spcAft>
                <a:spcPts val="600"/>
              </a:spcAft>
              <a:buFont typeface="Arial" panose="020B0604020202020204" pitchFamily="34" charset="0"/>
              <a:buChar char="•"/>
            </a:pPr>
            <a:r>
              <a:rPr lang="en-US" sz="2000">
                <a:solidFill>
                  <a:prstClr val="black"/>
                </a:solidFill>
                <a:latin typeface="Amazon Ember" panose="02000000000000000000" pitchFamily="2" charset="0"/>
                <a:ea typeface="Amazon Ember" panose="02000000000000000000" pitchFamily="2" charset="0"/>
              </a:rPr>
              <a:t>Time schedule or past usage (prediction)</a:t>
            </a:r>
            <a:endParaRPr lang="en-US" sz="2000">
              <a:solidFill>
                <a:srgbClr val="000000"/>
              </a:solidFill>
              <a:latin typeface="Amazon Ember" panose="02000000000000000000" pitchFamily="2" charset="0"/>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defRPr/>
            </a:pPr>
            <a:r>
              <a:rPr lang="en-US" sz="20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To create a launch configuration, several details must be specified.</a:t>
            </a:r>
          </a:p>
        </p:txBody>
      </p:sp>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fld id="{47EAE77F-F397-4ABF-8CC2-5AF67E05FE9F}" type="slidenum">
              <a:rPr lang="en-US" smtClean="0"/>
              <a:pPr/>
              <a:t>31</a:t>
            </a:fld>
            <a:endParaRPr lang="en-US"/>
          </a:p>
        </p:txBody>
      </p:sp>
    </p:spTree>
    <p:custDataLst>
      <p:tags r:id="rId1"/>
    </p:custDataLst>
    <p:extLst>
      <p:ext uri="{BB962C8B-B14F-4D97-AF65-F5344CB8AC3E}">
        <p14:creationId xmlns:p14="http://schemas.microsoft.com/office/powerpoint/2010/main" val="2799161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a:t>Avoid thrashing</a:t>
            </a:r>
          </a:p>
        </p:txBody>
      </p:sp>
      <p:sp>
        <p:nvSpPr>
          <p:cNvPr id="32" name="Rounded Rectangle 31"/>
          <p:cNvSpPr/>
          <p:nvPr/>
        </p:nvSpPr>
        <p:spPr>
          <a:xfrm>
            <a:off x="857737" y="1451394"/>
            <a:ext cx="1371065" cy="1174076"/>
          </a:xfrm>
          <a:prstGeom prst="roundRect">
            <a:avLst/>
          </a:prstGeom>
          <a:ln w="571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04"/>
            <a:endParaRPr lang="en-US" sz="2399">
              <a:solidFill>
                <a:prstClr val="white"/>
              </a:solidFill>
              <a:latin typeface="Amazon Ember" panose="02000000000000000000" pitchFamily="2" charset="0"/>
              <a:ea typeface="Amazon Ember" panose="02000000000000000000" pitchFamily="2" charset="0"/>
            </a:endParaRPr>
          </a:p>
        </p:txBody>
      </p:sp>
      <p:sp>
        <p:nvSpPr>
          <p:cNvPr id="33" name="Rectangle 32"/>
          <p:cNvSpPr/>
          <p:nvPr/>
        </p:nvSpPr>
        <p:spPr>
          <a:xfrm>
            <a:off x="2982847" y="1479268"/>
            <a:ext cx="9051525" cy="1241302"/>
          </a:xfrm>
          <a:prstGeom prst="rect">
            <a:avLst/>
          </a:prstGeom>
        </p:spPr>
        <p:txBody>
          <a:bodyPr wrap="square">
            <a:spAutoFit/>
          </a:bodyPr>
          <a:lstStyle/>
          <a:p>
            <a:pPr defTabSz="1218804"/>
            <a:r>
              <a:rPr lang="en-US" sz="2667" b="1">
                <a:solidFill>
                  <a:prstClr val="black">
                    <a:lumMod val="75000"/>
                    <a:lumOff val="25000"/>
                  </a:prstClr>
                </a:solidFill>
                <a:latin typeface="Amazon Ember" panose="02000000000000000000" pitchFamily="2" charset="0"/>
                <a:ea typeface="Amazon Ember" panose="02000000000000000000" pitchFamily="2" charset="0"/>
                <a:cs typeface="Arial" panose="020B0604020202020204" pitchFamily="34" charset="0"/>
              </a:rPr>
              <a:t>Alarm sustain period:</a:t>
            </a:r>
          </a:p>
          <a:p>
            <a:pPr marL="0" lvl="2" defTabSz="1218804"/>
            <a:r>
              <a:rPr lang="en-US" sz="2400" b="1">
                <a:latin typeface="Amazon Ember" panose="02000000000000000000" pitchFamily="2" charset="0"/>
                <a:ea typeface="Amazon Ember" panose="02000000000000000000" pitchFamily="2" charset="0"/>
                <a:cs typeface="Amazon Ember Light" panose="020B0403020204020204" pitchFamily="34" charset="0"/>
              </a:rPr>
              <a:t>Example: </a:t>
            </a:r>
            <a:r>
              <a:rPr lang="en-US" sz="2400">
                <a:latin typeface="Amazon Ember" panose="02000000000000000000" pitchFamily="2" charset="0"/>
                <a:ea typeface="Amazon Ember" panose="02000000000000000000" pitchFamily="2" charset="0"/>
                <a:cs typeface="Amazon Ember Light" panose="020B0403020204020204" pitchFamily="34" charset="0"/>
              </a:rPr>
              <a:t>CPU utilization &gt; 90% for </a:t>
            </a:r>
            <a:r>
              <a:rPr lang="en-US" sz="2400" b="1">
                <a:solidFill>
                  <a:schemeClr val="accent6"/>
                </a:solidFill>
                <a:latin typeface="Amazon Ember" panose="02000000000000000000" pitchFamily="2" charset="0"/>
                <a:ea typeface="Amazon Ember" panose="02000000000000000000" pitchFamily="2" charset="0"/>
                <a:cs typeface="Amazon Ember Light" panose="020B0403020204020204" pitchFamily="34" charset="0"/>
              </a:rPr>
              <a:t>10 minutes</a:t>
            </a:r>
          </a:p>
          <a:p>
            <a:pPr defTabSz="1218804"/>
            <a:endParaRPr lang="en-US" sz="2399">
              <a:solidFill>
                <a:prstClr val="black">
                  <a:lumMod val="75000"/>
                  <a:lumOff val="25000"/>
                </a:prstClr>
              </a:solidFill>
              <a:latin typeface="Amazon Ember" panose="02000000000000000000" pitchFamily="2" charset="0"/>
              <a:ea typeface="Amazon Ember" panose="02000000000000000000" pitchFamily="2" charset="0"/>
              <a:cs typeface="Arial" panose="020B0604020202020204" pitchFamily="34" charset="0"/>
            </a:endParaRPr>
          </a:p>
        </p:txBody>
      </p:sp>
      <p:sp>
        <p:nvSpPr>
          <p:cNvPr id="34" name="Rectangle 33"/>
          <p:cNvSpPr/>
          <p:nvPr/>
        </p:nvSpPr>
        <p:spPr>
          <a:xfrm>
            <a:off x="2982847" y="2625470"/>
            <a:ext cx="8464796" cy="2349297"/>
          </a:xfrm>
          <a:prstGeom prst="rect">
            <a:avLst/>
          </a:prstGeom>
        </p:spPr>
        <p:txBody>
          <a:bodyPr wrap="square">
            <a:spAutoFit/>
          </a:bodyPr>
          <a:lstStyle/>
          <a:p>
            <a:pPr defTabSz="1218804"/>
            <a:r>
              <a:rPr lang="en-US" sz="2667" b="1">
                <a:solidFill>
                  <a:prstClr val="black">
                    <a:lumMod val="75000"/>
                    <a:lumOff val="25000"/>
                  </a:prstClr>
                </a:solidFill>
                <a:latin typeface="Amazon Ember" panose="02000000000000000000" pitchFamily="2" charset="0"/>
                <a:ea typeface="Amazon Ember" panose="02000000000000000000" pitchFamily="2" charset="0"/>
                <a:cs typeface="Arial" panose="020B0604020202020204" pitchFamily="34" charset="0"/>
              </a:rPr>
              <a:t>Cooldown period:</a:t>
            </a:r>
          </a:p>
          <a:p>
            <a:pPr marL="342900" lvl="2" indent="-342900" defTabSz="1218804">
              <a:buFont typeface="Arial" panose="020B0604020202020204" pitchFamily="34" charset="0"/>
              <a:buChar char="•"/>
            </a:pPr>
            <a:r>
              <a:rPr lang="en-US" sz="2400">
                <a:latin typeface="Amazon Ember" panose="02000000000000000000" pitchFamily="2" charset="0"/>
                <a:ea typeface="Amazon Ember" panose="02000000000000000000" pitchFamily="2" charset="0"/>
                <a:cs typeface="Amazon Ember Light" panose="020B0403020204020204" pitchFamily="34" charset="0"/>
              </a:rPr>
              <a:t>When running a scale in or out, suspend further scaling activities for a cooldown period of time</a:t>
            </a:r>
          </a:p>
          <a:p>
            <a:pPr marL="342900" lvl="2" indent="-342900" defTabSz="1218804">
              <a:buFont typeface="Arial" panose="020B0604020202020204" pitchFamily="34" charset="0"/>
              <a:buChar char="•"/>
            </a:pPr>
            <a:r>
              <a:rPr lang="en-US" sz="2400">
                <a:latin typeface="Amazon Ember" panose="02000000000000000000" pitchFamily="2" charset="0"/>
                <a:ea typeface="Amazon Ember" panose="02000000000000000000" pitchFamily="2" charset="0"/>
                <a:cs typeface="Amazon Ember Light" panose="020B0403020204020204" pitchFamily="34" charset="0"/>
              </a:rPr>
              <a:t>Used for simple scaling policies</a:t>
            </a:r>
          </a:p>
          <a:p>
            <a:pPr marL="0" lvl="2" defTabSz="1218804"/>
            <a:r>
              <a:rPr lang="en-US" sz="2400" b="1">
                <a:latin typeface="Amazon Ember" panose="02000000000000000000" pitchFamily="2" charset="0"/>
                <a:ea typeface="Amazon Ember" panose="02000000000000000000" pitchFamily="2" charset="0"/>
                <a:cs typeface="Amazon Ember Light" panose="020B0403020204020204" pitchFamily="34" charset="0"/>
              </a:rPr>
              <a:t>Example: </a:t>
            </a:r>
            <a:r>
              <a:rPr lang="en-US" sz="2400">
                <a:latin typeface="Amazon Ember" panose="02000000000000000000" pitchFamily="2" charset="0"/>
                <a:ea typeface="Amazon Ember" panose="02000000000000000000" pitchFamily="2" charset="0"/>
                <a:cs typeface="Amazon Ember Light" panose="020B0403020204020204" pitchFamily="34" charset="0"/>
              </a:rPr>
              <a:t>Suspend scaling for </a:t>
            </a:r>
            <a:r>
              <a:rPr lang="en-US" sz="2400" b="1">
                <a:solidFill>
                  <a:schemeClr val="accent6"/>
                </a:solidFill>
                <a:latin typeface="Amazon Ember" panose="02000000000000000000" pitchFamily="2" charset="0"/>
                <a:ea typeface="Amazon Ember" panose="02000000000000000000" pitchFamily="2" charset="0"/>
                <a:cs typeface="Amazon Ember Light" panose="020B0403020204020204" pitchFamily="34" charset="0"/>
              </a:rPr>
              <a:t>5 minutes</a:t>
            </a:r>
          </a:p>
          <a:p>
            <a:pPr defTabSz="1218804"/>
            <a:endParaRPr lang="en-US" sz="2399">
              <a:solidFill>
                <a:prstClr val="black">
                  <a:lumMod val="75000"/>
                  <a:lumOff val="25000"/>
                </a:prstClr>
              </a:solidFill>
              <a:latin typeface="Amazon Ember" panose="02000000000000000000" pitchFamily="2" charset="0"/>
              <a:ea typeface="Amazon Ember" panose="02000000000000000000" pitchFamily="2" charset="0"/>
              <a:cs typeface="Arial" panose="020B0604020202020204" pitchFamily="34" charset="0"/>
            </a:endParaRPr>
          </a:p>
        </p:txBody>
      </p:sp>
      <p:sp>
        <p:nvSpPr>
          <p:cNvPr id="40" name="Rounded Rectangle 39"/>
          <p:cNvSpPr/>
          <p:nvPr/>
        </p:nvSpPr>
        <p:spPr>
          <a:xfrm>
            <a:off x="874423" y="3103222"/>
            <a:ext cx="1324981" cy="1184272"/>
          </a:xfrm>
          <a:prstGeom prst="roundRect">
            <a:avLst/>
          </a:prstGeom>
          <a:solidFill>
            <a:schemeClr val="accent2"/>
          </a:solidFill>
          <a:ln w="571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04"/>
            <a:endParaRPr lang="en-US" sz="2399">
              <a:solidFill>
                <a:prstClr val="white"/>
              </a:solidFill>
              <a:latin typeface="Amazon Ember" panose="02000000000000000000" pitchFamily="2" charset="0"/>
              <a:ea typeface="Amazon Ember" panose="02000000000000000000" pitchFamily="2" charset="0"/>
            </a:endParaRPr>
          </a:p>
        </p:txBody>
      </p:sp>
      <p:grpSp>
        <p:nvGrpSpPr>
          <p:cNvPr id="49" name="Group 22"/>
          <p:cNvGrpSpPr>
            <a:grpSpLocks noChangeAspect="1"/>
          </p:cNvGrpSpPr>
          <p:nvPr/>
        </p:nvGrpSpPr>
        <p:grpSpPr bwMode="auto">
          <a:xfrm>
            <a:off x="1184663" y="1671565"/>
            <a:ext cx="763296" cy="767035"/>
            <a:chOff x="-388" y="78"/>
            <a:chExt cx="817" cy="821"/>
          </a:xfrm>
          <a:solidFill>
            <a:schemeClr val="bg1"/>
          </a:solidFill>
        </p:grpSpPr>
        <p:sp>
          <p:nvSpPr>
            <p:cNvPr id="50" name="Freeform 24"/>
            <p:cNvSpPr>
              <a:spLocks/>
            </p:cNvSpPr>
            <p:nvPr/>
          </p:nvSpPr>
          <p:spPr bwMode="auto">
            <a:xfrm>
              <a:off x="-388" y="78"/>
              <a:ext cx="817" cy="821"/>
            </a:xfrm>
            <a:custGeom>
              <a:avLst/>
              <a:gdLst>
                <a:gd name="T0" fmla="*/ 220 w 3269"/>
                <a:gd name="T1" fmla="*/ 0 h 3285"/>
                <a:gd name="T2" fmla="*/ 346 w 3269"/>
                <a:gd name="T3" fmla="*/ 235 h 3285"/>
                <a:gd name="T4" fmla="*/ 385 w 3269"/>
                <a:gd name="T5" fmla="*/ 244 h 3285"/>
                <a:gd name="T6" fmla="*/ 415 w 3269"/>
                <a:gd name="T7" fmla="*/ 268 h 3285"/>
                <a:gd name="T8" fmla="*/ 432 w 3269"/>
                <a:gd name="T9" fmla="*/ 302 h 3285"/>
                <a:gd name="T10" fmla="*/ 432 w 3269"/>
                <a:gd name="T11" fmla="*/ 343 h 3285"/>
                <a:gd name="T12" fmla="*/ 415 w 3269"/>
                <a:gd name="T13" fmla="*/ 378 h 3285"/>
                <a:gd name="T14" fmla="*/ 385 w 3269"/>
                <a:gd name="T15" fmla="*/ 402 h 3285"/>
                <a:gd name="T16" fmla="*/ 346 w 3269"/>
                <a:gd name="T17" fmla="*/ 411 h 3285"/>
                <a:gd name="T18" fmla="*/ 220 w 3269"/>
                <a:gd name="T19" fmla="*/ 804 h 3285"/>
                <a:gd name="T20" fmla="*/ 366 w 3269"/>
                <a:gd name="T21" fmla="*/ 806 h 3285"/>
                <a:gd name="T22" fmla="*/ 401 w 3269"/>
                <a:gd name="T23" fmla="*/ 823 h 3285"/>
                <a:gd name="T24" fmla="*/ 426 w 3269"/>
                <a:gd name="T25" fmla="*/ 853 h 3285"/>
                <a:gd name="T26" fmla="*/ 434 w 3269"/>
                <a:gd name="T27" fmla="*/ 892 h 3285"/>
                <a:gd name="T28" fmla="*/ 426 w 3269"/>
                <a:gd name="T29" fmla="*/ 930 h 3285"/>
                <a:gd name="T30" fmla="*/ 401 w 3269"/>
                <a:gd name="T31" fmla="*/ 961 h 3285"/>
                <a:gd name="T32" fmla="*/ 366 w 3269"/>
                <a:gd name="T33" fmla="*/ 978 h 3285"/>
                <a:gd name="T34" fmla="*/ 220 w 3269"/>
                <a:gd name="T35" fmla="*/ 980 h 3285"/>
                <a:gd name="T36" fmla="*/ 346 w 3269"/>
                <a:gd name="T37" fmla="*/ 1373 h 3285"/>
                <a:gd name="T38" fmla="*/ 385 w 3269"/>
                <a:gd name="T39" fmla="*/ 1382 h 3285"/>
                <a:gd name="T40" fmla="*/ 415 w 3269"/>
                <a:gd name="T41" fmla="*/ 1405 h 3285"/>
                <a:gd name="T42" fmla="*/ 432 w 3269"/>
                <a:gd name="T43" fmla="*/ 1441 h 3285"/>
                <a:gd name="T44" fmla="*/ 432 w 3269"/>
                <a:gd name="T45" fmla="*/ 1481 h 3285"/>
                <a:gd name="T46" fmla="*/ 415 w 3269"/>
                <a:gd name="T47" fmla="*/ 1516 h 3285"/>
                <a:gd name="T48" fmla="*/ 385 w 3269"/>
                <a:gd name="T49" fmla="*/ 1540 h 3285"/>
                <a:gd name="T50" fmla="*/ 346 w 3269"/>
                <a:gd name="T51" fmla="*/ 1549 h 3285"/>
                <a:gd name="T52" fmla="*/ 220 w 3269"/>
                <a:gd name="T53" fmla="*/ 1941 h 3285"/>
                <a:gd name="T54" fmla="*/ 366 w 3269"/>
                <a:gd name="T55" fmla="*/ 1944 h 3285"/>
                <a:gd name="T56" fmla="*/ 401 w 3269"/>
                <a:gd name="T57" fmla="*/ 1961 h 3285"/>
                <a:gd name="T58" fmla="*/ 426 w 3269"/>
                <a:gd name="T59" fmla="*/ 1991 h 3285"/>
                <a:gd name="T60" fmla="*/ 434 w 3269"/>
                <a:gd name="T61" fmla="*/ 2030 h 3285"/>
                <a:gd name="T62" fmla="*/ 426 w 3269"/>
                <a:gd name="T63" fmla="*/ 2069 h 3285"/>
                <a:gd name="T64" fmla="*/ 401 w 3269"/>
                <a:gd name="T65" fmla="*/ 2099 h 3285"/>
                <a:gd name="T66" fmla="*/ 366 w 3269"/>
                <a:gd name="T67" fmla="*/ 2115 h 3285"/>
                <a:gd name="T68" fmla="*/ 220 w 3269"/>
                <a:gd name="T69" fmla="*/ 2118 h 3285"/>
                <a:gd name="T70" fmla="*/ 346 w 3269"/>
                <a:gd name="T71" fmla="*/ 2510 h 3285"/>
                <a:gd name="T72" fmla="*/ 385 w 3269"/>
                <a:gd name="T73" fmla="*/ 2519 h 3285"/>
                <a:gd name="T74" fmla="*/ 415 w 3269"/>
                <a:gd name="T75" fmla="*/ 2544 h 3285"/>
                <a:gd name="T76" fmla="*/ 432 w 3269"/>
                <a:gd name="T77" fmla="*/ 2578 h 3285"/>
                <a:gd name="T78" fmla="*/ 432 w 3269"/>
                <a:gd name="T79" fmla="*/ 2618 h 3285"/>
                <a:gd name="T80" fmla="*/ 415 w 3269"/>
                <a:gd name="T81" fmla="*/ 2654 h 3285"/>
                <a:gd name="T82" fmla="*/ 385 w 3269"/>
                <a:gd name="T83" fmla="*/ 2678 h 3285"/>
                <a:gd name="T84" fmla="*/ 346 w 3269"/>
                <a:gd name="T85" fmla="*/ 2686 h 3285"/>
                <a:gd name="T86" fmla="*/ 220 w 3269"/>
                <a:gd name="T87" fmla="*/ 3064 h 3285"/>
                <a:gd name="T88" fmla="*/ 3269 w 3269"/>
                <a:gd name="T89" fmla="*/ 3285 h 3285"/>
                <a:gd name="T90" fmla="*/ 0 w 3269"/>
                <a:gd name="T91" fmla="*/ 0 h 3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69" h="3285">
                  <a:moveTo>
                    <a:pt x="0" y="0"/>
                  </a:moveTo>
                  <a:lnTo>
                    <a:pt x="220" y="0"/>
                  </a:lnTo>
                  <a:lnTo>
                    <a:pt x="220" y="235"/>
                  </a:lnTo>
                  <a:lnTo>
                    <a:pt x="346" y="235"/>
                  </a:lnTo>
                  <a:lnTo>
                    <a:pt x="366" y="237"/>
                  </a:lnTo>
                  <a:lnTo>
                    <a:pt x="385" y="244"/>
                  </a:lnTo>
                  <a:lnTo>
                    <a:pt x="401" y="254"/>
                  </a:lnTo>
                  <a:lnTo>
                    <a:pt x="415" y="268"/>
                  </a:lnTo>
                  <a:lnTo>
                    <a:pt x="426" y="284"/>
                  </a:lnTo>
                  <a:lnTo>
                    <a:pt x="432" y="302"/>
                  </a:lnTo>
                  <a:lnTo>
                    <a:pt x="434" y="323"/>
                  </a:lnTo>
                  <a:lnTo>
                    <a:pt x="432" y="343"/>
                  </a:lnTo>
                  <a:lnTo>
                    <a:pt x="426" y="361"/>
                  </a:lnTo>
                  <a:lnTo>
                    <a:pt x="415" y="378"/>
                  </a:lnTo>
                  <a:lnTo>
                    <a:pt x="401" y="391"/>
                  </a:lnTo>
                  <a:lnTo>
                    <a:pt x="385" y="402"/>
                  </a:lnTo>
                  <a:lnTo>
                    <a:pt x="366" y="409"/>
                  </a:lnTo>
                  <a:lnTo>
                    <a:pt x="346" y="411"/>
                  </a:lnTo>
                  <a:lnTo>
                    <a:pt x="220" y="411"/>
                  </a:lnTo>
                  <a:lnTo>
                    <a:pt x="220" y="804"/>
                  </a:lnTo>
                  <a:lnTo>
                    <a:pt x="346" y="804"/>
                  </a:lnTo>
                  <a:lnTo>
                    <a:pt x="366" y="806"/>
                  </a:lnTo>
                  <a:lnTo>
                    <a:pt x="385" y="813"/>
                  </a:lnTo>
                  <a:lnTo>
                    <a:pt x="401" y="823"/>
                  </a:lnTo>
                  <a:lnTo>
                    <a:pt x="415" y="836"/>
                  </a:lnTo>
                  <a:lnTo>
                    <a:pt x="426" y="853"/>
                  </a:lnTo>
                  <a:lnTo>
                    <a:pt x="432" y="872"/>
                  </a:lnTo>
                  <a:lnTo>
                    <a:pt x="434" y="892"/>
                  </a:lnTo>
                  <a:lnTo>
                    <a:pt x="432" y="912"/>
                  </a:lnTo>
                  <a:lnTo>
                    <a:pt x="426" y="930"/>
                  </a:lnTo>
                  <a:lnTo>
                    <a:pt x="415" y="946"/>
                  </a:lnTo>
                  <a:lnTo>
                    <a:pt x="401" y="961"/>
                  </a:lnTo>
                  <a:lnTo>
                    <a:pt x="385" y="971"/>
                  </a:lnTo>
                  <a:lnTo>
                    <a:pt x="366" y="978"/>
                  </a:lnTo>
                  <a:lnTo>
                    <a:pt x="346" y="980"/>
                  </a:lnTo>
                  <a:lnTo>
                    <a:pt x="220" y="980"/>
                  </a:lnTo>
                  <a:lnTo>
                    <a:pt x="220" y="1373"/>
                  </a:lnTo>
                  <a:lnTo>
                    <a:pt x="346" y="1373"/>
                  </a:lnTo>
                  <a:lnTo>
                    <a:pt x="366" y="1375"/>
                  </a:lnTo>
                  <a:lnTo>
                    <a:pt x="385" y="1382"/>
                  </a:lnTo>
                  <a:lnTo>
                    <a:pt x="401" y="1392"/>
                  </a:lnTo>
                  <a:lnTo>
                    <a:pt x="415" y="1405"/>
                  </a:lnTo>
                  <a:lnTo>
                    <a:pt x="426" y="1423"/>
                  </a:lnTo>
                  <a:lnTo>
                    <a:pt x="432" y="1441"/>
                  </a:lnTo>
                  <a:lnTo>
                    <a:pt x="434" y="1461"/>
                  </a:lnTo>
                  <a:lnTo>
                    <a:pt x="432" y="1481"/>
                  </a:lnTo>
                  <a:lnTo>
                    <a:pt x="426" y="1499"/>
                  </a:lnTo>
                  <a:lnTo>
                    <a:pt x="415" y="1516"/>
                  </a:lnTo>
                  <a:lnTo>
                    <a:pt x="401" y="1530"/>
                  </a:lnTo>
                  <a:lnTo>
                    <a:pt x="385" y="1540"/>
                  </a:lnTo>
                  <a:lnTo>
                    <a:pt x="366" y="1546"/>
                  </a:lnTo>
                  <a:lnTo>
                    <a:pt x="346" y="1549"/>
                  </a:lnTo>
                  <a:lnTo>
                    <a:pt x="220" y="1549"/>
                  </a:lnTo>
                  <a:lnTo>
                    <a:pt x="220" y="1941"/>
                  </a:lnTo>
                  <a:lnTo>
                    <a:pt x="346" y="1941"/>
                  </a:lnTo>
                  <a:lnTo>
                    <a:pt x="366" y="1944"/>
                  </a:lnTo>
                  <a:lnTo>
                    <a:pt x="385" y="1950"/>
                  </a:lnTo>
                  <a:lnTo>
                    <a:pt x="401" y="1961"/>
                  </a:lnTo>
                  <a:lnTo>
                    <a:pt x="415" y="1975"/>
                  </a:lnTo>
                  <a:lnTo>
                    <a:pt x="426" y="1991"/>
                  </a:lnTo>
                  <a:lnTo>
                    <a:pt x="432" y="2010"/>
                  </a:lnTo>
                  <a:lnTo>
                    <a:pt x="434" y="2030"/>
                  </a:lnTo>
                  <a:lnTo>
                    <a:pt x="432" y="2050"/>
                  </a:lnTo>
                  <a:lnTo>
                    <a:pt x="426" y="2069"/>
                  </a:lnTo>
                  <a:lnTo>
                    <a:pt x="415" y="2085"/>
                  </a:lnTo>
                  <a:lnTo>
                    <a:pt x="401" y="2099"/>
                  </a:lnTo>
                  <a:lnTo>
                    <a:pt x="385" y="2109"/>
                  </a:lnTo>
                  <a:lnTo>
                    <a:pt x="366" y="2115"/>
                  </a:lnTo>
                  <a:lnTo>
                    <a:pt x="346" y="2118"/>
                  </a:lnTo>
                  <a:lnTo>
                    <a:pt x="220" y="2118"/>
                  </a:lnTo>
                  <a:lnTo>
                    <a:pt x="220" y="2510"/>
                  </a:lnTo>
                  <a:lnTo>
                    <a:pt x="346" y="2510"/>
                  </a:lnTo>
                  <a:lnTo>
                    <a:pt x="366" y="2513"/>
                  </a:lnTo>
                  <a:lnTo>
                    <a:pt x="385" y="2519"/>
                  </a:lnTo>
                  <a:lnTo>
                    <a:pt x="401" y="2530"/>
                  </a:lnTo>
                  <a:lnTo>
                    <a:pt x="415" y="2544"/>
                  </a:lnTo>
                  <a:lnTo>
                    <a:pt x="426" y="2560"/>
                  </a:lnTo>
                  <a:lnTo>
                    <a:pt x="432" y="2578"/>
                  </a:lnTo>
                  <a:lnTo>
                    <a:pt x="434" y="2598"/>
                  </a:lnTo>
                  <a:lnTo>
                    <a:pt x="432" y="2618"/>
                  </a:lnTo>
                  <a:lnTo>
                    <a:pt x="426" y="2638"/>
                  </a:lnTo>
                  <a:lnTo>
                    <a:pt x="415" y="2654"/>
                  </a:lnTo>
                  <a:lnTo>
                    <a:pt x="401" y="2667"/>
                  </a:lnTo>
                  <a:lnTo>
                    <a:pt x="385" y="2678"/>
                  </a:lnTo>
                  <a:lnTo>
                    <a:pt x="366" y="2684"/>
                  </a:lnTo>
                  <a:lnTo>
                    <a:pt x="346" y="2686"/>
                  </a:lnTo>
                  <a:lnTo>
                    <a:pt x="220" y="2686"/>
                  </a:lnTo>
                  <a:lnTo>
                    <a:pt x="220" y="3064"/>
                  </a:lnTo>
                  <a:lnTo>
                    <a:pt x="3269" y="3064"/>
                  </a:lnTo>
                  <a:lnTo>
                    <a:pt x="3269" y="3285"/>
                  </a:lnTo>
                  <a:lnTo>
                    <a:pt x="0" y="3285"/>
                  </a:lnTo>
                  <a:lnTo>
                    <a:pt x="0" y="0"/>
                  </a:lnTo>
                  <a:close/>
                </a:path>
              </a:pathLst>
            </a:custGeom>
            <a:grpFill/>
            <a:ln w="0">
              <a:noFill/>
              <a:prstDash val="solid"/>
              <a:round/>
              <a:headEnd/>
              <a:tailEnd/>
            </a:ln>
          </p:spPr>
          <p:txBody>
            <a:bodyPr vert="horz" wrap="square" lIns="121888" tIns="60944" rIns="121888" bIns="60944" numCol="1" anchor="t" anchorCtr="0" compatLnSpc="1">
              <a:prstTxWarp prst="textNoShape">
                <a:avLst/>
              </a:prstTxWarp>
            </a:bodyPr>
            <a:lstStyle/>
            <a:p>
              <a:pPr defTabSz="1218804"/>
              <a:endParaRPr lang="en-US" sz="2399">
                <a:solidFill>
                  <a:prstClr val="black"/>
                </a:solidFill>
                <a:latin typeface="Amazon Ember" panose="02000000000000000000" pitchFamily="2" charset="0"/>
                <a:ea typeface="Amazon Ember" panose="02000000000000000000" pitchFamily="2" charset="0"/>
              </a:endParaRPr>
            </a:p>
          </p:txBody>
        </p:sp>
        <p:sp>
          <p:nvSpPr>
            <p:cNvPr id="51" name="Freeform 25"/>
            <p:cNvSpPr>
              <a:spLocks/>
            </p:cNvSpPr>
            <p:nvPr/>
          </p:nvSpPr>
          <p:spPr bwMode="auto">
            <a:xfrm>
              <a:off x="-241" y="308"/>
              <a:ext cx="632" cy="303"/>
            </a:xfrm>
            <a:custGeom>
              <a:avLst/>
              <a:gdLst>
                <a:gd name="T0" fmla="*/ 767 w 2529"/>
                <a:gd name="T1" fmla="*/ 0 h 1211"/>
                <a:gd name="T2" fmla="*/ 1884 w 2529"/>
                <a:gd name="T3" fmla="*/ 938 h 1211"/>
                <a:gd name="T4" fmla="*/ 2152 w 2529"/>
                <a:gd name="T5" fmla="*/ 488 h 1211"/>
                <a:gd name="T6" fmla="*/ 1937 w 2529"/>
                <a:gd name="T7" fmla="*/ 360 h 1211"/>
                <a:gd name="T8" fmla="*/ 2529 w 2529"/>
                <a:gd name="T9" fmla="*/ 28 h 1211"/>
                <a:gd name="T10" fmla="*/ 2519 w 2529"/>
                <a:gd name="T11" fmla="*/ 709 h 1211"/>
                <a:gd name="T12" fmla="*/ 2305 w 2529"/>
                <a:gd name="T13" fmla="*/ 580 h 1211"/>
                <a:gd name="T14" fmla="*/ 1930 w 2529"/>
                <a:gd name="T15" fmla="*/ 1211 h 1211"/>
                <a:gd name="T16" fmla="*/ 790 w 2529"/>
                <a:gd name="T17" fmla="*/ 254 h 1211"/>
                <a:gd name="T18" fmla="*/ 137 w 2529"/>
                <a:gd name="T19" fmla="*/ 1048 h 1211"/>
                <a:gd name="T20" fmla="*/ 0 w 2529"/>
                <a:gd name="T21" fmla="*/ 934 h 1211"/>
                <a:gd name="T22" fmla="*/ 767 w 2529"/>
                <a:gd name="T23" fmla="*/ 0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9" h="1211">
                  <a:moveTo>
                    <a:pt x="767" y="0"/>
                  </a:moveTo>
                  <a:lnTo>
                    <a:pt x="1884" y="938"/>
                  </a:lnTo>
                  <a:lnTo>
                    <a:pt x="2152" y="488"/>
                  </a:lnTo>
                  <a:lnTo>
                    <a:pt x="1937" y="360"/>
                  </a:lnTo>
                  <a:lnTo>
                    <a:pt x="2529" y="28"/>
                  </a:lnTo>
                  <a:lnTo>
                    <a:pt x="2519" y="709"/>
                  </a:lnTo>
                  <a:lnTo>
                    <a:pt x="2305" y="580"/>
                  </a:lnTo>
                  <a:lnTo>
                    <a:pt x="1930" y="1211"/>
                  </a:lnTo>
                  <a:lnTo>
                    <a:pt x="790" y="254"/>
                  </a:lnTo>
                  <a:lnTo>
                    <a:pt x="137" y="1048"/>
                  </a:lnTo>
                  <a:lnTo>
                    <a:pt x="0" y="934"/>
                  </a:lnTo>
                  <a:lnTo>
                    <a:pt x="767" y="0"/>
                  </a:lnTo>
                  <a:close/>
                </a:path>
              </a:pathLst>
            </a:custGeom>
            <a:grpFill/>
            <a:ln w="0">
              <a:noFill/>
              <a:prstDash val="solid"/>
              <a:round/>
              <a:headEnd/>
              <a:tailEnd/>
            </a:ln>
          </p:spPr>
          <p:txBody>
            <a:bodyPr vert="horz" wrap="square" lIns="121888" tIns="60944" rIns="121888" bIns="60944" numCol="1" anchor="t" anchorCtr="0" compatLnSpc="1">
              <a:prstTxWarp prst="textNoShape">
                <a:avLst/>
              </a:prstTxWarp>
            </a:bodyPr>
            <a:lstStyle/>
            <a:p>
              <a:pPr defTabSz="1218804"/>
              <a:endParaRPr lang="en-US" sz="2399">
                <a:solidFill>
                  <a:prstClr val="black"/>
                </a:solidFill>
                <a:latin typeface="Amazon Ember" panose="02000000000000000000" pitchFamily="2" charset="0"/>
                <a:ea typeface="Amazon Ember" panose="02000000000000000000" pitchFamily="2" charset="0"/>
              </a:endParaRPr>
            </a:p>
          </p:txBody>
        </p:sp>
        <p:sp>
          <p:nvSpPr>
            <p:cNvPr id="52" name="Freeform 26"/>
            <p:cNvSpPr>
              <a:spLocks/>
            </p:cNvSpPr>
            <p:nvPr/>
          </p:nvSpPr>
          <p:spPr bwMode="auto">
            <a:xfrm>
              <a:off x="116" y="122"/>
              <a:ext cx="239" cy="298"/>
            </a:xfrm>
            <a:custGeom>
              <a:avLst/>
              <a:gdLst>
                <a:gd name="T0" fmla="*/ 956 w 956"/>
                <a:gd name="T1" fmla="*/ 0 h 1193"/>
                <a:gd name="T2" fmla="*/ 861 w 956"/>
                <a:gd name="T3" fmla="*/ 673 h 1193"/>
                <a:gd name="T4" fmla="*/ 665 w 956"/>
                <a:gd name="T5" fmla="*/ 520 h 1193"/>
                <a:gd name="T6" fmla="*/ 141 w 956"/>
                <a:gd name="T7" fmla="*/ 1193 h 1193"/>
                <a:gd name="T8" fmla="*/ 0 w 956"/>
                <a:gd name="T9" fmla="*/ 1082 h 1193"/>
                <a:gd name="T10" fmla="*/ 524 w 956"/>
                <a:gd name="T11" fmla="*/ 409 h 1193"/>
                <a:gd name="T12" fmla="*/ 328 w 956"/>
                <a:gd name="T13" fmla="*/ 254 h 1193"/>
                <a:gd name="T14" fmla="*/ 956 w 956"/>
                <a:gd name="T15" fmla="*/ 0 h 11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6" h="1193">
                  <a:moveTo>
                    <a:pt x="956" y="0"/>
                  </a:moveTo>
                  <a:lnTo>
                    <a:pt x="861" y="673"/>
                  </a:lnTo>
                  <a:lnTo>
                    <a:pt x="665" y="520"/>
                  </a:lnTo>
                  <a:lnTo>
                    <a:pt x="141" y="1193"/>
                  </a:lnTo>
                  <a:lnTo>
                    <a:pt x="0" y="1082"/>
                  </a:lnTo>
                  <a:lnTo>
                    <a:pt x="524" y="409"/>
                  </a:lnTo>
                  <a:lnTo>
                    <a:pt x="328" y="254"/>
                  </a:lnTo>
                  <a:lnTo>
                    <a:pt x="956" y="0"/>
                  </a:lnTo>
                  <a:close/>
                </a:path>
              </a:pathLst>
            </a:custGeom>
            <a:grpFill/>
            <a:ln w="0">
              <a:noFill/>
              <a:prstDash val="solid"/>
              <a:round/>
              <a:headEnd/>
              <a:tailEnd/>
            </a:ln>
          </p:spPr>
          <p:txBody>
            <a:bodyPr vert="horz" wrap="square" lIns="121888" tIns="60944" rIns="121888" bIns="60944" numCol="1" anchor="t" anchorCtr="0" compatLnSpc="1">
              <a:prstTxWarp prst="textNoShape">
                <a:avLst/>
              </a:prstTxWarp>
            </a:bodyPr>
            <a:lstStyle/>
            <a:p>
              <a:pPr defTabSz="1218804"/>
              <a:endParaRPr lang="en-US" sz="2399">
                <a:solidFill>
                  <a:prstClr val="black"/>
                </a:solidFill>
                <a:latin typeface="Amazon Ember" panose="02000000000000000000" pitchFamily="2" charset="0"/>
                <a:ea typeface="Amazon Ember" panose="02000000000000000000" pitchFamily="2" charset="0"/>
              </a:endParaRPr>
            </a:p>
          </p:txBody>
        </p:sp>
        <p:sp>
          <p:nvSpPr>
            <p:cNvPr id="53" name="Freeform 27"/>
            <p:cNvSpPr>
              <a:spLocks/>
            </p:cNvSpPr>
            <p:nvPr/>
          </p:nvSpPr>
          <p:spPr bwMode="auto">
            <a:xfrm>
              <a:off x="-205" y="504"/>
              <a:ext cx="291" cy="227"/>
            </a:xfrm>
            <a:custGeom>
              <a:avLst/>
              <a:gdLst>
                <a:gd name="T0" fmla="*/ 1019 w 1162"/>
                <a:gd name="T1" fmla="*/ 0 h 907"/>
                <a:gd name="T2" fmla="*/ 1162 w 1162"/>
                <a:gd name="T3" fmla="*/ 109 h 907"/>
                <a:gd name="T4" fmla="*/ 808 w 1162"/>
                <a:gd name="T5" fmla="*/ 574 h 907"/>
                <a:gd name="T6" fmla="*/ 578 w 1162"/>
                <a:gd name="T7" fmla="*/ 342 h 907"/>
                <a:gd name="T8" fmla="*/ 142 w 1162"/>
                <a:gd name="T9" fmla="*/ 907 h 907"/>
                <a:gd name="T10" fmla="*/ 0 w 1162"/>
                <a:gd name="T11" fmla="*/ 798 h 907"/>
                <a:gd name="T12" fmla="*/ 561 w 1162"/>
                <a:gd name="T13" fmla="*/ 71 h 907"/>
                <a:gd name="T14" fmla="*/ 790 w 1162"/>
                <a:gd name="T15" fmla="*/ 302 h 907"/>
                <a:gd name="T16" fmla="*/ 1019 w 1162"/>
                <a:gd name="T17" fmla="*/ 0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2" h="907">
                  <a:moveTo>
                    <a:pt x="1019" y="0"/>
                  </a:moveTo>
                  <a:lnTo>
                    <a:pt x="1162" y="109"/>
                  </a:lnTo>
                  <a:lnTo>
                    <a:pt x="808" y="574"/>
                  </a:lnTo>
                  <a:lnTo>
                    <a:pt x="578" y="342"/>
                  </a:lnTo>
                  <a:lnTo>
                    <a:pt x="142" y="907"/>
                  </a:lnTo>
                  <a:lnTo>
                    <a:pt x="0" y="798"/>
                  </a:lnTo>
                  <a:lnTo>
                    <a:pt x="561" y="71"/>
                  </a:lnTo>
                  <a:lnTo>
                    <a:pt x="790" y="302"/>
                  </a:lnTo>
                  <a:lnTo>
                    <a:pt x="1019" y="0"/>
                  </a:lnTo>
                  <a:close/>
                </a:path>
              </a:pathLst>
            </a:custGeom>
            <a:grpFill/>
            <a:ln w="0">
              <a:noFill/>
              <a:prstDash val="solid"/>
              <a:round/>
              <a:headEnd/>
              <a:tailEnd/>
            </a:ln>
          </p:spPr>
          <p:txBody>
            <a:bodyPr vert="horz" wrap="square" lIns="121888" tIns="60944" rIns="121888" bIns="60944" numCol="1" anchor="t" anchorCtr="0" compatLnSpc="1">
              <a:prstTxWarp prst="textNoShape">
                <a:avLst/>
              </a:prstTxWarp>
            </a:bodyPr>
            <a:lstStyle/>
            <a:p>
              <a:pPr defTabSz="1218804"/>
              <a:endParaRPr lang="en-US" sz="2399">
                <a:solidFill>
                  <a:prstClr val="black"/>
                </a:solidFill>
                <a:latin typeface="Amazon Ember" panose="02000000000000000000" pitchFamily="2" charset="0"/>
                <a:ea typeface="Amazon Ember" panose="02000000000000000000" pitchFamily="2" charset="0"/>
              </a:endParaRPr>
            </a:p>
          </p:txBody>
        </p:sp>
      </p:grpSp>
      <p:sp>
        <p:nvSpPr>
          <p:cNvPr id="13" name="Rounded Rectangle 12"/>
          <p:cNvSpPr/>
          <p:nvPr/>
        </p:nvSpPr>
        <p:spPr>
          <a:xfrm>
            <a:off x="874422" y="5130613"/>
            <a:ext cx="1324981" cy="1184272"/>
          </a:xfrm>
          <a:prstGeom prst="roundRect">
            <a:avLst/>
          </a:prstGeom>
          <a:solidFill>
            <a:schemeClr val="accent2"/>
          </a:solidFill>
          <a:ln w="571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04"/>
            <a:endParaRPr lang="en-US" sz="2399">
              <a:ln>
                <a:solidFill>
                  <a:sysClr val="windowText" lastClr="000000"/>
                </a:solidFill>
              </a:ln>
              <a:solidFill>
                <a:prstClr val="white"/>
              </a:solidFill>
              <a:latin typeface="Amazon Ember" panose="02000000000000000000" pitchFamily="2" charset="0"/>
              <a:ea typeface="Amazon Ember" panose="02000000000000000000" pitchFamily="2" charset="0"/>
            </a:endParaRPr>
          </a:p>
        </p:txBody>
      </p:sp>
      <p:sp>
        <p:nvSpPr>
          <p:cNvPr id="3" name="Rectangle 2"/>
          <p:cNvSpPr/>
          <p:nvPr/>
        </p:nvSpPr>
        <p:spPr>
          <a:xfrm>
            <a:off x="2949002" y="4732702"/>
            <a:ext cx="9085370" cy="1980094"/>
          </a:xfrm>
          <a:prstGeom prst="rect">
            <a:avLst/>
          </a:prstGeom>
        </p:spPr>
        <p:txBody>
          <a:bodyPr wrap="square">
            <a:spAutoFit/>
          </a:bodyPr>
          <a:lstStyle/>
          <a:p>
            <a:pPr defTabSz="1218804"/>
            <a:r>
              <a:rPr lang="en-US" sz="2667" b="1">
                <a:solidFill>
                  <a:prstClr val="black">
                    <a:lumMod val="75000"/>
                    <a:lumOff val="25000"/>
                  </a:prstClr>
                </a:solidFill>
                <a:latin typeface="Amazon Ember" panose="02000000000000000000" pitchFamily="2" charset="0"/>
                <a:ea typeface="Amazon Ember" panose="02000000000000000000" pitchFamily="2" charset="0"/>
                <a:cs typeface="Arial" panose="020B0604020202020204" pitchFamily="34" charset="0"/>
              </a:rPr>
              <a:t>Instance warmup period:</a:t>
            </a:r>
          </a:p>
          <a:p>
            <a:pPr marL="342900" lvl="2" indent="-342900" defTabSz="1218804">
              <a:buFont typeface="Arial" panose="020B0604020202020204" pitchFamily="34" charset="0"/>
              <a:buChar char="•"/>
            </a:pPr>
            <a:r>
              <a:rPr lang="en-US" sz="2400">
                <a:latin typeface="Amazon Ember" panose="02000000000000000000" pitchFamily="2" charset="0"/>
                <a:ea typeface="Amazon Ember" panose="02000000000000000000" pitchFamily="2" charset="0"/>
                <a:cs typeface="Amazon Ember Light" panose="020B0403020204020204" pitchFamily="34" charset="0"/>
              </a:rPr>
              <a:t>The number of seconds that it takes for a newly launched instance to warm up</a:t>
            </a:r>
          </a:p>
          <a:p>
            <a:pPr marL="342900" lvl="2" indent="-342900" defTabSz="1218804">
              <a:buFont typeface="Arial" panose="020B0604020202020204" pitchFamily="34" charset="0"/>
              <a:buChar char="•"/>
            </a:pPr>
            <a:r>
              <a:rPr lang="en-US" sz="2400">
                <a:latin typeface="Amazon Ember" panose="02000000000000000000" pitchFamily="2" charset="0"/>
                <a:ea typeface="Amazon Ember" panose="02000000000000000000" pitchFamily="2" charset="0"/>
                <a:cs typeface="Amazon Ember Light" panose="020B0403020204020204" pitchFamily="34" charset="0"/>
              </a:rPr>
              <a:t>Used for step scaling policies</a:t>
            </a:r>
          </a:p>
          <a:p>
            <a:pPr marL="0" lvl="2" defTabSz="1218804"/>
            <a:r>
              <a:rPr lang="en-US" sz="2400" b="1">
                <a:latin typeface="Amazon Ember" panose="02000000000000000000" pitchFamily="2" charset="0"/>
                <a:ea typeface="Amazon Ember" panose="02000000000000000000" pitchFamily="2" charset="0"/>
                <a:cs typeface="Amazon Ember Light" panose="020B0403020204020204" pitchFamily="34" charset="0"/>
              </a:rPr>
              <a:t>Example: </a:t>
            </a:r>
            <a:r>
              <a:rPr lang="en-US" sz="2400">
                <a:latin typeface="Amazon Ember" panose="02000000000000000000" pitchFamily="2" charset="0"/>
                <a:ea typeface="Amazon Ember" panose="02000000000000000000" pitchFamily="2" charset="0"/>
                <a:cs typeface="Amazon Ember Light" panose="020B0403020204020204" pitchFamily="34" charset="0"/>
              </a:rPr>
              <a:t>Warmup takes </a:t>
            </a:r>
            <a:r>
              <a:rPr lang="en-US" sz="2400" b="1">
                <a:solidFill>
                  <a:schemeClr val="accent6"/>
                </a:solidFill>
                <a:latin typeface="Amazon Ember" panose="02000000000000000000" pitchFamily="2" charset="0"/>
                <a:ea typeface="Amazon Ember" panose="02000000000000000000" pitchFamily="2" charset="0"/>
                <a:cs typeface="Amazon Ember Light" panose="020B0403020204020204" pitchFamily="34" charset="0"/>
              </a:rPr>
              <a:t>5 minutes</a:t>
            </a:r>
          </a:p>
        </p:txBody>
      </p:sp>
      <p:sp>
        <p:nvSpPr>
          <p:cNvPr id="4" name="Multiply 3"/>
          <p:cNvSpPr/>
          <p:nvPr/>
        </p:nvSpPr>
        <p:spPr>
          <a:xfrm>
            <a:off x="928995" y="3077373"/>
            <a:ext cx="1286163" cy="130856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1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5" name="Slide Number Placeholder 4"/>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46682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le 41"/>
          <p:cNvGraphicFramePr>
            <a:graphicFrameLocks noGrp="1"/>
          </p:cNvGraphicFramePr>
          <p:nvPr>
            <p:extLst>
              <p:ext uri="{D42A27DB-BD31-4B8C-83A1-F6EECF244321}">
                <p14:modId xmlns:p14="http://schemas.microsoft.com/office/powerpoint/2010/main" val="143841872"/>
              </p:ext>
            </p:extLst>
          </p:nvPr>
        </p:nvGraphicFramePr>
        <p:xfrm>
          <a:off x="318081" y="1293337"/>
          <a:ext cx="11502859" cy="516157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23849">
                  <a:extLst>
                    <a:ext uri="{9D8B030D-6E8A-4147-A177-3AD203B41FA5}">
                      <a16:colId xmlns:a16="http://schemas.microsoft.com/office/drawing/2014/main" val="20000"/>
                    </a:ext>
                  </a:extLst>
                </a:gridCol>
                <a:gridCol w="1389545">
                  <a:extLst>
                    <a:ext uri="{9D8B030D-6E8A-4147-A177-3AD203B41FA5}">
                      <a16:colId xmlns:a16="http://schemas.microsoft.com/office/drawing/2014/main" val="20001"/>
                    </a:ext>
                  </a:extLst>
                </a:gridCol>
                <a:gridCol w="2261708">
                  <a:extLst>
                    <a:ext uri="{9D8B030D-6E8A-4147-A177-3AD203B41FA5}">
                      <a16:colId xmlns:a16="http://schemas.microsoft.com/office/drawing/2014/main" val="20002"/>
                    </a:ext>
                  </a:extLst>
                </a:gridCol>
                <a:gridCol w="2122953">
                  <a:extLst>
                    <a:ext uri="{9D8B030D-6E8A-4147-A177-3AD203B41FA5}">
                      <a16:colId xmlns:a16="http://schemas.microsoft.com/office/drawing/2014/main" val="20003"/>
                    </a:ext>
                  </a:extLst>
                </a:gridCol>
                <a:gridCol w="2843863">
                  <a:extLst>
                    <a:ext uri="{9D8B030D-6E8A-4147-A177-3AD203B41FA5}">
                      <a16:colId xmlns:a16="http://schemas.microsoft.com/office/drawing/2014/main" val="20004"/>
                    </a:ext>
                  </a:extLst>
                </a:gridCol>
                <a:gridCol w="1660941">
                  <a:extLst>
                    <a:ext uri="{9D8B030D-6E8A-4147-A177-3AD203B41FA5}">
                      <a16:colId xmlns:a16="http://schemas.microsoft.com/office/drawing/2014/main" val="20005"/>
                    </a:ext>
                  </a:extLst>
                </a:gridCol>
              </a:tblGrid>
              <a:tr h="690880">
                <a:tc>
                  <a:txBody>
                    <a:bodyPr/>
                    <a:lstStyle/>
                    <a:p>
                      <a:pPr algn="ctr"/>
                      <a:r>
                        <a:rPr lang="en-US" sz="2000">
                          <a:solidFill>
                            <a:schemeClr val="bg1"/>
                          </a:solidFill>
                          <a:latin typeface="Amazon Ember" panose="02000000000000000000" pitchFamily="2" charset="0"/>
                          <a:ea typeface="Amazon Ember" panose="02000000000000000000" pitchFamily="2" charset="0"/>
                        </a:rPr>
                        <a:t>Event</a:t>
                      </a:r>
                    </a:p>
                  </a:txBody>
                  <a:tcPr marL="121920" marR="121920"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2000">
                          <a:latin typeface="Amazon Ember" panose="02000000000000000000" pitchFamily="2" charset="0"/>
                          <a:ea typeface="Amazon Ember" panose="02000000000000000000" pitchFamily="2" charset="0"/>
                        </a:rPr>
                        <a:t>Before</a:t>
                      </a:r>
                    </a:p>
                  </a:txBody>
                  <a:tcPr marL="121920" marR="121920" marT="60960" marB="60960" anchor="ctr">
                    <a:lnT w="38100" cap="flat" cmpd="sng" algn="ctr">
                      <a:solidFill>
                        <a:schemeClr val="tx1"/>
                      </a:solidFill>
                      <a:prstDash val="solid"/>
                      <a:round/>
                      <a:headEnd type="none" w="med" len="med"/>
                      <a:tailEnd type="none" w="med" len="med"/>
                    </a:lnT>
                    <a:solidFill>
                      <a:schemeClr val="tx2">
                        <a:lumMod val="75000"/>
                      </a:schemeClr>
                    </a:solidFill>
                  </a:tcPr>
                </a:tc>
                <a:tc>
                  <a:txBody>
                    <a:bodyPr/>
                    <a:lstStyle/>
                    <a:p>
                      <a:pPr algn="ctr"/>
                      <a:r>
                        <a:rPr lang="en-US" sz="2000">
                          <a:latin typeface="Amazon Ember" panose="02000000000000000000" pitchFamily="2" charset="0"/>
                          <a:ea typeface="Amazon Ember" panose="02000000000000000000" pitchFamily="2" charset="0"/>
                        </a:rPr>
                        <a:t>Auto Scaling Action</a:t>
                      </a:r>
                    </a:p>
                  </a:txBody>
                  <a:tcPr marL="121920" marR="121920" marT="60960" marB="60960" anchor="ctr">
                    <a:lnT w="38100" cap="flat" cmpd="sng" algn="ctr">
                      <a:solidFill>
                        <a:schemeClr val="tx1"/>
                      </a:solidFill>
                      <a:prstDash val="solid"/>
                      <a:round/>
                      <a:headEnd type="none" w="med" len="med"/>
                      <a:tailEnd type="none" w="med" len="med"/>
                    </a:lnT>
                    <a:solidFill>
                      <a:schemeClr val="tx2">
                        <a:lumMod val="75000"/>
                      </a:schemeClr>
                    </a:solidFill>
                  </a:tcPr>
                </a:tc>
                <a:tc gridSpan="2">
                  <a:txBody>
                    <a:bodyPr/>
                    <a:lstStyle/>
                    <a:p>
                      <a:pPr algn="ctr"/>
                      <a:r>
                        <a:rPr lang="en-US" sz="2000">
                          <a:latin typeface="Amazon Ember" panose="02000000000000000000" pitchFamily="2" charset="0"/>
                          <a:ea typeface="Amazon Ember" panose="02000000000000000000" pitchFamily="2" charset="0"/>
                        </a:rPr>
                        <a:t>User/Programmed Action</a:t>
                      </a:r>
                    </a:p>
                  </a:txBody>
                  <a:tcPr marL="121920" marR="121920" marT="60960" marB="60960" anchor="ctr">
                    <a:lnT w="38100" cap="flat" cmpd="sng" algn="ctr">
                      <a:solidFill>
                        <a:schemeClr val="tx1"/>
                      </a:solidFill>
                      <a:prstDash val="solid"/>
                      <a:round/>
                      <a:headEnd type="none" w="med" len="med"/>
                      <a:tailEnd type="none" w="med" len="med"/>
                    </a:lnT>
                    <a:solidFill>
                      <a:schemeClr val="tx2">
                        <a:lumMod val="75000"/>
                      </a:schemeClr>
                    </a:solidFill>
                  </a:tcPr>
                </a:tc>
                <a:tc hMerge="1">
                  <a:txBody>
                    <a:bodyPr/>
                    <a:lstStyle/>
                    <a:p>
                      <a:pPr algn="ctr"/>
                      <a:endParaRPr lang="en-US" sz="1400"/>
                    </a:p>
                  </a:txBody>
                  <a:tcPr/>
                </a:tc>
                <a:tc>
                  <a:txBody>
                    <a:bodyPr/>
                    <a:lstStyle/>
                    <a:p>
                      <a:pPr algn="ctr"/>
                      <a:r>
                        <a:rPr lang="en-US" sz="2000">
                          <a:latin typeface="Amazon Ember" panose="02000000000000000000" pitchFamily="2" charset="0"/>
                          <a:ea typeface="Amazon Ember" panose="02000000000000000000" pitchFamily="2" charset="0"/>
                        </a:rPr>
                        <a:t>After</a:t>
                      </a:r>
                    </a:p>
                  </a:txBody>
                  <a:tcPr marL="121920" marR="121920"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tx2">
                        <a:lumMod val="75000"/>
                      </a:schemeClr>
                    </a:solidFill>
                  </a:tcPr>
                </a:tc>
                <a:extLst>
                  <a:ext uri="{0D108BD9-81ED-4DB2-BD59-A6C34878D82A}">
                    <a16:rowId xmlns:a16="http://schemas.microsoft.com/office/drawing/2014/main" val="10000"/>
                  </a:ext>
                </a:extLst>
              </a:tr>
              <a:tr h="2113280">
                <a:tc>
                  <a:txBody>
                    <a:bodyPr/>
                    <a:lstStyle/>
                    <a:p>
                      <a:pPr algn="ctr"/>
                      <a:r>
                        <a:rPr lang="en-US" sz="2000" b="1">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Scale Out</a:t>
                      </a:r>
                    </a:p>
                  </a:txBody>
                  <a:tcPr marL="121920" marR="121920" marT="60960" marB="60960" anchor="ctr">
                    <a:lnL w="38100" cap="flat" cmpd="sng" algn="ctr">
                      <a:solidFill>
                        <a:schemeClr val="tx1"/>
                      </a:solidFill>
                      <a:prstDash val="solid"/>
                      <a:round/>
                      <a:headEnd type="none" w="med" len="med"/>
                      <a:tailEnd type="none" w="med" len="med"/>
                    </a:lnL>
                    <a:solidFill>
                      <a:schemeClr val="accent1"/>
                    </a:solidFill>
                  </a:tcPr>
                </a:tc>
                <a:tc>
                  <a:txBody>
                    <a:bodyPr/>
                    <a:lstStyle/>
                    <a:p>
                      <a:endParaRPr lang="en-US" sz="1900">
                        <a:latin typeface="Amazon Ember" panose="02000000000000000000" pitchFamily="2" charset="0"/>
                      </a:endParaRPr>
                    </a:p>
                  </a:txBody>
                  <a:tcPr marL="121920" marR="121920" marT="60960" marB="6096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342900" indent="-342900">
                        <a:buFont typeface="+mj-lt"/>
                        <a:buAutoNum type="arabicPeriod"/>
                      </a:pPr>
                      <a:r>
                        <a:rPr lang="en-US" sz="1900" b="1" i="0">
                          <a:latin typeface="Amazon Ember" panose="02000000000000000000" pitchFamily="2" charset="0"/>
                          <a:ea typeface="Amazon Ember" panose="02000000000000000000" pitchFamily="2" charset="0"/>
                          <a:cs typeface="Amazon Ember Light" panose="020B0403020204020204" pitchFamily="34" charset="0"/>
                        </a:rPr>
                        <a:t>Launch</a:t>
                      </a:r>
                      <a:r>
                        <a:rPr lang="en-US" sz="1900" b="0" i="0">
                          <a:latin typeface="Amazon Ember" panose="02000000000000000000" pitchFamily="2" charset="0"/>
                          <a:ea typeface="Amazon Ember" panose="02000000000000000000" pitchFamily="2" charset="0"/>
                          <a:cs typeface="Amazon Ember Light" panose="020B0403020204020204" pitchFamily="34" charset="0"/>
                        </a:rPr>
                        <a:t> the</a:t>
                      </a:r>
                      <a:r>
                        <a:rPr lang="en-US" sz="1900" b="0" i="0" baseline="0">
                          <a:latin typeface="Amazon Ember" panose="02000000000000000000" pitchFamily="2" charset="0"/>
                          <a:ea typeface="Amazon Ember" panose="02000000000000000000" pitchFamily="2" charset="0"/>
                          <a:cs typeface="Amazon Ember Light" panose="020B0403020204020204" pitchFamily="34" charset="0"/>
                        </a:rPr>
                        <a:t> instance.</a:t>
                      </a:r>
                    </a:p>
                    <a:p>
                      <a:pPr marL="342900" indent="-342900">
                        <a:buFont typeface="+mj-lt"/>
                        <a:buAutoNum type="arabicPeriod"/>
                      </a:pPr>
                      <a:r>
                        <a:rPr lang="en-US" sz="1900" b="0" i="0" baseline="0">
                          <a:latin typeface="Amazon Ember" panose="02000000000000000000" pitchFamily="2" charset="0"/>
                          <a:ea typeface="Amazon Ember" panose="02000000000000000000" pitchFamily="2" charset="0"/>
                          <a:cs typeface="Amazon Ember Light" panose="020B0403020204020204" pitchFamily="34" charset="0"/>
                        </a:rPr>
                        <a:t>Send notification.</a:t>
                      </a:r>
                      <a:endParaRPr lang="en-US" sz="1900" b="0" i="0">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342900" indent="-342900">
                        <a:buFont typeface="+mj-lt"/>
                        <a:buAutoNum type="arabicPeriod"/>
                      </a:pPr>
                      <a:endParaRPr lang="en-US" sz="1900" b="0" i="0">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342900" indent="-342900">
                        <a:buFont typeface="+mj-lt"/>
                        <a:buAutoNum type="arabicPeriod" startAt="3"/>
                      </a:pPr>
                      <a:r>
                        <a:rPr lang="en-US" sz="1900" b="0" i="0">
                          <a:latin typeface="Amazon Ember" panose="02000000000000000000" pitchFamily="2" charset="0"/>
                          <a:ea typeface="Amazon Ember" panose="02000000000000000000" pitchFamily="2" charset="0"/>
                          <a:cs typeface="Amazon Ember Light" panose="020B0403020204020204" pitchFamily="34" charset="0"/>
                        </a:rPr>
                        <a:t>Act on the instance (e.g.,</a:t>
                      </a:r>
                      <a:r>
                        <a:rPr lang="en-US" sz="1900" b="0" i="0" baseline="0">
                          <a:latin typeface="Amazon Ember" panose="02000000000000000000" pitchFamily="2" charset="0"/>
                          <a:ea typeface="Amazon Ember" panose="02000000000000000000" pitchFamily="2" charset="0"/>
                          <a:cs typeface="Amazon Ember Light" panose="020B0403020204020204" pitchFamily="34" charset="0"/>
                        </a:rPr>
                        <a:t> </a:t>
                      </a:r>
                      <a:r>
                        <a:rPr lang="en-US" sz="1900" b="0" i="0">
                          <a:latin typeface="Amazon Ember" panose="02000000000000000000" pitchFamily="2" charset="0"/>
                          <a:ea typeface="Amazon Ember" panose="02000000000000000000" pitchFamily="2" charset="0"/>
                          <a:cs typeface="Amazon Ember Light" panose="020B0403020204020204" pitchFamily="34" charset="0"/>
                        </a:rPr>
                        <a:t>install software).</a:t>
                      </a:r>
                    </a:p>
                    <a:p>
                      <a:pPr marL="342900" indent="-342900">
                        <a:buFont typeface="+mj-lt"/>
                        <a:buAutoNum type="arabicPeriod" startAt="3"/>
                      </a:pPr>
                      <a:r>
                        <a:rPr lang="en-US" sz="1900" b="1"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rPr>
                        <a:t>Add</a:t>
                      </a:r>
                      <a:r>
                        <a:rPr lang="en-US" sz="1900" b="0" i="0">
                          <a:latin typeface="Amazon Ember" panose="02000000000000000000" pitchFamily="2" charset="0"/>
                          <a:ea typeface="Amazon Ember" panose="02000000000000000000" pitchFamily="2" charset="0"/>
                          <a:cs typeface="Amazon Ember Light" panose="020B0403020204020204" pitchFamily="34" charset="0"/>
                        </a:rPr>
                        <a:t> it to the group.</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US" sz="1900">
                        <a:latin typeface="Amazon Ember" panose="02000000000000000000" pitchFamily="2" charset="0"/>
                      </a:endParaRPr>
                    </a:p>
                    <a:p>
                      <a:endParaRPr lang="en-US" sz="1900">
                        <a:latin typeface="Amazon Ember" panose="02000000000000000000" pitchFamily="2" charset="0"/>
                      </a:endParaRPr>
                    </a:p>
                    <a:p>
                      <a:endParaRPr lang="en-US" sz="1900">
                        <a:latin typeface="Amazon Ember" panose="02000000000000000000" pitchFamily="2" charset="0"/>
                      </a:endParaRPr>
                    </a:p>
                    <a:p>
                      <a:endParaRPr lang="en-US" sz="1900"/>
                    </a:p>
                    <a:p>
                      <a:endParaRPr lang="en-US" sz="1900"/>
                    </a:p>
                    <a:p>
                      <a:endParaRPr lang="en-US" sz="1900"/>
                    </a:p>
                    <a:p>
                      <a:endParaRPr lang="en-US" sz="1900"/>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1217">
                <a:tc>
                  <a:txBody>
                    <a:bodyPr/>
                    <a:lstStyle/>
                    <a:p>
                      <a:pPr algn="ctr"/>
                      <a:r>
                        <a:rPr lang="en-US" sz="2000" b="1">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Scale In</a:t>
                      </a:r>
                    </a:p>
                  </a:txBody>
                  <a:tcPr marL="121920" marR="121920" marT="60960" marB="6096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1"/>
                    </a:solidFill>
                  </a:tcPr>
                </a:tc>
                <a:tc>
                  <a:txBody>
                    <a:bodyPr/>
                    <a:lstStyle/>
                    <a:p>
                      <a:endParaRPr lang="en-US" sz="1900">
                        <a:latin typeface="Amazon Ember" panose="02000000000000000000" pitchFamily="2" charset="0"/>
                      </a:endParaRPr>
                    </a:p>
                  </a:txBody>
                  <a:tcPr marL="121920" marR="121920" marT="60960" marB="6096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3F3F3"/>
                    </a:solidFill>
                  </a:tcPr>
                </a:tc>
                <a:tc>
                  <a:txBody>
                    <a:bodyPr/>
                    <a:lstStyle/>
                    <a:p>
                      <a:pPr marL="342900" indent="-342900">
                        <a:buFont typeface="+mj-lt"/>
                        <a:buAutoNum type="arabicPeriod"/>
                      </a:pPr>
                      <a:r>
                        <a:rPr lang="en-US" sz="1900" b="1"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rPr>
                        <a:t>Remove</a:t>
                      </a:r>
                      <a:r>
                        <a:rPr lang="en-US" sz="1900" b="0" i="0">
                          <a:latin typeface="Amazon Ember" panose="02000000000000000000" pitchFamily="2" charset="0"/>
                          <a:ea typeface="Amazon Ember" panose="02000000000000000000" pitchFamily="2" charset="0"/>
                          <a:cs typeface="Amazon Ember Light" panose="020B0403020204020204" pitchFamily="34" charset="0"/>
                        </a:rPr>
                        <a:t> instance from the Auto Scaling group. </a:t>
                      </a:r>
                    </a:p>
                    <a:p>
                      <a:pPr marL="342900" indent="-342900">
                        <a:buFont typeface="+mj-lt"/>
                        <a:buAutoNum type="arabicPeriod"/>
                      </a:pPr>
                      <a:r>
                        <a:rPr lang="en-US" sz="1900" b="0" i="0">
                          <a:latin typeface="Amazon Ember" panose="02000000000000000000" pitchFamily="2" charset="0"/>
                          <a:ea typeface="Amazon Ember" panose="02000000000000000000" pitchFamily="2" charset="0"/>
                          <a:cs typeface="Amazon Ember Light" panose="020B0403020204020204" pitchFamily="34" charset="0"/>
                        </a:rPr>
                        <a:t>Send notification.</a:t>
                      </a:r>
                    </a:p>
                    <a:p>
                      <a:pPr marL="0" indent="0">
                        <a:buFont typeface="+mj-lt"/>
                        <a:buNone/>
                      </a:pPr>
                      <a:r>
                        <a:rPr lang="en-US" sz="1900" b="0" i="0" baseline="0">
                          <a:latin typeface="Amazon Ember" panose="02000000000000000000" pitchFamily="2" charset="0"/>
                          <a:ea typeface="Amazon Ember" panose="02000000000000000000" pitchFamily="2" charset="0"/>
                          <a:cs typeface="Amazon Ember Light" panose="020B0403020204020204" pitchFamily="34" charset="0"/>
                        </a:rPr>
                        <a:t> </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3F3F3"/>
                    </a:solidFill>
                  </a:tcPr>
                </a:tc>
                <a:tc>
                  <a:txBody>
                    <a:bodyPr/>
                    <a:lstStyle/>
                    <a:p>
                      <a:pPr marL="0" indent="0">
                        <a:buFont typeface="+mj-lt"/>
                        <a:buNone/>
                      </a:pPr>
                      <a:endParaRPr lang="en-US" sz="1900" b="0" i="0" baseline="0">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3F3F3"/>
                    </a:solidFill>
                  </a:tcPr>
                </a:tc>
                <a:tc>
                  <a:txBody>
                    <a:bodyPr/>
                    <a:lstStyle/>
                    <a:p>
                      <a:pPr marL="342900" indent="-342900">
                        <a:buFont typeface="+mj-lt"/>
                        <a:buAutoNum type="arabicPeriod" startAt="3"/>
                      </a:pPr>
                      <a:r>
                        <a:rPr lang="en-US" sz="1900" b="0" i="0">
                          <a:latin typeface="Amazon Ember" panose="02000000000000000000" pitchFamily="2" charset="0"/>
                          <a:ea typeface="Amazon Ember" panose="02000000000000000000" pitchFamily="2" charset="0"/>
                          <a:cs typeface="Amazon Ember Light" panose="020B0403020204020204" pitchFamily="34" charset="0"/>
                        </a:rPr>
                        <a:t>Act on the instance                (e.g., retrieve logs)</a:t>
                      </a:r>
                    </a:p>
                    <a:p>
                      <a:pPr marL="342900" indent="-342900">
                        <a:buFont typeface="+mj-lt"/>
                        <a:buAutoNum type="arabicPeriod" startAt="3"/>
                      </a:pPr>
                      <a:r>
                        <a:rPr lang="en-US" sz="1900" b="1"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rPr>
                        <a:t>Terminate</a:t>
                      </a:r>
                      <a:r>
                        <a:rPr lang="en-US" sz="1900" b="0" i="0">
                          <a:latin typeface="Amazon Ember" panose="02000000000000000000" pitchFamily="2" charset="0"/>
                          <a:ea typeface="Amazon Ember" panose="02000000000000000000" pitchFamily="2" charset="0"/>
                          <a:cs typeface="Amazon Ember Light" panose="020B0403020204020204" pitchFamily="34" charset="0"/>
                        </a:rPr>
                        <a:t> it.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3F3F3"/>
                    </a:solidFill>
                  </a:tcPr>
                </a:tc>
                <a:tc>
                  <a:txBody>
                    <a:bodyPr/>
                    <a:lstStyle/>
                    <a:p>
                      <a:endParaRPr lang="en-US" sz="1900">
                        <a:latin typeface="Amazon Ember" panose="02000000000000000000" pitchFamily="2" charset="0"/>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3F3F3"/>
                    </a:solidFill>
                  </a:tcPr>
                </a:tc>
                <a:extLst>
                  <a:ext uri="{0D108BD9-81ED-4DB2-BD59-A6C34878D82A}">
                    <a16:rowId xmlns:a16="http://schemas.microsoft.com/office/drawing/2014/main" val="10002"/>
                  </a:ext>
                </a:extLst>
              </a:tr>
            </a:tbl>
          </a:graphicData>
        </a:graphic>
      </p:graphicFrame>
      <p:sp>
        <p:nvSpPr>
          <p:cNvPr id="91" name="Rectangle 90">
            <a:extLst>
              <a:ext uri="{FF2B5EF4-FFF2-40B4-BE49-F238E27FC236}">
                <a16:creationId xmlns:a16="http://schemas.microsoft.com/office/drawing/2014/main" id="{25B2706C-95D8-A94F-9EC8-6497FA7FB136}"/>
              </a:ext>
            </a:extLst>
          </p:cNvPr>
          <p:cNvSpPr/>
          <p:nvPr/>
        </p:nvSpPr>
        <p:spPr>
          <a:xfrm>
            <a:off x="10445067" y="4559173"/>
            <a:ext cx="1282937" cy="1787121"/>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p:txBody>
      </p:sp>
      <p:pic>
        <p:nvPicPr>
          <p:cNvPr id="64"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21495" y="4152812"/>
            <a:ext cx="394953" cy="394953"/>
          </a:xfrm>
          <a:prstGeom prst="rect">
            <a:avLst/>
          </a:prstGeom>
        </p:spPr>
      </p:pic>
      <p:sp>
        <p:nvSpPr>
          <p:cNvPr id="2" name="Title 1"/>
          <p:cNvSpPr>
            <a:spLocks noGrp="1"/>
          </p:cNvSpPr>
          <p:nvPr>
            <p:ph type="title"/>
          </p:nvPr>
        </p:nvSpPr>
        <p:spPr>
          <a:xfrm>
            <a:off x="419099" y="365125"/>
            <a:ext cx="9906929" cy="610122"/>
          </a:xfrm>
        </p:spPr>
        <p:txBody>
          <a:bodyPr>
            <a:noAutofit/>
          </a:bodyPr>
          <a:lstStyle/>
          <a:p>
            <a:r>
              <a:rPr lang="en-US" sz="3950" b="1"/>
              <a:t>EC2 Auto Scaling group lifecycle hooks</a:t>
            </a:r>
          </a:p>
        </p:txBody>
      </p:sp>
      <p:sp>
        <p:nvSpPr>
          <p:cNvPr id="3" name="Multiply 2"/>
          <p:cNvSpPr/>
          <p:nvPr/>
        </p:nvSpPr>
        <p:spPr>
          <a:xfrm>
            <a:off x="11307702" y="4036165"/>
            <a:ext cx="572876" cy="627857"/>
          </a:xfrm>
          <a:prstGeom prst="mathMultiply">
            <a:avLst/>
          </a:prstGeom>
          <a:solidFill>
            <a:schemeClr val="accent6">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mazon Ember" panose="02000000000000000000" pitchFamily="2" charset="0"/>
            </a:endParaRPr>
          </a:p>
        </p:txBody>
      </p:sp>
      <p:cxnSp>
        <p:nvCxnSpPr>
          <p:cNvPr id="6" name="Straight Arrow Connector 5"/>
          <p:cNvCxnSpPr/>
          <p:nvPr/>
        </p:nvCxnSpPr>
        <p:spPr>
          <a:xfrm flipH="1">
            <a:off x="10987761" y="2251617"/>
            <a:ext cx="288464" cy="4934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4"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0330" y="3669487"/>
            <a:ext cx="394953" cy="394953"/>
          </a:xfrm>
          <a:prstGeom prst="rect">
            <a:avLst/>
          </a:prstGeom>
        </p:spPr>
      </p:pic>
      <p:sp>
        <p:nvSpPr>
          <p:cNvPr id="45" name="TextBox 44">
            <a:extLst>
              <a:ext uri="{FF2B5EF4-FFF2-40B4-BE49-F238E27FC236}">
                <a16:creationId xmlns:a16="http://schemas.microsoft.com/office/drawing/2014/main" id="{A2E66441-9232-CE4C-A615-A53B805B95E2}"/>
              </a:ext>
            </a:extLst>
          </p:cNvPr>
          <p:cNvSpPr txBox="1"/>
          <p:nvPr/>
        </p:nvSpPr>
        <p:spPr>
          <a:xfrm>
            <a:off x="1677058" y="3763697"/>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pic>
        <p:nvPicPr>
          <p:cNvPr id="47"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6547" y="3159033"/>
            <a:ext cx="394953" cy="394953"/>
          </a:xfrm>
          <a:prstGeom prst="rect">
            <a:avLst/>
          </a:prstGeom>
        </p:spPr>
      </p:pic>
      <p:sp>
        <p:nvSpPr>
          <p:cNvPr id="48" name="TextBox 47">
            <a:extLst>
              <a:ext uri="{FF2B5EF4-FFF2-40B4-BE49-F238E27FC236}">
                <a16:creationId xmlns:a16="http://schemas.microsoft.com/office/drawing/2014/main" id="{A2E66441-9232-CE4C-A615-A53B805B95E2}"/>
              </a:ext>
            </a:extLst>
          </p:cNvPr>
          <p:cNvSpPr txBox="1"/>
          <p:nvPr/>
        </p:nvSpPr>
        <p:spPr>
          <a:xfrm>
            <a:off x="4832433" y="3533522"/>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pic>
        <p:nvPicPr>
          <p:cNvPr id="49"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20949" y="5385752"/>
            <a:ext cx="394953" cy="394953"/>
          </a:xfrm>
          <a:prstGeom prst="rect">
            <a:avLst/>
          </a:prstGeom>
        </p:spPr>
      </p:pic>
      <p:sp>
        <p:nvSpPr>
          <p:cNvPr id="50" name="TextBox 49">
            <a:extLst>
              <a:ext uri="{FF2B5EF4-FFF2-40B4-BE49-F238E27FC236}">
                <a16:creationId xmlns:a16="http://schemas.microsoft.com/office/drawing/2014/main" id="{A2E66441-9232-CE4C-A615-A53B805B95E2}"/>
              </a:ext>
            </a:extLst>
          </p:cNvPr>
          <p:cNvSpPr txBox="1"/>
          <p:nvPr/>
        </p:nvSpPr>
        <p:spPr>
          <a:xfrm>
            <a:off x="4836835" y="5760241"/>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pic>
        <p:nvPicPr>
          <p:cNvPr id="51"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13945" y="1959155"/>
            <a:ext cx="394953" cy="394953"/>
          </a:xfrm>
          <a:prstGeom prst="rect">
            <a:avLst/>
          </a:prstGeom>
        </p:spPr>
      </p:pic>
      <p:sp>
        <p:nvSpPr>
          <p:cNvPr id="52" name="TextBox 51">
            <a:extLst>
              <a:ext uri="{FF2B5EF4-FFF2-40B4-BE49-F238E27FC236}">
                <a16:creationId xmlns:a16="http://schemas.microsoft.com/office/drawing/2014/main" id="{A2E66441-9232-CE4C-A615-A53B805B95E2}"/>
              </a:ext>
            </a:extLst>
          </p:cNvPr>
          <p:cNvSpPr txBox="1"/>
          <p:nvPr/>
        </p:nvSpPr>
        <p:spPr>
          <a:xfrm>
            <a:off x="10190281" y="2012060"/>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pic>
        <p:nvPicPr>
          <p:cNvPr id="53"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17469" y="3590008"/>
            <a:ext cx="469900" cy="469900"/>
          </a:xfrm>
          <a:prstGeom prst="rect">
            <a:avLst/>
          </a:prstGeom>
        </p:spPr>
      </p:pic>
      <p:sp>
        <p:nvSpPr>
          <p:cNvPr id="54" name="TextBox 53">
            <a:extLst>
              <a:ext uri="{FF2B5EF4-FFF2-40B4-BE49-F238E27FC236}">
                <a16:creationId xmlns:a16="http://schemas.microsoft.com/office/drawing/2014/main" id="{4C1CD0DB-DD3F-CF4F-87F7-8B83B28C0A71}"/>
              </a:ext>
            </a:extLst>
          </p:cNvPr>
          <p:cNvSpPr txBox="1"/>
          <p:nvPr/>
        </p:nvSpPr>
        <p:spPr>
          <a:xfrm>
            <a:off x="10545443" y="3573387"/>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pic>
        <p:nvPicPr>
          <p:cNvPr id="55"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00177" y="3613447"/>
            <a:ext cx="469900" cy="430161"/>
          </a:xfrm>
          <a:prstGeom prst="rect">
            <a:avLst/>
          </a:prstGeom>
        </p:spPr>
      </p:pic>
      <p:sp>
        <p:nvSpPr>
          <p:cNvPr id="57" name="TextBox 56">
            <a:extLst>
              <a:ext uri="{FF2B5EF4-FFF2-40B4-BE49-F238E27FC236}">
                <a16:creationId xmlns:a16="http://schemas.microsoft.com/office/drawing/2014/main" id="{4C1CD0DB-DD3F-CF4F-87F7-8B83B28C0A71}"/>
              </a:ext>
            </a:extLst>
          </p:cNvPr>
          <p:cNvSpPr txBox="1"/>
          <p:nvPr/>
        </p:nvSpPr>
        <p:spPr>
          <a:xfrm>
            <a:off x="6008075" y="3564194"/>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pic>
        <p:nvPicPr>
          <p:cNvPr id="60"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00177" y="5906219"/>
            <a:ext cx="469900" cy="469900"/>
          </a:xfrm>
          <a:prstGeom prst="rect">
            <a:avLst/>
          </a:prstGeom>
        </p:spPr>
      </p:pic>
      <p:sp>
        <p:nvSpPr>
          <p:cNvPr id="61" name="TextBox 60">
            <a:extLst>
              <a:ext uri="{FF2B5EF4-FFF2-40B4-BE49-F238E27FC236}">
                <a16:creationId xmlns:a16="http://schemas.microsoft.com/office/drawing/2014/main" id="{4C1CD0DB-DD3F-CF4F-87F7-8B83B28C0A71}"/>
              </a:ext>
            </a:extLst>
          </p:cNvPr>
          <p:cNvSpPr txBox="1"/>
          <p:nvPr/>
        </p:nvSpPr>
        <p:spPr>
          <a:xfrm>
            <a:off x="6033353" y="5906219"/>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pic>
        <p:nvPicPr>
          <p:cNvPr id="62"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95185" y="5921014"/>
            <a:ext cx="469900" cy="469900"/>
          </a:xfrm>
          <a:prstGeom prst="rect">
            <a:avLst/>
          </a:prstGeom>
        </p:spPr>
      </p:pic>
      <p:sp>
        <p:nvSpPr>
          <p:cNvPr id="63" name="TextBox 62">
            <a:extLst>
              <a:ext uri="{FF2B5EF4-FFF2-40B4-BE49-F238E27FC236}">
                <a16:creationId xmlns:a16="http://schemas.microsoft.com/office/drawing/2014/main" id="{4C1CD0DB-DD3F-CF4F-87F7-8B83B28C0A71}"/>
              </a:ext>
            </a:extLst>
          </p:cNvPr>
          <p:cNvSpPr txBox="1"/>
          <p:nvPr/>
        </p:nvSpPr>
        <p:spPr>
          <a:xfrm>
            <a:off x="10536783" y="5874767"/>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sp>
        <p:nvSpPr>
          <p:cNvPr id="65" name="TextBox 64">
            <a:extLst>
              <a:ext uri="{FF2B5EF4-FFF2-40B4-BE49-F238E27FC236}">
                <a16:creationId xmlns:a16="http://schemas.microsoft.com/office/drawing/2014/main" id="{A2E66441-9232-CE4C-A615-A53B805B95E2}"/>
              </a:ext>
            </a:extLst>
          </p:cNvPr>
          <p:cNvSpPr txBox="1"/>
          <p:nvPr/>
        </p:nvSpPr>
        <p:spPr>
          <a:xfrm>
            <a:off x="10242904" y="4182094"/>
            <a:ext cx="148510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Instance</a:t>
            </a:r>
          </a:p>
        </p:txBody>
      </p:sp>
      <p:pic>
        <p:nvPicPr>
          <p:cNvPr id="66" name="Graphic 137">
            <a:extLst>
              <a:ext uri="{FF2B5EF4-FFF2-40B4-BE49-F238E27FC236}">
                <a16:creationId xmlns:a16="http://schemas.microsoft.com/office/drawing/2014/main" id="{5B22B109-5C82-FA40-91FB-DE791C44F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43304" y="5901039"/>
            <a:ext cx="469900" cy="469900"/>
          </a:xfrm>
          <a:prstGeom prst="rect">
            <a:avLst/>
          </a:prstGeom>
        </p:spPr>
      </p:pic>
      <p:sp>
        <p:nvSpPr>
          <p:cNvPr id="67" name="TextBox 66">
            <a:extLst>
              <a:ext uri="{FF2B5EF4-FFF2-40B4-BE49-F238E27FC236}">
                <a16:creationId xmlns:a16="http://schemas.microsoft.com/office/drawing/2014/main" id="{4C1CD0DB-DD3F-CF4F-87F7-8B83B28C0A71}"/>
              </a:ext>
            </a:extLst>
          </p:cNvPr>
          <p:cNvSpPr txBox="1"/>
          <p:nvPr/>
        </p:nvSpPr>
        <p:spPr>
          <a:xfrm>
            <a:off x="1671112" y="5907336"/>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sp>
        <p:nvSpPr>
          <p:cNvPr id="68" name="Rectangle 67">
            <a:extLst>
              <a:ext uri="{FF2B5EF4-FFF2-40B4-BE49-F238E27FC236}">
                <a16:creationId xmlns:a16="http://schemas.microsoft.com/office/drawing/2014/main" id="{25B2706C-95D8-A94F-9EC8-6497FA7FB136}"/>
              </a:ext>
            </a:extLst>
          </p:cNvPr>
          <p:cNvSpPr/>
          <p:nvPr/>
        </p:nvSpPr>
        <p:spPr>
          <a:xfrm>
            <a:off x="5949308" y="2313755"/>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71"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49308" y="2313755"/>
            <a:ext cx="330200" cy="330200"/>
          </a:xfrm>
          <a:prstGeom prst="rect">
            <a:avLst/>
          </a:prstGeom>
        </p:spPr>
      </p:pic>
      <p:sp>
        <p:nvSpPr>
          <p:cNvPr id="79" name="Rectangle 78">
            <a:extLst>
              <a:ext uri="{FF2B5EF4-FFF2-40B4-BE49-F238E27FC236}">
                <a16:creationId xmlns:a16="http://schemas.microsoft.com/office/drawing/2014/main" id="{25B2706C-95D8-A94F-9EC8-6497FA7FB136}"/>
              </a:ext>
            </a:extLst>
          </p:cNvPr>
          <p:cNvSpPr/>
          <p:nvPr/>
        </p:nvSpPr>
        <p:spPr>
          <a:xfrm>
            <a:off x="10465175" y="2330000"/>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80"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59328" y="2316306"/>
            <a:ext cx="330200" cy="330200"/>
          </a:xfrm>
          <a:prstGeom prst="rect">
            <a:avLst/>
          </a:prstGeom>
        </p:spPr>
      </p:pic>
      <p:sp>
        <p:nvSpPr>
          <p:cNvPr id="81" name="Rectangle 80">
            <a:extLst>
              <a:ext uri="{FF2B5EF4-FFF2-40B4-BE49-F238E27FC236}">
                <a16:creationId xmlns:a16="http://schemas.microsoft.com/office/drawing/2014/main" id="{25B2706C-95D8-A94F-9EC8-6497FA7FB136}"/>
              </a:ext>
            </a:extLst>
          </p:cNvPr>
          <p:cNvSpPr/>
          <p:nvPr/>
        </p:nvSpPr>
        <p:spPr>
          <a:xfrm>
            <a:off x="1585527" y="2316306"/>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82"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5527" y="2316306"/>
            <a:ext cx="330200" cy="330200"/>
          </a:xfrm>
          <a:prstGeom prst="rect">
            <a:avLst/>
          </a:prstGeom>
        </p:spPr>
      </p:pic>
      <p:sp>
        <p:nvSpPr>
          <p:cNvPr id="83" name="Rectangle 82">
            <a:extLst>
              <a:ext uri="{FF2B5EF4-FFF2-40B4-BE49-F238E27FC236}">
                <a16:creationId xmlns:a16="http://schemas.microsoft.com/office/drawing/2014/main" id="{25B2706C-95D8-A94F-9EC8-6497FA7FB136}"/>
              </a:ext>
            </a:extLst>
          </p:cNvPr>
          <p:cNvSpPr/>
          <p:nvPr/>
        </p:nvSpPr>
        <p:spPr>
          <a:xfrm>
            <a:off x="1582296" y="4598160"/>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a:solidFill>
                <a:srgbClr val="D86613"/>
              </a:solidFill>
              <a:latin typeface="Amazon Ember" panose="02000000000000000000" pitchFamily="2" charset="0"/>
            </a:endParaRPr>
          </a:p>
          <a:p>
            <a:pPr algn="ctr"/>
            <a:endParaRPr lang="en-US" sz="1600">
              <a:solidFill>
                <a:srgbClr val="D86613"/>
              </a:solidFill>
              <a:latin typeface="Amazon Ember" panose="02000000000000000000" pitchFamily="2" charset="0"/>
            </a:endParaRPr>
          </a:p>
          <a:p>
            <a:pPr algn="ctr"/>
            <a:r>
              <a:rPr lang="en-US" sz="1600">
                <a:solidFill>
                  <a:srgbClr val="D86613"/>
                </a:solidFill>
                <a:latin typeface="Amazon Ember" panose="02000000000000000000" pitchFamily="2" charset="0"/>
              </a:rPr>
              <a:t>Auto Scaling group</a:t>
            </a:r>
          </a:p>
        </p:txBody>
      </p:sp>
      <p:pic>
        <p:nvPicPr>
          <p:cNvPr id="84"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2296" y="4598160"/>
            <a:ext cx="330200" cy="330200"/>
          </a:xfrm>
          <a:prstGeom prst="rect">
            <a:avLst/>
          </a:prstGeom>
        </p:spPr>
      </p:pic>
      <p:sp>
        <p:nvSpPr>
          <p:cNvPr id="85" name="Rectangle 84">
            <a:extLst>
              <a:ext uri="{FF2B5EF4-FFF2-40B4-BE49-F238E27FC236}">
                <a16:creationId xmlns:a16="http://schemas.microsoft.com/office/drawing/2014/main" id="{25B2706C-95D8-A94F-9EC8-6497FA7FB136}"/>
              </a:ext>
            </a:extLst>
          </p:cNvPr>
          <p:cNvSpPr/>
          <p:nvPr/>
        </p:nvSpPr>
        <p:spPr>
          <a:xfrm>
            <a:off x="5953178" y="4598160"/>
            <a:ext cx="1282937" cy="174813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400">
              <a:solidFill>
                <a:srgbClr val="D86613"/>
              </a:solidFill>
              <a:latin typeface="Amazon Ember" panose="02000000000000000000" pitchFamily="2" charset="0"/>
            </a:endParaRPr>
          </a:p>
          <a:p>
            <a:pPr algn="ctr"/>
            <a:endParaRPr lang="en-US" sz="1400">
              <a:solidFill>
                <a:srgbClr val="D86613"/>
              </a:solidFill>
              <a:latin typeface="Amazon Ember" panose="02000000000000000000" pitchFamily="2" charset="0"/>
            </a:endParaRPr>
          </a:p>
          <a:p>
            <a:pPr algn="ctr"/>
            <a:r>
              <a:rPr lang="en-US" sz="1400">
                <a:solidFill>
                  <a:srgbClr val="D86613"/>
                </a:solidFill>
                <a:latin typeface="Amazon Ember" panose="02000000000000000000" pitchFamily="2" charset="0"/>
              </a:rPr>
              <a:t>Auto Scaling group</a:t>
            </a:r>
          </a:p>
        </p:txBody>
      </p:sp>
      <p:pic>
        <p:nvPicPr>
          <p:cNvPr id="90"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53178" y="4598160"/>
            <a:ext cx="330200" cy="330200"/>
          </a:xfrm>
          <a:prstGeom prst="rect">
            <a:avLst/>
          </a:prstGeom>
        </p:spPr>
      </p:pic>
      <p:pic>
        <p:nvPicPr>
          <p:cNvPr id="92" name="Graphic 3">
            <a:extLst>
              <a:ext uri="{FF2B5EF4-FFF2-40B4-BE49-F238E27FC236}">
                <a16:creationId xmlns:a16="http://schemas.microsoft.com/office/drawing/2014/main" id="{D7A7873E-A1CC-804E-816C-DC0FF152D8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59328" y="4530831"/>
            <a:ext cx="330200" cy="330200"/>
          </a:xfrm>
          <a:prstGeom prst="rect">
            <a:avLst/>
          </a:prstGeom>
        </p:spPr>
      </p:pic>
      <p:sp>
        <p:nvSpPr>
          <p:cNvPr id="3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33</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377379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Amazon Route 53</a:t>
            </a:r>
          </a:p>
        </p:txBody>
      </p:sp>
      <p:sp>
        <p:nvSpPr>
          <p:cNvPr id="3" name="Text Placeholder 2"/>
          <p:cNvSpPr>
            <a:spLocks noGrp="1"/>
          </p:cNvSpPr>
          <p:nvPr>
            <p:ph type="body" sz="quarter" idx="10"/>
          </p:nvPr>
        </p:nvSpPr>
        <p:spPr>
          <a:xfrm>
            <a:off x="419100" y="2554356"/>
            <a:ext cx="9944100" cy="284094"/>
          </a:xfrm>
        </p:spPr>
        <p:txBody>
          <a:bodyPr>
            <a:noAutofit/>
          </a:bodyPr>
          <a:lstStyle/>
          <a:p>
            <a:r>
              <a:rPr lang="en-US"/>
              <a:t>Module 4: Computing (Scaling and Name Resolution)</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2255448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Amazon Route 53</a:t>
            </a:r>
          </a:p>
        </p:txBody>
      </p:sp>
      <p:sp>
        <p:nvSpPr>
          <p:cNvPr id="3" name="Content Placeholder 2"/>
          <p:cNvSpPr>
            <a:spLocks noGrp="1"/>
          </p:cNvSpPr>
          <p:nvPr>
            <p:ph idx="1"/>
          </p:nvPr>
        </p:nvSpPr>
        <p:spPr>
          <a:xfrm>
            <a:off x="3829050" y="1528175"/>
            <a:ext cx="7943850" cy="4648788"/>
          </a:xfrm>
        </p:spPr>
        <p:txBody>
          <a:bodyPr/>
          <a:lstStyle/>
          <a:p>
            <a:pPr marL="0" indent="0">
              <a:lnSpc>
                <a:spcPct val="100000"/>
              </a:lnSpc>
              <a:spcBef>
                <a:spcPts val="600"/>
              </a:spcBef>
              <a:spcAft>
                <a:spcPts val="600"/>
              </a:spcAft>
              <a:buNone/>
            </a:pPr>
            <a:r>
              <a:rPr lang="en-US" b="1">
                <a:solidFill>
                  <a:schemeClr val="tx2">
                    <a:lumMod val="75000"/>
                  </a:schemeClr>
                </a:solidFill>
              </a:rPr>
              <a:t>Amazon Route 53:</a:t>
            </a:r>
          </a:p>
          <a:p>
            <a:pPr>
              <a:lnSpc>
                <a:spcPct val="100000"/>
              </a:lnSpc>
              <a:spcBef>
                <a:spcPts val="600"/>
              </a:spcBef>
              <a:spcAft>
                <a:spcPts val="600"/>
              </a:spcAft>
            </a:pPr>
            <a:r>
              <a:rPr lang="en-US"/>
              <a:t>Is a scalable Domain Name System (DNS) web service </a:t>
            </a:r>
          </a:p>
          <a:p>
            <a:pPr lvl="1">
              <a:lnSpc>
                <a:spcPct val="100000"/>
              </a:lnSpc>
              <a:spcBef>
                <a:spcPts val="600"/>
              </a:spcBef>
              <a:spcAft>
                <a:spcPts val="600"/>
              </a:spcAft>
            </a:pPr>
            <a:r>
              <a:rPr lang="en-US"/>
              <a:t>Distributes traffic across Regions</a:t>
            </a:r>
          </a:p>
          <a:p>
            <a:pPr lvl="2">
              <a:lnSpc>
                <a:spcPct val="100000"/>
              </a:lnSpc>
              <a:spcBef>
                <a:spcPts val="600"/>
              </a:spcBef>
              <a:spcAft>
                <a:spcPts val="600"/>
              </a:spcAft>
            </a:pPr>
            <a:r>
              <a:rPr lang="en-US"/>
              <a:t>Can support high availability and lower latency</a:t>
            </a:r>
          </a:p>
          <a:p>
            <a:pPr lvl="1">
              <a:lnSpc>
                <a:spcPct val="100000"/>
              </a:lnSpc>
              <a:spcBef>
                <a:spcPts val="600"/>
              </a:spcBef>
              <a:spcAft>
                <a:spcPts val="600"/>
              </a:spcAft>
            </a:pPr>
            <a:r>
              <a:rPr lang="en-US"/>
              <a:t>Register or transfer a domain name</a:t>
            </a:r>
          </a:p>
          <a:p>
            <a:pPr lvl="1">
              <a:lnSpc>
                <a:spcPct val="100000"/>
              </a:lnSpc>
              <a:spcBef>
                <a:spcPts val="600"/>
              </a:spcBef>
              <a:spcAft>
                <a:spcPts val="600"/>
              </a:spcAft>
            </a:pPr>
            <a:r>
              <a:rPr lang="en-US"/>
              <a:t>Resolve domain names to IP addresses</a:t>
            </a:r>
          </a:p>
          <a:p>
            <a:pPr lvl="1">
              <a:lnSpc>
                <a:spcPct val="100000"/>
              </a:lnSpc>
              <a:spcBef>
                <a:spcPts val="600"/>
              </a:spcBef>
              <a:spcAft>
                <a:spcPts val="600"/>
              </a:spcAft>
            </a:pPr>
            <a:r>
              <a:rPr lang="en-US"/>
              <a:t>Route requests based on latency, health checks, weights, etc.</a:t>
            </a:r>
          </a:p>
          <a:p>
            <a:pPr>
              <a:lnSpc>
                <a:spcPct val="100000"/>
              </a:lnSpc>
              <a:spcBef>
                <a:spcPts val="600"/>
              </a:spcBef>
              <a:spcAft>
                <a:spcPts val="600"/>
              </a:spcAft>
            </a:pPr>
            <a:endParaRPr lang="en-US"/>
          </a:p>
          <a:p>
            <a:pPr>
              <a:lnSpc>
                <a:spcPct val="100000"/>
              </a:lnSpc>
              <a:spcBef>
                <a:spcPts val="600"/>
              </a:spcBef>
              <a:spcAft>
                <a:spcPts val="600"/>
              </a:spcAft>
            </a:pPr>
            <a:endParaRPr lang="en-US"/>
          </a:p>
        </p:txBody>
      </p:sp>
      <p:sp>
        <p:nvSpPr>
          <p:cNvPr id="5" name="TextBox 4">
            <a:extLst>
              <a:ext uri="{FF2B5EF4-FFF2-40B4-BE49-F238E27FC236}">
                <a16:creationId xmlns:a16="http://schemas.microsoft.com/office/drawing/2014/main" id="{70F1D858-0A61-B249-BFE8-EC03E7D2639D}"/>
              </a:ext>
            </a:extLst>
          </p:cNvPr>
          <p:cNvSpPr txBox="1"/>
          <p:nvPr/>
        </p:nvSpPr>
        <p:spPr>
          <a:xfrm>
            <a:off x="889001" y="4264096"/>
            <a:ext cx="2301904" cy="338554"/>
          </a:xfrm>
          <a:prstGeom prst="rect">
            <a:avLst/>
          </a:prstGeom>
          <a:noFill/>
        </p:spPr>
        <p:txBody>
          <a:bodyPr wrap="square" rtlCol="0">
            <a:spAutoFit/>
          </a:bodyPr>
          <a:lstStyle/>
          <a:p>
            <a:pPr algn="ctr"/>
            <a:r>
              <a:rPr lang="en-US" sz="1600">
                <a:latin typeface="Amazon Ember" panose="02000000000000000000" pitchFamily="2" charset="0"/>
              </a:rPr>
              <a:t>Amazon Route 53</a:t>
            </a:r>
          </a:p>
        </p:txBody>
      </p:sp>
      <p:pic>
        <p:nvPicPr>
          <p:cNvPr id="6" name="Graphic 41">
            <a:extLst>
              <a:ext uri="{FF2B5EF4-FFF2-40B4-BE49-F238E27FC236}">
                <a16:creationId xmlns:a16="http://schemas.microsoft.com/office/drawing/2014/main" id="{5B1FEEC0-A82C-C940-A6B4-4A85ED521E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562" y="2628900"/>
            <a:ext cx="1570782" cy="1570782"/>
          </a:xfrm>
          <a:prstGeom prst="rect">
            <a:avLst/>
          </a:prstGeom>
        </p:spPr>
      </p:pic>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911379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Associating DNS names with ELB</a:t>
            </a:r>
          </a:p>
        </p:txBody>
      </p:sp>
      <p:sp>
        <p:nvSpPr>
          <p:cNvPr id="11" name="Content Placeholder 2"/>
          <p:cNvSpPr>
            <a:spLocks noGrp="1"/>
          </p:cNvSpPr>
          <p:nvPr>
            <p:ph idx="1"/>
          </p:nvPr>
        </p:nvSpPr>
        <p:spPr>
          <a:xfrm>
            <a:off x="419100" y="1528175"/>
            <a:ext cx="11353800" cy="5029788"/>
          </a:xfrm>
        </p:spPr>
        <p:txBody>
          <a:bodyPr>
            <a:normAutofit lnSpcReduction="10000"/>
          </a:bodyPr>
          <a:lstStyle/>
          <a:p>
            <a:r>
              <a:rPr lang="en-US"/>
              <a:t>Default DNS name from ELB:</a:t>
            </a:r>
          </a:p>
          <a:p>
            <a:pPr lvl="1"/>
            <a:r>
              <a:rPr lang="en-US"/>
              <a:t>AWS assigns a hostname to your load balancer that resolves to a set of IP addresses</a:t>
            </a:r>
          </a:p>
          <a:p>
            <a:pPr marL="457200" lvl="1" indent="0">
              <a:buNone/>
            </a:pPr>
            <a:endParaRPr lang="en-US" b="1"/>
          </a:p>
          <a:p>
            <a:pPr marL="457200" lvl="1" indent="0">
              <a:buNone/>
            </a:pPr>
            <a:r>
              <a:rPr lang="en-US" b="1"/>
              <a:t>Example:</a:t>
            </a:r>
            <a:br>
              <a:rPr lang="en-US" b="1"/>
            </a:br>
            <a:r>
              <a:rPr lang="en-US"/>
              <a:t>web-app.us-west-2.elb.amazonaws.com</a:t>
            </a:r>
          </a:p>
          <a:p>
            <a:endParaRPr lang="en-US"/>
          </a:p>
          <a:p>
            <a:r>
              <a:rPr lang="en-US"/>
              <a:t>Associate your own DNS name:</a:t>
            </a:r>
          </a:p>
          <a:p>
            <a:pPr lvl="1"/>
            <a:r>
              <a:rPr lang="en-US"/>
              <a:t>Assign your own hostname via an alias resource record set</a:t>
            </a:r>
          </a:p>
          <a:p>
            <a:pPr lvl="1"/>
            <a:r>
              <a:rPr lang="en-US"/>
              <a:t>Create a CNAME record that points to your load balancer</a:t>
            </a:r>
          </a:p>
          <a:p>
            <a:pPr marL="457200" lvl="1" indent="0">
              <a:buNone/>
            </a:pPr>
            <a:endParaRPr lang="en-US" b="1"/>
          </a:p>
          <a:p>
            <a:pPr marL="457200" lvl="1" indent="0">
              <a:buNone/>
            </a:pPr>
            <a:r>
              <a:rPr lang="en-US" b="1"/>
              <a:t>Example:</a:t>
            </a:r>
            <a:br>
              <a:rPr lang="en-US"/>
            </a:br>
            <a:r>
              <a:rPr lang="en-US"/>
              <a:t>example.com </a:t>
            </a:r>
            <a:r>
              <a:rPr lang="en-US">
                <a:sym typeface="Wingdings" panose="05000000000000000000" pitchFamily="2" charset="2"/>
              </a:rPr>
              <a:t> </a:t>
            </a:r>
            <a:r>
              <a:rPr lang="en-US"/>
              <a:t>ALIAS </a:t>
            </a:r>
            <a:r>
              <a:rPr lang="en-US">
                <a:sym typeface="Wingdings" panose="05000000000000000000" pitchFamily="2" charset="2"/>
              </a:rPr>
              <a:t> </a:t>
            </a:r>
            <a:r>
              <a:rPr lang="en-US"/>
              <a:t>web-app.us-west-2.elb.amazonaws.com</a:t>
            </a:r>
          </a:p>
          <a:p>
            <a:pPr lvl="1"/>
            <a:endParaRPr lang="en-US"/>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120531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Amazon Route 53 routing policies</a:t>
            </a:r>
          </a:p>
        </p:txBody>
      </p:sp>
      <p:sp>
        <p:nvSpPr>
          <p:cNvPr id="3" name="Content Placeholder 2"/>
          <p:cNvSpPr>
            <a:spLocks noGrp="1"/>
          </p:cNvSpPr>
          <p:nvPr>
            <p:ph idx="1"/>
          </p:nvPr>
        </p:nvSpPr>
        <p:spPr>
          <a:xfrm>
            <a:off x="844062" y="3598875"/>
            <a:ext cx="4740812" cy="2286647"/>
          </a:xfrm>
        </p:spPr>
        <p:txBody>
          <a:bodyPr>
            <a:normAutofit/>
          </a:bodyPr>
          <a:lstStyle/>
          <a:p>
            <a:pPr marL="457200" indent="-457200">
              <a:lnSpc>
                <a:spcPct val="100000"/>
              </a:lnSpc>
              <a:spcAft>
                <a:spcPts val="600"/>
              </a:spcAft>
              <a:buFont typeface="+mj-lt"/>
              <a:buAutoNum type="arabicPeriod"/>
            </a:pPr>
            <a:r>
              <a:rPr lang="en-US" sz="2400"/>
              <a:t>Simple routing policy</a:t>
            </a:r>
          </a:p>
          <a:p>
            <a:pPr marL="457200" indent="-457200">
              <a:lnSpc>
                <a:spcPct val="100000"/>
              </a:lnSpc>
              <a:spcAft>
                <a:spcPts val="600"/>
              </a:spcAft>
              <a:buFont typeface="+mj-lt"/>
              <a:buAutoNum type="arabicPeriod"/>
            </a:pPr>
            <a:r>
              <a:rPr lang="en-US" sz="2400"/>
              <a:t>Weighted routing policy</a:t>
            </a:r>
          </a:p>
          <a:p>
            <a:pPr marL="457200" indent="-457200">
              <a:lnSpc>
                <a:spcPct val="100000"/>
              </a:lnSpc>
              <a:spcAft>
                <a:spcPts val="600"/>
              </a:spcAft>
              <a:buFont typeface="+mj-lt"/>
              <a:buAutoNum type="arabicPeriod"/>
            </a:pPr>
            <a:r>
              <a:rPr lang="en-US" sz="2400"/>
              <a:t>Latency routing policy</a:t>
            </a:r>
          </a:p>
          <a:p>
            <a:pPr marL="457200" indent="-457200">
              <a:lnSpc>
                <a:spcPct val="100000"/>
              </a:lnSpc>
              <a:spcAft>
                <a:spcPts val="600"/>
              </a:spcAft>
              <a:buFont typeface="+mj-lt"/>
              <a:buAutoNum type="arabicPeriod"/>
            </a:pPr>
            <a:r>
              <a:rPr lang="en-US" sz="2400"/>
              <a:t>Failover routing policy</a:t>
            </a:r>
          </a:p>
        </p:txBody>
      </p:sp>
      <p:sp>
        <p:nvSpPr>
          <p:cNvPr id="6" name="Content Placeholder 2"/>
          <p:cNvSpPr txBox="1">
            <a:spLocks/>
          </p:cNvSpPr>
          <p:nvPr/>
        </p:nvSpPr>
        <p:spPr>
          <a:xfrm>
            <a:off x="6358598" y="3529246"/>
            <a:ext cx="5535425" cy="2346053"/>
          </a:xfrm>
          <a:prstGeom prst="rect">
            <a:avLst/>
          </a:prstGeom>
        </p:spPr>
        <p:txBody>
          <a:bodyPr vert="horz" lIns="91440" tIns="45720" rIns="91440" bIns="45720" rtlCol="0">
            <a:noAutofit/>
          </a:bodyPr>
          <a:lstStyle>
            <a:lvl1pPr marL="285750" indent="-285750" algn="l" defTabSz="914400" rtl="0" eaLnBrk="1" latinLnBrk="0" hangingPunct="1">
              <a:lnSpc>
                <a:spcPct val="90000"/>
              </a:lnSpc>
              <a:spcBef>
                <a:spcPts val="1000"/>
              </a:spcBef>
              <a:spcAft>
                <a:spcPts val="600"/>
              </a:spcAft>
              <a:buClr>
                <a:srgbClr val="FF9900"/>
              </a:buClr>
              <a:buSzPct val="75000"/>
              <a:buFont typeface="Wingdings" panose="05000000000000000000" pitchFamily="2" charset="2"/>
              <a:buChar char="q"/>
              <a:defRPr sz="2800" b="0" i="0" kern="1200">
                <a:solidFill>
                  <a:schemeClr val="tx1"/>
                </a:solidFill>
                <a:latin typeface="Amazon Ember Light" charset="0"/>
                <a:ea typeface="Amazon Ember Light" charset="0"/>
                <a:cs typeface="Amazon Ember Light" charset="0"/>
              </a:defRPr>
            </a:lvl1pPr>
            <a:lvl2pPr marL="514350" indent="-228600" algn="l" defTabSz="914400" rtl="0" eaLnBrk="1" latinLnBrk="0" hangingPunct="1">
              <a:lnSpc>
                <a:spcPct val="90000"/>
              </a:lnSpc>
              <a:spcBef>
                <a:spcPts val="500"/>
              </a:spcBef>
              <a:spcAft>
                <a:spcPts val="600"/>
              </a:spcAft>
              <a:buClr>
                <a:srgbClr val="FF9900"/>
              </a:buClr>
              <a:buSzPct val="75000"/>
              <a:buFont typeface="Wingdings 2" panose="05020102010507070707" pitchFamily="18" charset="2"/>
              <a:buChar char="P"/>
              <a:defRPr sz="2400" b="0" i="0" kern="1200">
                <a:solidFill>
                  <a:schemeClr val="tx1"/>
                </a:solidFill>
                <a:latin typeface="Amazon Ember Light" charset="0"/>
                <a:ea typeface="Amazon Ember Light" charset="0"/>
                <a:cs typeface="Amazon Ember Light" charset="0"/>
              </a:defRPr>
            </a:lvl2pPr>
            <a:lvl3pPr marL="800100" indent="-285750" algn="l" defTabSz="914400" rtl="0" eaLnBrk="1" latinLnBrk="0" hangingPunct="1">
              <a:lnSpc>
                <a:spcPct val="90000"/>
              </a:lnSpc>
              <a:spcBef>
                <a:spcPts val="500"/>
              </a:spcBef>
              <a:spcAft>
                <a:spcPts val="600"/>
              </a:spcAft>
              <a:buClr>
                <a:srgbClr val="FF9900"/>
              </a:buClr>
              <a:buSzPct val="75000"/>
              <a:buFont typeface="Courier New" panose="02070309020205020404" pitchFamily="49" charset="0"/>
              <a:buChar char="o"/>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Clr>
                <a:srgbClr val="FD9900"/>
              </a:buClr>
              <a:buSzPct val="75000"/>
              <a:buFont typeface="Courier New" panose="02070309020205020404" pitchFamily="49" charset="0"/>
              <a:buChar char="o"/>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57200" indent="-457200">
              <a:lnSpc>
                <a:spcPct val="100000"/>
              </a:lnSpc>
              <a:buClr>
                <a:schemeClr val="tx1"/>
              </a:buClr>
              <a:buFont typeface="+mj-lt"/>
              <a:buAutoNum type="arabicPeriod" startAt="5"/>
            </a:pPr>
            <a:r>
              <a:rPr lang="en-US" sz="2400">
                <a:latin typeface="Amazon Ember" panose="02000000000000000000" pitchFamily="2" charset="0"/>
                <a:ea typeface="Amazon Ember" panose="02000000000000000000" pitchFamily="2" charset="0"/>
                <a:cs typeface="Amazon Ember Light" panose="020B0403020204020204" pitchFamily="34" charset="0"/>
              </a:rPr>
              <a:t>Geolocation routing policy (DNS query location)</a:t>
            </a:r>
          </a:p>
          <a:p>
            <a:pPr marL="457200" indent="-457200">
              <a:lnSpc>
                <a:spcPct val="100000"/>
              </a:lnSpc>
              <a:buClr>
                <a:schemeClr val="tx1"/>
              </a:buClr>
              <a:buFont typeface="+mj-lt"/>
              <a:buAutoNum type="arabicPeriod" startAt="5"/>
            </a:pPr>
            <a:r>
              <a:rPr lang="en-US" sz="2400">
                <a:latin typeface="Amazon Ember" panose="02000000000000000000" pitchFamily="2" charset="0"/>
                <a:ea typeface="Amazon Ember" panose="02000000000000000000" pitchFamily="2" charset="0"/>
                <a:cs typeface="Amazon Ember Light" panose="020B0403020204020204" pitchFamily="34" charset="0"/>
              </a:rPr>
              <a:t>Geoproximity routing policy (traffic flow to AWS Region, or latitude and longitude)</a:t>
            </a:r>
          </a:p>
          <a:p>
            <a:pPr marL="457200" indent="-457200">
              <a:lnSpc>
                <a:spcPct val="100000"/>
              </a:lnSpc>
              <a:buClr>
                <a:schemeClr val="tx1"/>
              </a:buClr>
              <a:buFont typeface="+mj-lt"/>
              <a:buAutoNum type="arabicPeriod" startAt="5"/>
            </a:pPr>
            <a:r>
              <a:rPr lang="en-US" sz="2400">
                <a:latin typeface="Amazon Ember" panose="02000000000000000000" pitchFamily="2" charset="0"/>
                <a:ea typeface="Amazon Ember" panose="02000000000000000000" pitchFamily="2" charset="0"/>
                <a:cs typeface="Amazon Ember Light" panose="020B0403020204020204" pitchFamily="34" charset="0"/>
              </a:rPr>
              <a:t>Multivalue answer routing policy</a:t>
            </a:r>
          </a:p>
        </p:txBody>
      </p:sp>
      <p:cxnSp>
        <p:nvCxnSpPr>
          <p:cNvPr id="8" name="Straight Arrow Connector 7"/>
          <p:cNvCxnSpPr/>
          <p:nvPr/>
        </p:nvCxnSpPr>
        <p:spPr>
          <a:xfrm flipH="1">
            <a:off x="3775829" y="2735324"/>
            <a:ext cx="1346971" cy="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6486275" y="2735324"/>
            <a:ext cx="1346971" cy="0"/>
          </a:xfrm>
          <a:prstGeom prst="straightConnector1">
            <a:avLst/>
          </a:prstGeom>
          <a:ln w="57150">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913175" y="2073604"/>
            <a:ext cx="815008" cy="1323439"/>
          </a:xfrm>
          <a:prstGeom prst="rect">
            <a:avLst/>
          </a:prstGeom>
          <a:noFill/>
        </p:spPr>
        <p:txBody>
          <a:bodyPr wrap="square" rtlCol="0">
            <a:spAutoFit/>
          </a:bodyPr>
          <a:lstStyle/>
          <a:p>
            <a:r>
              <a:rPr lang="en-US" sz="8000" b="1">
                <a:solidFill>
                  <a:schemeClr val="accent4"/>
                </a:solidFill>
                <a:latin typeface="Wingdings 2" panose="05020102010507070707" pitchFamily="18" charset="2"/>
              </a:rPr>
              <a:t>P</a:t>
            </a:r>
          </a:p>
        </p:txBody>
      </p:sp>
      <p:sp>
        <p:nvSpPr>
          <p:cNvPr id="15" name="TextBox 14"/>
          <p:cNvSpPr txBox="1"/>
          <p:nvPr/>
        </p:nvSpPr>
        <p:spPr>
          <a:xfrm>
            <a:off x="4050456" y="2075165"/>
            <a:ext cx="815008" cy="1323439"/>
          </a:xfrm>
          <a:prstGeom prst="rect">
            <a:avLst/>
          </a:prstGeom>
          <a:noFill/>
        </p:spPr>
        <p:txBody>
          <a:bodyPr wrap="square" rtlCol="0">
            <a:spAutoFit/>
          </a:bodyPr>
          <a:lstStyle/>
          <a:p>
            <a:r>
              <a:rPr lang="en-US" sz="8000" b="1">
                <a:solidFill>
                  <a:schemeClr val="accent6"/>
                </a:solidFill>
                <a:latin typeface="Wingdings 2" panose="05020102010507070707" pitchFamily="18" charset="2"/>
              </a:rPr>
              <a:t>O</a:t>
            </a:r>
          </a:p>
        </p:txBody>
      </p:sp>
      <p:sp>
        <p:nvSpPr>
          <p:cNvPr id="17" name="TextBox 16">
            <a:extLst>
              <a:ext uri="{FF2B5EF4-FFF2-40B4-BE49-F238E27FC236}">
                <a16:creationId xmlns:a16="http://schemas.microsoft.com/office/drawing/2014/main" id="{E3C0960A-3D31-6D47-8EAA-93DE09090CDD}"/>
              </a:ext>
            </a:extLst>
          </p:cNvPr>
          <p:cNvSpPr txBox="1"/>
          <p:nvPr/>
        </p:nvSpPr>
        <p:spPr>
          <a:xfrm>
            <a:off x="2135396" y="3034408"/>
            <a:ext cx="2301904" cy="523220"/>
          </a:xfrm>
          <a:prstGeom prst="rect">
            <a:avLst/>
          </a:prstGeom>
          <a:noFill/>
        </p:spPr>
        <p:txBody>
          <a:bodyPr wrap="square" rtlCol="0">
            <a:spAutoFit/>
          </a:bodyPr>
          <a:lstStyle/>
          <a:p>
            <a:pPr algn="ctr"/>
            <a:r>
              <a:rPr lang="en-US" sz="1400">
                <a:latin typeface="Amazon Ember" panose="02000000000000000000" pitchFamily="2" charset="0"/>
              </a:rPr>
              <a:t>Elastic Load Balancing (ELB)</a:t>
            </a:r>
          </a:p>
        </p:txBody>
      </p:sp>
      <p:pic>
        <p:nvPicPr>
          <p:cNvPr id="18" name="Graphic 7">
            <a:extLst>
              <a:ext uri="{FF2B5EF4-FFF2-40B4-BE49-F238E27FC236}">
                <a16:creationId xmlns:a16="http://schemas.microsoft.com/office/drawing/2014/main" id="{708E5D6B-3B0D-7E46-91EF-00B2766437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30748" y="2323208"/>
            <a:ext cx="711200" cy="711200"/>
          </a:xfrm>
          <a:prstGeom prst="rect">
            <a:avLst/>
          </a:prstGeom>
        </p:spPr>
      </p:pic>
      <p:sp>
        <p:nvSpPr>
          <p:cNvPr id="19" name="TextBox 18">
            <a:extLst>
              <a:ext uri="{FF2B5EF4-FFF2-40B4-BE49-F238E27FC236}">
                <a16:creationId xmlns:a16="http://schemas.microsoft.com/office/drawing/2014/main" id="{E3C0960A-3D31-6D47-8EAA-93DE09090CDD}"/>
              </a:ext>
            </a:extLst>
          </p:cNvPr>
          <p:cNvSpPr txBox="1"/>
          <p:nvPr/>
        </p:nvSpPr>
        <p:spPr>
          <a:xfrm>
            <a:off x="7322471" y="3029400"/>
            <a:ext cx="2301904" cy="523220"/>
          </a:xfrm>
          <a:prstGeom prst="rect">
            <a:avLst/>
          </a:prstGeom>
          <a:noFill/>
        </p:spPr>
        <p:txBody>
          <a:bodyPr wrap="square" rtlCol="0">
            <a:spAutoFit/>
          </a:bodyPr>
          <a:lstStyle/>
          <a:p>
            <a:pPr algn="ctr"/>
            <a:r>
              <a:rPr lang="en-US" sz="1400">
                <a:latin typeface="Amazon Ember" panose="02000000000000000000" pitchFamily="2" charset="0"/>
              </a:rPr>
              <a:t>Elastic Load Balancing (ELB)</a:t>
            </a:r>
          </a:p>
        </p:txBody>
      </p:sp>
      <p:pic>
        <p:nvPicPr>
          <p:cNvPr id="20" name="Graphic 7">
            <a:extLst>
              <a:ext uri="{FF2B5EF4-FFF2-40B4-BE49-F238E27FC236}">
                <a16:creationId xmlns:a16="http://schemas.microsoft.com/office/drawing/2014/main" id="{708E5D6B-3B0D-7E46-91EF-00B2766437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17823" y="2318200"/>
            <a:ext cx="711200" cy="711200"/>
          </a:xfrm>
          <a:prstGeom prst="rect">
            <a:avLst/>
          </a:prstGeom>
        </p:spPr>
      </p:pic>
      <p:sp>
        <p:nvSpPr>
          <p:cNvPr id="21" name="TextBox 20">
            <a:extLst>
              <a:ext uri="{FF2B5EF4-FFF2-40B4-BE49-F238E27FC236}">
                <a16:creationId xmlns:a16="http://schemas.microsoft.com/office/drawing/2014/main" id="{70F1D858-0A61-B249-BFE8-EC03E7D2639D}"/>
              </a:ext>
            </a:extLst>
          </p:cNvPr>
          <p:cNvSpPr txBox="1"/>
          <p:nvPr/>
        </p:nvSpPr>
        <p:spPr>
          <a:xfrm>
            <a:off x="4674008" y="3093814"/>
            <a:ext cx="2301904" cy="307777"/>
          </a:xfrm>
          <a:prstGeom prst="rect">
            <a:avLst/>
          </a:prstGeom>
          <a:noFill/>
        </p:spPr>
        <p:txBody>
          <a:bodyPr wrap="square" rtlCol="0">
            <a:spAutoFit/>
          </a:bodyPr>
          <a:lstStyle/>
          <a:p>
            <a:pPr algn="ctr"/>
            <a:r>
              <a:rPr lang="en-US" sz="1400">
                <a:latin typeface="Amazon Ember" panose="02000000000000000000" pitchFamily="2" charset="0"/>
              </a:rPr>
              <a:t>Amazon Route 53</a:t>
            </a:r>
          </a:p>
        </p:txBody>
      </p:sp>
      <p:pic>
        <p:nvPicPr>
          <p:cNvPr id="22" name="Graphic 41">
            <a:extLst>
              <a:ext uri="{FF2B5EF4-FFF2-40B4-BE49-F238E27FC236}">
                <a16:creationId xmlns:a16="http://schemas.microsoft.com/office/drawing/2014/main" id="{5B1FEEC0-A82C-C940-A6B4-4A85ED521E6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69360" y="2318200"/>
            <a:ext cx="711200" cy="711200"/>
          </a:xfrm>
          <a:prstGeom prst="rect">
            <a:avLst/>
          </a:prstGeom>
        </p:spPr>
      </p:pic>
      <p:sp>
        <p:nvSpPr>
          <p:cNvPr id="4" name="Rectangle 3"/>
          <p:cNvSpPr/>
          <p:nvPr/>
        </p:nvSpPr>
        <p:spPr>
          <a:xfrm>
            <a:off x="432023" y="1387992"/>
            <a:ext cx="9373079" cy="523220"/>
          </a:xfrm>
          <a:prstGeom prst="rect">
            <a:avLst/>
          </a:prstGeom>
        </p:spPr>
        <p:txBody>
          <a:bodyPr wrap="none">
            <a:spAutoFit/>
          </a:bodyPr>
          <a:lstStyle/>
          <a:p>
            <a:r>
              <a:rPr lang="en-US" sz="2800" b="1">
                <a:solidFill>
                  <a:schemeClr val="tx2">
                    <a:lumMod val="75000"/>
                  </a:schemeClr>
                </a:solidFill>
                <a:latin typeface="Amazon Ember" panose="02000000000000000000" pitchFamily="2" charset="0"/>
              </a:rPr>
              <a:t>Amazon Route 53 </a:t>
            </a:r>
            <a:r>
              <a:rPr lang="en-US" sz="2800">
                <a:latin typeface="Amazon Ember" panose="02000000000000000000" pitchFamily="2" charset="0"/>
              </a:rPr>
              <a:t>supports these seven routing policies:</a:t>
            </a:r>
          </a:p>
        </p:txBody>
      </p:sp>
      <p:pic>
        <p:nvPicPr>
          <p:cNvPr id="5" name="Picture 4"/>
          <p:cNvPicPr>
            <a:picLocks noChangeAspect="1"/>
          </p:cNvPicPr>
          <p:nvPr/>
        </p:nvPicPr>
        <p:blipFill>
          <a:blip r:embed="rId9"/>
          <a:stretch>
            <a:fillRect/>
          </a:stretch>
        </p:blipFill>
        <p:spPr>
          <a:xfrm>
            <a:off x="2040244" y="1990470"/>
            <a:ext cx="8625673" cy="1580276"/>
          </a:xfrm>
          <a:prstGeom prst="rect">
            <a:avLst/>
          </a:prstGeom>
        </p:spPr>
      </p:pic>
      <p:sp>
        <p:nvSpPr>
          <p:cNvPr id="23"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7" name="Slide Number Placeholder 6"/>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1922738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ttps://upload.wikimedia.org/wikipedia/commons/f/f5/Worldemptymap.png"/>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1315798" y="1215142"/>
            <a:ext cx="9671335" cy="52235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Autofit/>
          </a:bodyPr>
          <a:lstStyle/>
          <a:p>
            <a:r>
              <a:rPr lang="en-US" b="1"/>
              <a:t>Latency-based routing (LBR)</a:t>
            </a:r>
          </a:p>
        </p:txBody>
      </p:sp>
      <p:cxnSp>
        <p:nvCxnSpPr>
          <p:cNvPr id="85" name="Straight Connector 84"/>
          <p:cNvCxnSpPr>
            <a:cxnSpLocks/>
            <a:endCxn id="86" idx="6"/>
          </p:cNvCxnSpPr>
          <p:nvPr/>
        </p:nvCxnSpPr>
        <p:spPr>
          <a:xfrm flipH="1">
            <a:off x="2846389" y="3287383"/>
            <a:ext cx="3045440" cy="109621"/>
          </a:xfrm>
          <a:prstGeom prst="line">
            <a:avLst/>
          </a:prstGeom>
          <a:ln w="57150">
            <a:solidFill>
              <a:srgbClr val="0C9B2E"/>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2712202" y="3349322"/>
            <a:ext cx="134187" cy="95364"/>
          </a:xfrm>
          <a:prstGeom prst="ellipse">
            <a:avLst/>
          </a:prstGeom>
          <a:solidFill>
            <a:srgbClr val="0C9B2E"/>
          </a:solidFill>
          <a:ln>
            <a:solidFill>
              <a:srgbClr val="0C9B2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2400">
              <a:latin typeface="Amazon Ember" panose="02000000000000000000" pitchFamily="2" charset="0"/>
            </a:endParaRPr>
          </a:p>
        </p:txBody>
      </p:sp>
      <p:sp>
        <p:nvSpPr>
          <p:cNvPr id="89" name="Oval 88"/>
          <p:cNvSpPr/>
          <p:nvPr/>
        </p:nvSpPr>
        <p:spPr>
          <a:xfrm>
            <a:off x="9905390" y="5525644"/>
            <a:ext cx="168348" cy="166259"/>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2400">
              <a:latin typeface="Amazon Ember" panose="02000000000000000000" pitchFamily="2" charset="0"/>
            </a:endParaRPr>
          </a:p>
        </p:txBody>
      </p:sp>
      <p:cxnSp>
        <p:nvCxnSpPr>
          <p:cNvPr id="92" name="Straight Connector 91"/>
          <p:cNvCxnSpPr>
            <a:endCxn id="89" idx="2"/>
          </p:cNvCxnSpPr>
          <p:nvPr/>
        </p:nvCxnSpPr>
        <p:spPr>
          <a:xfrm>
            <a:off x="6510026" y="3412285"/>
            <a:ext cx="3395364" cy="2196489"/>
          </a:xfrm>
          <a:prstGeom prst="line">
            <a:avLst/>
          </a:prstGeom>
          <a:ln w="571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6733106" y="6345794"/>
            <a:ext cx="5363109" cy="33855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sz="1600" b="1">
                <a:solidFill>
                  <a:prstClr val="black"/>
                </a:solidFill>
                <a:latin typeface="Arial" pitchFamily="34" charset="0"/>
                <a:ea typeface="Verdana" pitchFamily="34" charset="0"/>
                <a:cs typeface="Arial"/>
              </a:rPr>
              <a:t>some-elb-name.</a:t>
            </a:r>
            <a:r>
              <a:rPr lang="en-US" sz="1600" b="1">
                <a:solidFill>
                  <a:schemeClr val="accent1">
                    <a:lumMod val="75000"/>
                  </a:schemeClr>
                </a:solidFill>
                <a:latin typeface="Arial" pitchFamily="34" charset="0"/>
                <a:ea typeface="Verdana" pitchFamily="34" charset="0"/>
                <a:cs typeface="Arial"/>
              </a:rPr>
              <a:t>ap-southeast-2</a:t>
            </a:r>
            <a:r>
              <a:rPr lang="en-US" sz="1600" b="1">
                <a:solidFill>
                  <a:prstClr val="black"/>
                </a:solidFill>
                <a:latin typeface="Arial" pitchFamily="34" charset="0"/>
                <a:ea typeface="Verdana" pitchFamily="34" charset="0"/>
                <a:cs typeface="Arial"/>
              </a:rPr>
              <a:t>.elb.amazonaws.com</a:t>
            </a:r>
          </a:p>
        </p:txBody>
      </p:sp>
      <p:sp>
        <p:nvSpPr>
          <p:cNvPr id="101" name="TextBox 39"/>
          <p:cNvSpPr txBox="1">
            <a:spLocks noChangeArrowheads="1"/>
          </p:cNvSpPr>
          <p:nvPr/>
        </p:nvSpPr>
        <p:spPr bwMode="auto">
          <a:xfrm>
            <a:off x="174775" y="4149541"/>
            <a:ext cx="4779899" cy="338554"/>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sz="1600" b="1">
                <a:solidFill>
                  <a:prstClr val="black"/>
                </a:solidFill>
                <a:latin typeface="Arial" pitchFamily="34" charset="0"/>
                <a:ea typeface="Verdana" pitchFamily="34" charset="0"/>
                <a:cs typeface="Arial"/>
              </a:rPr>
              <a:t>some-elb-name.</a:t>
            </a:r>
            <a:r>
              <a:rPr lang="en-US" sz="1600" b="1">
                <a:solidFill>
                  <a:schemeClr val="accent1">
                    <a:lumMod val="75000"/>
                  </a:schemeClr>
                </a:solidFill>
                <a:latin typeface="Arial" pitchFamily="34" charset="0"/>
                <a:ea typeface="Verdana" pitchFamily="34" charset="0"/>
                <a:cs typeface="Arial"/>
              </a:rPr>
              <a:t>us-west-2</a:t>
            </a:r>
            <a:r>
              <a:rPr lang="en-US" sz="1600" b="1">
                <a:solidFill>
                  <a:prstClr val="black"/>
                </a:solidFill>
                <a:latin typeface="Arial" pitchFamily="34" charset="0"/>
                <a:ea typeface="Verdana" pitchFamily="34" charset="0"/>
                <a:cs typeface="Arial"/>
              </a:rPr>
              <a:t>.elb.amazonaws.com</a:t>
            </a:r>
          </a:p>
        </p:txBody>
      </p:sp>
      <p:sp>
        <p:nvSpPr>
          <p:cNvPr id="17" name="TextBox 16">
            <a:extLst>
              <a:ext uri="{FF2B5EF4-FFF2-40B4-BE49-F238E27FC236}">
                <a16:creationId xmlns:a16="http://schemas.microsoft.com/office/drawing/2014/main" id="{E3C0960A-3D31-6D47-8EAA-93DE09090CDD}"/>
              </a:ext>
            </a:extLst>
          </p:cNvPr>
          <p:cNvSpPr txBox="1"/>
          <p:nvPr/>
        </p:nvSpPr>
        <p:spPr>
          <a:xfrm>
            <a:off x="974421" y="3626321"/>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a:t>
            </a:r>
          </a:p>
          <a:p>
            <a:pPr algn="ctr"/>
            <a:r>
              <a:rPr lang="en-US" sz="1600">
                <a:latin typeface="Amazon Ember" panose="02000000000000000000" pitchFamily="2" charset="0"/>
              </a:rPr>
              <a:t>Balancing (ELB)</a:t>
            </a:r>
          </a:p>
        </p:txBody>
      </p:sp>
      <p:pic>
        <p:nvPicPr>
          <p:cNvPr id="18" name="Graphic 7">
            <a:extLst>
              <a:ext uri="{FF2B5EF4-FFF2-40B4-BE49-F238E27FC236}">
                <a16:creationId xmlns:a16="http://schemas.microsoft.com/office/drawing/2014/main" id="{708E5D6B-3B0D-7E46-91EF-00B2766437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69773" y="2868627"/>
            <a:ext cx="711200" cy="711200"/>
          </a:xfrm>
          <a:prstGeom prst="rect">
            <a:avLst/>
          </a:prstGeom>
        </p:spPr>
      </p:pic>
      <p:sp>
        <p:nvSpPr>
          <p:cNvPr id="19" name="TextBox 18">
            <a:extLst>
              <a:ext uri="{FF2B5EF4-FFF2-40B4-BE49-F238E27FC236}">
                <a16:creationId xmlns:a16="http://schemas.microsoft.com/office/drawing/2014/main" id="{E3C0960A-3D31-6D47-8EAA-93DE09090CDD}"/>
              </a:ext>
            </a:extLst>
          </p:cNvPr>
          <p:cNvSpPr txBox="1"/>
          <p:nvPr/>
        </p:nvSpPr>
        <p:spPr>
          <a:xfrm>
            <a:off x="9431832" y="5867327"/>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a:t>
            </a:r>
          </a:p>
          <a:p>
            <a:pPr algn="ctr"/>
            <a:r>
              <a:rPr lang="en-US" sz="1600">
                <a:latin typeface="Amazon Ember" panose="02000000000000000000" pitchFamily="2" charset="0"/>
              </a:rPr>
              <a:t>Balancing (ELB)</a:t>
            </a:r>
          </a:p>
        </p:txBody>
      </p:sp>
      <p:pic>
        <p:nvPicPr>
          <p:cNvPr id="20" name="Graphic 7">
            <a:extLst>
              <a:ext uri="{FF2B5EF4-FFF2-40B4-BE49-F238E27FC236}">
                <a16:creationId xmlns:a16="http://schemas.microsoft.com/office/drawing/2014/main" id="{708E5D6B-3B0D-7E46-91EF-00B2766437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27184" y="5156127"/>
            <a:ext cx="711200" cy="711200"/>
          </a:xfrm>
          <a:prstGeom prst="rect">
            <a:avLst/>
          </a:prstGeom>
        </p:spPr>
      </p:pic>
      <p:pic>
        <p:nvPicPr>
          <p:cNvPr id="21" name="Graphic 39">
            <a:extLst>
              <a:ext uri="{FF2B5EF4-FFF2-40B4-BE49-F238E27FC236}">
                <a16:creationId xmlns:a16="http://schemas.microsoft.com/office/drawing/2014/main" id="{6FA71975-EA2D-784E-8A28-738A17320E9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88283" y="2560629"/>
            <a:ext cx="771325" cy="771325"/>
          </a:xfrm>
          <a:prstGeom prst="rect">
            <a:avLst/>
          </a:prstGeom>
        </p:spPr>
      </p:pic>
      <p:sp>
        <p:nvSpPr>
          <p:cNvPr id="22" name="TextBox 21">
            <a:extLst>
              <a:ext uri="{FF2B5EF4-FFF2-40B4-BE49-F238E27FC236}">
                <a16:creationId xmlns:a16="http://schemas.microsoft.com/office/drawing/2014/main" id="{37743B23-AAC5-CC49-9C18-C68DBC507174}"/>
              </a:ext>
            </a:extLst>
          </p:cNvPr>
          <p:cNvSpPr txBox="1"/>
          <p:nvPr/>
        </p:nvSpPr>
        <p:spPr>
          <a:xfrm>
            <a:off x="5702227" y="3278427"/>
            <a:ext cx="1072750" cy="369332"/>
          </a:xfrm>
          <a:prstGeom prst="rect">
            <a:avLst/>
          </a:prstGeom>
          <a:noFill/>
        </p:spPr>
        <p:txBody>
          <a:bodyPr wrap="square" rtlCol="0">
            <a:spAutoFit/>
          </a:bodyPr>
          <a:lstStyle/>
          <a:p>
            <a:pPr algn="ctr"/>
            <a:r>
              <a:rPr lang="en-US" b="1">
                <a:solidFill>
                  <a:srgbClr val="232F3E"/>
                </a:solidFill>
                <a:latin typeface="Amazon Ember" panose="02000000000000000000" pitchFamily="2" charset="0"/>
              </a:rPr>
              <a:t>User</a:t>
            </a:r>
          </a:p>
        </p:txBody>
      </p:sp>
      <p:sp>
        <p:nvSpPr>
          <p:cNvPr id="23"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868064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a:extLst>
              <a:ext uri="{FF2B5EF4-FFF2-40B4-BE49-F238E27FC236}">
                <a16:creationId xmlns:a16="http://schemas.microsoft.com/office/drawing/2014/main" id="{7CE75860-63AD-D842-8DEB-F6B70B8E68F4}"/>
              </a:ext>
            </a:extLst>
          </p:cNvPr>
          <p:cNvCxnSpPr/>
          <p:nvPr/>
        </p:nvCxnSpPr>
        <p:spPr>
          <a:xfrm>
            <a:off x="7836058" y="4097104"/>
            <a:ext cx="137160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CE75860-63AD-D842-8DEB-F6B70B8E68F4}"/>
              </a:ext>
            </a:extLst>
          </p:cNvPr>
          <p:cNvCxnSpPr/>
          <p:nvPr/>
        </p:nvCxnSpPr>
        <p:spPr>
          <a:xfrm>
            <a:off x="6175003" y="4097104"/>
            <a:ext cx="137160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b="1"/>
              <a:t>Example: Blue/green deployment</a:t>
            </a:r>
          </a:p>
        </p:txBody>
      </p:sp>
      <p:cxnSp>
        <p:nvCxnSpPr>
          <p:cNvPr id="8" name="Straight Arrow Connector 7"/>
          <p:cNvCxnSpPr/>
          <p:nvPr/>
        </p:nvCxnSpPr>
        <p:spPr>
          <a:xfrm>
            <a:off x="1751146" y="1898360"/>
            <a:ext cx="3858028" cy="104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37"/>
          <p:cNvSpPr txBox="1">
            <a:spLocks noChangeArrowheads="1"/>
          </p:cNvSpPr>
          <p:nvPr/>
        </p:nvSpPr>
        <p:spPr bwMode="auto">
          <a:xfrm>
            <a:off x="2289586" y="1473066"/>
            <a:ext cx="2228221" cy="338554"/>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latin typeface="Amazon Ember" panose="02000000000000000000" pitchFamily="2" charset="0"/>
                <a:ea typeface="Amazon Ember" panose="02000000000000000000" pitchFamily="2" charset="0"/>
                <a:cs typeface="Arial"/>
              </a:rPr>
              <a:t>www.example.com</a:t>
            </a:r>
          </a:p>
        </p:txBody>
      </p:sp>
      <p:cxnSp>
        <p:nvCxnSpPr>
          <p:cNvPr id="19" name="Straight Arrow Connector 18"/>
          <p:cNvCxnSpPr/>
          <p:nvPr/>
        </p:nvCxnSpPr>
        <p:spPr>
          <a:xfrm>
            <a:off x="6083361" y="2228652"/>
            <a:ext cx="0" cy="13188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33"/>
          <p:cNvSpPr txBox="1">
            <a:spLocks noChangeArrowheads="1"/>
          </p:cNvSpPr>
          <p:nvPr/>
        </p:nvSpPr>
        <p:spPr bwMode="auto">
          <a:xfrm>
            <a:off x="5031765" y="5033382"/>
            <a:ext cx="2252911" cy="1323439"/>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latin typeface="Amazon Ember" panose="02000000000000000000" pitchFamily="2" charset="0"/>
                <a:ea typeface="Amazon Ember" panose="02000000000000000000" pitchFamily="2" charset="0"/>
                <a:cs typeface="Arial"/>
              </a:rPr>
              <a:t>Amazon Route 53 </a:t>
            </a:r>
            <a:r>
              <a:rPr lang="en-US" sz="1600">
                <a:latin typeface="Amazon Ember" panose="02000000000000000000" pitchFamily="2" charset="0"/>
                <a:ea typeface="Amazon Ember" panose="02000000000000000000" pitchFamily="2" charset="0"/>
                <a:cs typeface="Amazon Ember Light" panose="020B0403020204020204" pitchFamily="34" charset="0"/>
              </a:rPr>
              <a:t>weighted routing shifts traffic from the old system to the new system.</a:t>
            </a:r>
          </a:p>
        </p:txBody>
      </p:sp>
      <p:sp>
        <p:nvSpPr>
          <p:cNvPr id="38" name="TextBox 37"/>
          <p:cNvSpPr txBox="1">
            <a:spLocks noChangeArrowheads="1"/>
          </p:cNvSpPr>
          <p:nvPr/>
        </p:nvSpPr>
        <p:spPr bwMode="auto">
          <a:xfrm>
            <a:off x="1781091" y="4877959"/>
            <a:ext cx="1708175" cy="584775"/>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accent4"/>
                </a:solidFill>
                <a:latin typeface="Amazon Ember" panose="02000000000000000000" pitchFamily="2" charset="0"/>
                <a:ea typeface="Amazon Ember" panose="02000000000000000000" pitchFamily="2" charset="0"/>
                <a:cs typeface="Amazon Ember Light" panose="020B0403020204020204" pitchFamily="34" charset="0"/>
              </a:rPr>
              <a:t>Existing (blue) system</a:t>
            </a:r>
          </a:p>
        </p:txBody>
      </p:sp>
      <p:sp>
        <p:nvSpPr>
          <p:cNvPr id="70" name="TextBox 69"/>
          <p:cNvSpPr txBox="1">
            <a:spLocks noChangeArrowheads="1"/>
          </p:cNvSpPr>
          <p:nvPr/>
        </p:nvSpPr>
        <p:spPr bwMode="auto">
          <a:xfrm>
            <a:off x="9317369" y="4765109"/>
            <a:ext cx="1708175" cy="584775"/>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tx2"/>
                </a:solidFill>
                <a:latin typeface="Amazon Ember" panose="02000000000000000000" pitchFamily="2" charset="0"/>
                <a:ea typeface="Amazon Ember" panose="02000000000000000000" pitchFamily="2" charset="0"/>
                <a:cs typeface="Amazon Ember Light" panose="020B0403020204020204" pitchFamily="34" charset="0"/>
              </a:rPr>
              <a:t>New (green) system</a:t>
            </a:r>
          </a:p>
        </p:txBody>
      </p:sp>
      <p:sp>
        <p:nvSpPr>
          <p:cNvPr id="14" name="TextBox 13"/>
          <p:cNvSpPr txBox="1"/>
          <p:nvPr/>
        </p:nvSpPr>
        <p:spPr>
          <a:xfrm>
            <a:off x="4909635" y="3555786"/>
            <a:ext cx="728084" cy="461665"/>
          </a:xfrm>
          <a:prstGeom prst="rect">
            <a:avLst/>
          </a:prstGeom>
          <a:solidFill>
            <a:schemeClr val="bg1"/>
          </a:solidFill>
        </p:spPr>
        <p:txBody>
          <a:bodyPr wrap="none" rtlCol="0">
            <a:spAutoFit/>
          </a:bodyPr>
          <a:lstStyle/>
          <a:p>
            <a:r>
              <a:rPr lang="en-US" sz="2400">
                <a:latin typeface="Amazon Ember" panose="02000000000000000000" pitchFamily="2" charset="0"/>
                <a:ea typeface="Amazon Ember" panose="02000000000000000000" pitchFamily="2" charset="0"/>
              </a:rPr>
              <a:t>100</a:t>
            </a:r>
          </a:p>
        </p:txBody>
      </p:sp>
      <p:sp>
        <p:nvSpPr>
          <p:cNvPr id="45" name="TextBox 44"/>
          <p:cNvSpPr txBox="1"/>
          <p:nvPr/>
        </p:nvSpPr>
        <p:spPr>
          <a:xfrm>
            <a:off x="6544772" y="3561184"/>
            <a:ext cx="526106" cy="461665"/>
          </a:xfrm>
          <a:prstGeom prst="rect">
            <a:avLst/>
          </a:prstGeom>
          <a:solidFill>
            <a:schemeClr val="bg1"/>
          </a:solidFill>
        </p:spPr>
        <p:txBody>
          <a:bodyPr wrap="none" rtlCol="0">
            <a:spAutoFit/>
          </a:bodyPr>
          <a:lstStyle/>
          <a:p>
            <a:r>
              <a:rPr lang="en-US" sz="2400">
                <a:latin typeface="Amazon Ember" panose="02000000000000000000" pitchFamily="2" charset="0"/>
                <a:ea typeface="Amazon Ember" panose="02000000000000000000" pitchFamily="2" charset="0"/>
              </a:rPr>
              <a:t>  0</a:t>
            </a:r>
          </a:p>
        </p:txBody>
      </p:sp>
      <p:sp>
        <p:nvSpPr>
          <p:cNvPr id="49" name="TextBox 48"/>
          <p:cNvSpPr txBox="1"/>
          <p:nvPr/>
        </p:nvSpPr>
        <p:spPr>
          <a:xfrm>
            <a:off x="4895945" y="3555786"/>
            <a:ext cx="816823" cy="461665"/>
          </a:xfrm>
          <a:prstGeom prst="rect">
            <a:avLst/>
          </a:prstGeom>
          <a:solidFill>
            <a:schemeClr val="bg1"/>
          </a:solidFill>
        </p:spPr>
        <p:txBody>
          <a:bodyPr wrap="square" rtlCol="0">
            <a:spAutoFit/>
          </a:bodyPr>
          <a:lstStyle/>
          <a:p>
            <a:r>
              <a:rPr lang="en-US" sz="2400">
                <a:latin typeface="Amazon Ember" panose="02000000000000000000" pitchFamily="2" charset="0"/>
                <a:ea typeface="Amazon Ember" panose="02000000000000000000" pitchFamily="2" charset="0"/>
              </a:rPr>
              <a:t>  95</a:t>
            </a:r>
          </a:p>
        </p:txBody>
      </p:sp>
      <p:sp>
        <p:nvSpPr>
          <p:cNvPr id="46" name="TextBox 45"/>
          <p:cNvSpPr txBox="1"/>
          <p:nvPr/>
        </p:nvSpPr>
        <p:spPr>
          <a:xfrm>
            <a:off x="4986143" y="3555789"/>
            <a:ext cx="723679" cy="461665"/>
          </a:xfrm>
          <a:prstGeom prst="rect">
            <a:avLst/>
          </a:prstGeom>
          <a:solidFill>
            <a:schemeClr val="bg1"/>
          </a:solidFill>
        </p:spPr>
        <p:txBody>
          <a:bodyPr wrap="square" rtlCol="0">
            <a:spAutoFit/>
          </a:bodyPr>
          <a:lstStyle/>
          <a:p>
            <a:r>
              <a:rPr lang="en-US" sz="2400">
                <a:latin typeface="Amazon Ember" panose="02000000000000000000" pitchFamily="2" charset="0"/>
                <a:ea typeface="Amazon Ember" panose="02000000000000000000" pitchFamily="2" charset="0"/>
              </a:rPr>
              <a:t>  0</a:t>
            </a:r>
          </a:p>
        </p:txBody>
      </p:sp>
      <p:sp>
        <p:nvSpPr>
          <p:cNvPr id="50" name="TextBox 49"/>
          <p:cNvSpPr txBox="1"/>
          <p:nvPr/>
        </p:nvSpPr>
        <p:spPr>
          <a:xfrm>
            <a:off x="6594148" y="3561184"/>
            <a:ext cx="445956" cy="461665"/>
          </a:xfrm>
          <a:prstGeom prst="rect">
            <a:avLst/>
          </a:prstGeom>
          <a:solidFill>
            <a:schemeClr val="bg1"/>
          </a:solidFill>
        </p:spPr>
        <p:txBody>
          <a:bodyPr wrap="none" rtlCol="0">
            <a:spAutoFit/>
          </a:bodyPr>
          <a:lstStyle/>
          <a:p>
            <a:r>
              <a:rPr lang="en-US" sz="2400">
                <a:latin typeface="Amazon Ember" panose="02000000000000000000" pitchFamily="2" charset="0"/>
                <a:ea typeface="Amazon Ember" panose="02000000000000000000" pitchFamily="2" charset="0"/>
              </a:rPr>
              <a:t> 5</a:t>
            </a:r>
          </a:p>
        </p:txBody>
      </p:sp>
      <p:sp>
        <p:nvSpPr>
          <p:cNvPr id="47" name="TextBox 46"/>
          <p:cNvSpPr txBox="1"/>
          <p:nvPr/>
        </p:nvSpPr>
        <p:spPr>
          <a:xfrm>
            <a:off x="6508397" y="3561184"/>
            <a:ext cx="728084" cy="461665"/>
          </a:xfrm>
          <a:prstGeom prst="rect">
            <a:avLst/>
          </a:prstGeom>
          <a:solidFill>
            <a:schemeClr val="bg1"/>
          </a:solidFill>
        </p:spPr>
        <p:txBody>
          <a:bodyPr wrap="none" rtlCol="0">
            <a:spAutoFit/>
          </a:bodyPr>
          <a:lstStyle/>
          <a:p>
            <a:r>
              <a:rPr lang="en-US" sz="2400">
                <a:latin typeface="Amazon Ember" panose="02000000000000000000" pitchFamily="2" charset="0"/>
                <a:ea typeface="Amazon Ember" panose="02000000000000000000" pitchFamily="2" charset="0"/>
              </a:rPr>
              <a:t>100</a:t>
            </a:r>
          </a:p>
        </p:txBody>
      </p:sp>
      <p:pic>
        <p:nvPicPr>
          <p:cNvPr id="59" name="Graphic 15">
            <a:extLst>
              <a:ext uri="{FF2B5EF4-FFF2-40B4-BE49-F238E27FC236}">
                <a16:creationId xmlns:a16="http://schemas.microsoft.com/office/drawing/2014/main" id="{3AE4BA5B-DE17-F54A-8FC6-8FB0A95F67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87870" y="1221534"/>
            <a:ext cx="820701" cy="820701"/>
          </a:xfrm>
          <a:prstGeom prst="rect">
            <a:avLst/>
          </a:prstGeom>
        </p:spPr>
      </p:pic>
      <p:sp>
        <p:nvSpPr>
          <p:cNvPr id="63" name="TextBox 62">
            <a:extLst>
              <a:ext uri="{FF2B5EF4-FFF2-40B4-BE49-F238E27FC236}">
                <a16:creationId xmlns:a16="http://schemas.microsoft.com/office/drawing/2014/main" id="{B2EF5FDF-E6AC-9B45-9985-723F61E2113E}"/>
              </a:ext>
            </a:extLst>
          </p:cNvPr>
          <p:cNvSpPr txBox="1"/>
          <p:nvPr/>
        </p:nvSpPr>
        <p:spPr>
          <a:xfrm>
            <a:off x="5714517" y="1864814"/>
            <a:ext cx="107275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Internet</a:t>
            </a:r>
          </a:p>
        </p:txBody>
      </p:sp>
      <p:pic>
        <p:nvPicPr>
          <p:cNvPr id="64" name="Graphic 39">
            <a:extLst>
              <a:ext uri="{FF2B5EF4-FFF2-40B4-BE49-F238E27FC236}">
                <a16:creationId xmlns:a16="http://schemas.microsoft.com/office/drawing/2014/main" id="{6FA71975-EA2D-784E-8A28-738A17320E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3083" y="1284320"/>
            <a:ext cx="771325" cy="771325"/>
          </a:xfrm>
          <a:prstGeom prst="rect">
            <a:avLst/>
          </a:prstGeom>
        </p:spPr>
      </p:pic>
      <p:sp>
        <p:nvSpPr>
          <p:cNvPr id="65" name="TextBox 64">
            <a:extLst>
              <a:ext uri="{FF2B5EF4-FFF2-40B4-BE49-F238E27FC236}">
                <a16:creationId xmlns:a16="http://schemas.microsoft.com/office/drawing/2014/main" id="{37743B23-AAC5-CC49-9C18-C68DBC507174}"/>
              </a:ext>
            </a:extLst>
          </p:cNvPr>
          <p:cNvSpPr txBox="1"/>
          <p:nvPr/>
        </p:nvSpPr>
        <p:spPr>
          <a:xfrm>
            <a:off x="552371" y="2042235"/>
            <a:ext cx="107275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User</a:t>
            </a:r>
          </a:p>
        </p:txBody>
      </p:sp>
      <p:sp>
        <p:nvSpPr>
          <p:cNvPr id="71" name="TextBox 70">
            <a:extLst>
              <a:ext uri="{FF2B5EF4-FFF2-40B4-BE49-F238E27FC236}">
                <a16:creationId xmlns:a16="http://schemas.microsoft.com/office/drawing/2014/main" id="{70F1D858-0A61-B249-BFE8-EC03E7D2639D}"/>
              </a:ext>
            </a:extLst>
          </p:cNvPr>
          <p:cNvSpPr txBox="1"/>
          <p:nvPr/>
        </p:nvSpPr>
        <p:spPr>
          <a:xfrm>
            <a:off x="4977198" y="4462281"/>
            <a:ext cx="2301904" cy="338554"/>
          </a:xfrm>
          <a:prstGeom prst="rect">
            <a:avLst/>
          </a:prstGeom>
          <a:noFill/>
        </p:spPr>
        <p:txBody>
          <a:bodyPr wrap="square" rtlCol="0">
            <a:spAutoFit/>
          </a:bodyPr>
          <a:lstStyle/>
          <a:p>
            <a:pPr algn="ctr"/>
            <a:r>
              <a:rPr lang="en-US" sz="1600">
                <a:latin typeface="Amazon Ember" panose="02000000000000000000" pitchFamily="2" charset="0"/>
              </a:rPr>
              <a:t>Amazon Route 53</a:t>
            </a:r>
          </a:p>
        </p:txBody>
      </p:sp>
      <p:sp>
        <p:nvSpPr>
          <p:cNvPr id="73" name="TextBox 72">
            <a:extLst>
              <a:ext uri="{FF2B5EF4-FFF2-40B4-BE49-F238E27FC236}">
                <a16:creationId xmlns:a16="http://schemas.microsoft.com/office/drawing/2014/main" id="{E3C0960A-3D31-6D47-8EAA-93DE09090CDD}"/>
              </a:ext>
            </a:extLst>
          </p:cNvPr>
          <p:cNvSpPr txBox="1"/>
          <p:nvPr/>
        </p:nvSpPr>
        <p:spPr>
          <a:xfrm>
            <a:off x="6905754" y="4510162"/>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a:t>
            </a:r>
          </a:p>
          <a:p>
            <a:pPr algn="ctr"/>
            <a:r>
              <a:rPr lang="en-US" sz="1600">
                <a:latin typeface="Amazon Ember" panose="02000000000000000000" pitchFamily="2" charset="0"/>
              </a:rPr>
              <a:t>Balancing (ELB)</a:t>
            </a:r>
          </a:p>
        </p:txBody>
      </p:sp>
      <p:sp>
        <p:nvSpPr>
          <p:cNvPr id="75" name="TextBox 74">
            <a:extLst>
              <a:ext uri="{FF2B5EF4-FFF2-40B4-BE49-F238E27FC236}">
                <a16:creationId xmlns:a16="http://schemas.microsoft.com/office/drawing/2014/main" id="{E3C0960A-3D31-6D47-8EAA-93DE09090CDD}"/>
              </a:ext>
            </a:extLst>
          </p:cNvPr>
          <p:cNvSpPr txBox="1"/>
          <p:nvPr/>
        </p:nvSpPr>
        <p:spPr>
          <a:xfrm>
            <a:off x="3117223" y="4457189"/>
            <a:ext cx="2301904" cy="584775"/>
          </a:xfrm>
          <a:prstGeom prst="rect">
            <a:avLst/>
          </a:prstGeom>
          <a:noFill/>
        </p:spPr>
        <p:txBody>
          <a:bodyPr wrap="square" rtlCol="0">
            <a:spAutoFit/>
          </a:bodyPr>
          <a:lstStyle/>
          <a:p>
            <a:pPr algn="ctr"/>
            <a:r>
              <a:rPr lang="en-US" sz="1600">
                <a:latin typeface="Amazon Ember" panose="02000000000000000000" pitchFamily="2" charset="0"/>
              </a:rPr>
              <a:t>Elastic Load </a:t>
            </a:r>
          </a:p>
          <a:p>
            <a:pPr algn="ctr"/>
            <a:r>
              <a:rPr lang="en-US" sz="1600">
                <a:latin typeface="Amazon Ember" panose="02000000000000000000" pitchFamily="2" charset="0"/>
              </a:rPr>
              <a:t>Balancing (ELB)</a:t>
            </a:r>
          </a:p>
        </p:txBody>
      </p:sp>
      <p:cxnSp>
        <p:nvCxnSpPr>
          <p:cNvPr id="78" name="Straight Arrow Connector 77">
            <a:extLst>
              <a:ext uri="{FF2B5EF4-FFF2-40B4-BE49-F238E27FC236}">
                <a16:creationId xmlns:a16="http://schemas.microsoft.com/office/drawing/2014/main" id="{2AD9FBDE-A46D-1545-A4E4-0F350E97A3AF}"/>
              </a:ext>
            </a:extLst>
          </p:cNvPr>
          <p:cNvCxnSpPr/>
          <p:nvPr/>
        </p:nvCxnSpPr>
        <p:spPr>
          <a:xfrm>
            <a:off x="4655257" y="4097104"/>
            <a:ext cx="1371600" cy="0"/>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AD9FBDE-A46D-1545-A4E4-0F350E97A3AF}"/>
              </a:ext>
            </a:extLst>
          </p:cNvPr>
          <p:cNvCxnSpPr/>
          <p:nvPr/>
        </p:nvCxnSpPr>
        <p:spPr>
          <a:xfrm>
            <a:off x="3071279" y="4103220"/>
            <a:ext cx="1371600" cy="0"/>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72" name="Graphic 41">
            <a:extLst>
              <a:ext uri="{FF2B5EF4-FFF2-40B4-BE49-F238E27FC236}">
                <a16:creationId xmlns:a16="http://schemas.microsoft.com/office/drawing/2014/main" id="{5B1FEEC0-A82C-C940-A6B4-4A85ED521E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72550" y="3686667"/>
            <a:ext cx="711200" cy="711200"/>
          </a:xfrm>
          <a:prstGeom prst="rect">
            <a:avLst/>
          </a:prstGeom>
        </p:spPr>
      </p:pic>
      <p:pic>
        <p:nvPicPr>
          <p:cNvPr id="74" name="Graphic 7">
            <a:extLst>
              <a:ext uri="{FF2B5EF4-FFF2-40B4-BE49-F238E27FC236}">
                <a16:creationId xmlns:a16="http://schemas.microsoft.com/office/drawing/2014/main" id="{708E5D6B-3B0D-7E46-91EF-00B27664375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01106" y="3798962"/>
            <a:ext cx="711200" cy="711200"/>
          </a:xfrm>
          <a:prstGeom prst="rect">
            <a:avLst/>
          </a:prstGeom>
        </p:spPr>
      </p:pic>
      <p:pic>
        <p:nvPicPr>
          <p:cNvPr id="76" name="Graphic 7">
            <a:extLst>
              <a:ext uri="{FF2B5EF4-FFF2-40B4-BE49-F238E27FC236}">
                <a16:creationId xmlns:a16="http://schemas.microsoft.com/office/drawing/2014/main" id="{708E5D6B-3B0D-7E46-91EF-00B27664375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12575" y="3745989"/>
            <a:ext cx="711200" cy="711200"/>
          </a:xfrm>
          <a:prstGeom prst="rect">
            <a:avLst/>
          </a:prstGeom>
        </p:spPr>
      </p:pic>
      <p:pic>
        <p:nvPicPr>
          <p:cNvPr id="81" name="Graphic 137">
            <a:extLst>
              <a:ext uri="{FF2B5EF4-FFF2-40B4-BE49-F238E27FC236}">
                <a16:creationId xmlns:a16="http://schemas.microsoft.com/office/drawing/2014/main" id="{5B22B109-5C82-FA40-91FB-DE791C44FEB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20375" y="3766346"/>
            <a:ext cx="788036" cy="788036"/>
          </a:xfrm>
          <a:prstGeom prst="rect">
            <a:avLst/>
          </a:prstGeom>
        </p:spPr>
      </p:pic>
      <p:sp>
        <p:nvSpPr>
          <p:cNvPr id="82" name="TextBox 81">
            <a:extLst>
              <a:ext uri="{FF2B5EF4-FFF2-40B4-BE49-F238E27FC236}">
                <a16:creationId xmlns:a16="http://schemas.microsoft.com/office/drawing/2014/main" id="{4C1CD0DB-DD3F-CF4F-87F7-8B83B28C0A71}"/>
              </a:ext>
            </a:extLst>
          </p:cNvPr>
          <p:cNvSpPr txBox="1"/>
          <p:nvPr/>
        </p:nvSpPr>
        <p:spPr>
          <a:xfrm>
            <a:off x="1642047" y="4554382"/>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pic>
        <p:nvPicPr>
          <p:cNvPr id="83" name="Graphic 137">
            <a:extLst>
              <a:ext uri="{FF2B5EF4-FFF2-40B4-BE49-F238E27FC236}">
                <a16:creationId xmlns:a16="http://schemas.microsoft.com/office/drawing/2014/main" id="{5B22B109-5C82-FA40-91FB-DE791C44FEB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97823" y="3705023"/>
            <a:ext cx="788036" cy="788036"/>
          </a:xfrm>
          <a:prstGeom prst="rect">
            <a:avLst/>
          </a:prstGeom>
        </p:spPr>
      </p:pic>
      <p:sp>
        <p:nvSpPr>
          <p:cNvPr id="84" name="TextBox 83">
            <a:extLst>
              <a:ext uri="{FF2B5EF4-FFF2-40B4-BE49-F238E27FC236}">
                <a16:creationId xmlns:a16="http://schemas.microsoft.com/office/drawing/2014/main" id="{4C1CD0DB-DD3F-CF4F-87F7-8B83B28C0A71}"/>
              </a:ext>
            </a:extLst>
          </p:cNvPr>
          <p:cNvSpPr txBox="1"/>
          <p:nvPr/>
        </p:nvSpPr>
        <p:spPr>
          <a:xfrm>
            <a:off x="9319495" y="4493059"/>
            <a:ext cx="1513305" cy="338554"/>
          </a:xfrm>
          <a:prstGeom prst="rect">
            <a:avLst/>
          </a:prstGeom>
          <a:noFill/>
        </p:spPr>
        <p:txBody>
          <a:bodyPr wrap="square" rtlCol="0">
            <a:spAutoFit/>
          </a:bodyPr>
          <a:lstStyle/>
          <a:p>
            <a:pPr algn="ctr"/>
            <a:r>
              <a:rPr lang="en-US" sz="1600">
                <a:latin typeface="Amazon Ember" panose="02000000000000000000" pitchFamily="2" charset="0"/>
              </a:rPr>
              <a:t>Instances</a:t>
            </a:r>
          </a:p>
        </p:txBody>
      </p:sp>
      <p:sp>
        <p:nvSpPr>
          <p:cNvPr id="87" name="Rectangle 86">
            <a:extLst>
              <a:ext uri="{FF2B5EF4-FFF2-40B4-BE49-F238E27FC236}">
                <a16:creationId xmlns:a16="http://schemas.microsoft.com/office/drawing/2014/main" id="{92A0ABFB-D447-D349-9C47-3EE861DD0794}"/>
              </a:ext>
            </a:extLst>
          </p:cNvPr>
          <p:cNvSpPr/>
          <p:nvPr/>
        </p:nvSpPr>
        <p:spPr>
          <a:xfrm>
            <a:off x="1083441" y="2833316"/>
            <a:ext cx="3948324" cy="328173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88" name="Graphic 66">
            <a:extLst>
              <a:ext uri="{FF2B5EF4-FFF2-40B4-BE49-F238E27FC236}">
                <a16:creationId xmlns:a16="http://schemas.microsoft.com/office/drawing/2014/main" id="{811370A0-DDEF-2649-86F1-55809DBD16D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3441" y="2833317"/>
            <a:ext cx="330200" cy="330200"/>
          </a:xfrm>
          <a:prstGeom prst="rect">
            <a:avLst/>
          </a:prstGeom>
        </p:spPr>
      </p:pic>
      <p:sp>
        <p:nvSpPr>
          <p:cNvPr id="89" name="Rectangle 88">
            <a:extLst>
              <a:ext uri="{FF2B5EF4-FFF2-40B4-BE49-F238E27FC236}">
                <a16:creationId xmlns:a16="http://schemas.microsoft.com/office/drawing/2014/main" id="{92A0ABFB-D447-D349-9C47-3EE861DD0794}"/>
              </a:ext>
            </a:extLst>
          </p:cNvPr>
          <p:cNvSpPr/>
          <p:nvPr/>
        </p:nvSpPr>
        <p:spPr>
          <a:xfrm>
            <a:off x="7307830" y="2833316"/>
            <a:ext cx="3948324" cy="328173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90" name="Graphic 66">
            <a:extLst>
              <a:ext uri="{FF2B5EF4-FFF2-40B4-BE49-F238E27FC236}">
                <a16:creationId xmlns:a16="http://schemas.microsoft.com/office/drawing/2014/main" id="{811370A0-DDEF-2649-86F1-55809DBD16D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307830" y="2833317"/>
            <a:ext cx="330200" cy="330200"/>
          </a:xfrm>
          <a:prstGeom prst="rect">
            <a:avLst/>
          </a:prstGeom>
        </p:spPr>
      </p:pic>
      <p:sp>
        <p:nvSpPr>
          <p:cNvPr id="3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76966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6" grpId="0" animBg="1"/>
      <p:bldP spid="50" grpId="0" animBg="1"/>
      <p:bldP spid="4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1" name="Picture 10">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909200" y="365126"/>
            <a:ext cx="1772652" cy="449072"/>
          </a:xfrm>
          <a:prstGeom prst="rect">
            <a:avLst/>
          </a:prstGeom>
        </p:spPr>
      </p:pic>
      <p:sp>
        <p:nvSpPr>
          <p:cNvPr id="4" name="Title 3"/>
          <p:cNvSpPr>
            <a:spLocks noGrp="1"/>
          </p:cNvSpPr>
          <p:nvPr>
            <p:ph type="title"/>
          </p:nvPr>
        </p:nvSpPr>
        <p:spPr>
          <a:xfrm>
            <a:off x="597222" y="470709"/>
            <a:ext cx="3932237" cy="1600200"/>
          </a:xfrm>
          <a:noFill/>
          <a:ln>
            <a:solidFill>
              <a:schemeClr val="bg1"/>
            </a:solidFill>
          </a:ln>
        </p:spPr>
        <p:txBody>
          <a:bodyPr anchor="ctr"/>
          <a:lstStyle/>
          <a:p>
            <a:pPr algn="ctr"/>
            <a:r>
              <a:rPr lang="en-US">
                <a:solidFill>
                  <a:schemeClr val="bg1"/>
                </a:solidFill>
              </a:rPr>
              <a:t>Key Takeaway</a:t>
            </a:r>
          </a:p>
        </p:txBody>
      </p:sp>
      <p:pic>
        <p:nvPicPr>
          <p:cNvPr id="8" name="Picture Placeholder 6"/>
          <p:cNvPicPr>
            <a:picLocks noChangeAspect="1"/>
          </p:cNvPicPr>
          <p:nvPr/>
        </p:nvPicPr>
        <p:blipFill>
          <a:blip r:embed="rId5"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Rectangle 4"/>
          <p:cNvSpPr/>
          <p:nvPr/>
        </p:nvSpPr>
        <p:spPr>
          <a:xfrm>
            <a:off x="5585852" y="959470"/>
            <a:ext cx="6096000" cy="5816977"/>
          </a:xfrm>
          <a:prstGeom prst="rect">
            <a:avLst/>
          </a:prstGeom>
        </p:spPr>
        <p:txBody>
          <a:bodyPr>
            <a:spAutoFit/>
          </a:bodyPr>
          <a:lstStyle/>
          <a:p>
            <a:pPr marL="228600" lvl="0" indent="-228600">
              <a:spcBef>
                <a:spcPts val="600"/>
              </a:spcBef>
              <a:spcAft>
                <a:spcPts val="600"/>
              </a:spcAft>
              <a:buFont typeface="Arial" panose="020B0604020202020204" pitchFamily="34" charset="0"/>
              <a:buChar char="•"/>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Amazon Route 53 supports multiple different routing policies.</a:t>
            </a:r>
          </a:p>
          <a:p>
            <a:pPr marL="285750" indent="-285750">
              <a:spcBef>
                <a:spcPts val="600"/>
              </a:spcBef>
              <a:spcAft>
                <a:spcPts val="600"/>
              </a:spcAft>
              <a:buFont typeface="Arial" panose="020B0604020202020204" pitchFamily="34" charset="0"/>
              <a:buChar char="•"/>
            </a:pPr>
            <a:r>
              <a:rPr lang="en-US" sz="2400">
                <a:latin typeface="Amazon Ember" panose="02000000000000000000" pitchFamily="2" charset="0"/>
                <a:ea typeface="Amazon Ember" panose="02000000000000000000" pitchFamily="2" charset="0"/>
              </a:rPr>
              <a:t>Amazon Route53 helps: </a:t>
            </a:r>
          </a:p>
          <a:p>
            <a:pPr marL="742950" lvl="1" indent="-285750">
              <a:spcBef>
                <a:spcPts val="600"/>
              </a:spcBef>
              <a:spcAft>
                <a:spcPts val="600"/>
              </a:spcAft>
              <a:buFont typeface="Arial" panose="020B0604020202020204" pitchFamily="34" charset="0"/>
              <a:buChar char="•"/>
            </a:pPr>
            <a:r>
              <a:rPr lang="en-US" sz="2400">
                <a:latin typeface="Amazon Ember" panose="02000000000000000000" pitchFamily="2" charset="0"/>
                <a:ea typeface="Amazon Ember" panose="02000000000000000000" pitchFamily="2" charset="0"/>
              </a:rPr>
              <a:t>Register / transfer domain names.</a:t>
            </a:r>
          </a:p>
          <a:p>
            <a:pPr marL="742950" lvl="1" indent="-285750">
              <a:spcBef>
                <a:spcPts val="600"/>
              </a:spcBef>
              <a:spcAft>
                <a:spcPts val="600"/>
              </a:spcAft>
              <a:buFont typeface="Arial" panose="020B0604020202020204" pitchFamily="34" charset="0"/>
              <a:buChar char="•"/>
            </a:pPr>
            <a:r>
              <a:rPr lang="en-US" sz="2400">
                <a:latin typeface="Amazon Ember" panose="02000000000000000000" pitchFamily="2" charset="0"/>
                <a:ea typeface="Amazon Ember" panose="02000000000000000000" pitchFamily="2" charset="0"/>
              </a:rPr>
              <a:t>Resolve domain names to IP address.</a:t>
            </a:r>
          </a:p>
          <a:p>
            <a:pPr marL="285750" indent="-285750">
              <a:spcBef>
                <a:spcPts val="600"/>
              </a:spcBef>
              <a:spcAft>
                <a:spcPts val="600"/>
              </a:spcAft>
              <a:buFont typeface="Arial" panose="020B0604020202020204" pitchFamily="34" charset="0"/>
              <a:buChar char="•"/>
            </a:pPr>
            <a:r>
              <a:rPr lang="en-US" sz="2400">
                <a:latin typeface="Amazon Ember" panose="02000000000000000000" pitchFamily="2" charset="0"/>
                <a:ea typeface="Amazon Ember" panose="02000000000000000000" pitchFamily="2" charset="0"/>
              </a:rPr>
              <a:t>Amazon Route53 supports multiple routing policies.</a:t>
            </a:r>
          </a:p>
          <a:p>
            <a:pPr marL="285750" indent="-285750">
              <a:spcBef>
                <a:spcPts val="600"/>
              </a:spcBef>
              <a:spcAft>
                <a:spcPts val="600"/>
              </a:spcAft>
              <a:buFont typeface="Arial" panose="020B0604020202020204" pitchFamily="34" charset="0"/>
              <a:buChar char="•"/>
            </a:pPr>
            <a:r>
              <a:rPr lang="en-US" sz="2400">
                <a:latin typeface="Amazon Ember" panose="02000000000000000000" pitchFamily="2" charset="0"/>
                <a:ea typeface="Amazon Ember" panose="02000000000000000000" pitchFamily="2" charset="0"/>
              </a:rPr>
              <a:t>Amazon Route53 can route traffic to resources in different AWS regions as well as on premises resources.</a:t>
            </a:r>
            <a:endPar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Latency-based routing (LBR) enables DNS to route user requests to the AWS Region with the fastest response.</a:t>
            </a:r>
          </a:p>
        </p:txBody>
      </p:sp>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fld id="{6C47991C-E129-4F74-8F6E-9664FAB5CE8D}" type="slidenum">
              <a:rPr lang="en-US" smtClean="0"/>
              <a:pPr/>
              <a:t>40</a:t>
            </a:fld>
            <a:endParaRPr lang="en-US"/>
          </a:p>
        </p:txBody>
      </p:sp>
    </p:spTree>
    <p:custDataLst>
      <p:tags r:id="rId1"/>
    </p:custDataLst>
    <p:extLst>
      <p:ext uri="{BB962C8B-B14F-4D97-AF65-F5344CB8AC3E}">
        <p14:creationId xmlns:p14="http://schemas.microsoft.com/office/powerpoint/2010/main" val="3644609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19100" y="365125"/>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400" b="1"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rPr>
              <a:t>Summary</a:t>
            </a:r>
          </a:p>
        </p:txBody>
      </p:sp>
      <p:sp>
        <p:nvSpPr>
          <p:cNvPr id="7" name="Subtitle 10"/>
          <p:cNvSpPr txBox="1">
            <a:spLocks/>
          </p:cNvSpPr>
          <p:nvPr/>
        </p:nvSpPr>
        <p:spPr>
          <a:xfrm>
            <a:off x="409825" y="1506414"/>
            <a:ext cx="10562975" cy="4801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07988" lvl="0" indent="-407988">
              <a:buFont typeface="Arial" panose="020B0604020202020204" pitchFamily="34" charset="0"/>
              <a:buChar char="•"/>
            </a:pPr>
            <a:r>
              <a:rPr lang="en-US">
                <a:latin typeface="Amazon Ember" panose="02000000000000000000" pitchFamily="2" charset="0"/>
                <a:ea typeface="Amazon Ember" panose="02000000000000000000" pitchFamily="2" charset="0"/>
                <a:cs typeface="Amazon Ember Light" panose="020B0403020204020204" pitchFamily="34" charset="0"/>
              </a:rPr>
              <a:t>Elastic Load Balancing (ELB) features</a:t>
            </a:r>
          </a:p>
          <a:p>
            <a:pPr marL="407988" lvl="0" indent="-407988">
              <a:buFont typeface="Arial" panose="020B0604020202020204" pitchFamily="34" charset="0"/>
              <a:buChar char="•"/>
            </a:pPr>
            <a:r>
              <a:rPr lang="en-US">
                <a:latin typeface="Amazon Ember" panose="02000000000000000000" pitchFamily="2" charset="0"/>
                <a:ea typeface="Amazon Ember" panose="02000000000000000000" pitchFamily="2" charset="0"/>
                <a:cs typeface="Amazon Ember Light" panose="020B0403020204020204" pitchFamily="34" charset="0"/>
              </a:rPr>
              <a:t>Types of ELB load balancers</a:t>
            </a:r>
          </a:p>
          <a:p>
            <a:pPr marL="407988" lvl="0" indent="-407988">
              <a:buFont typeface="Arial" panose="020B0604020202020204" pitchFamily="34" charset="0"/>
              <a:buChar char="•"/>
            </a:pPr>
            <a:r>
              <a:rPr lang="en-US">
                <a:latin typeface="Amazon Ember" panose="02000000000000000000" pitchFamily="2" charset="0"/>
                <a:ea typeface="Amazon Ember" panose="02000000000000000000" pitchFamily="2" charset="0"/>
                <a:cs typeface="Amazon Ember Light" panose="020B0403020204020204" pitchFamily="34" charset="0"/>
              </a:rPr>
              <a:t>Amazon EC2 Auto Scaling and launch configurations</a:t>
            </a:r>
          </a:p>
          <a:p>
            <a:pPr marL="407988" lvl="0" indent="-407988">
              <a:buFont typeface="Arial" panose="020B0604020202020204" pitchFamily="34" charset="0"/>
              <a:buChar char="•"/>
            </a:pPr>
            <a:r>
              <a:rPr lang="en-US">
                <a:latin typeface="Amazon Ember" panose="02000000000000000000" pitchFamily="2" charset="0"/>
                <a:ea typeface="Amazon Ember" panose="02000000000000000000" pitchFamily="2" charset="0"/>
                <a:cs typeface="Amazon Ember Light" panose="020B0403020204020204" pitchFamily="34" charset="0"/>
              </a:rPr>
              <a:t>Amazon Route 53 features</a:t>
            </a:r>
          </a:p>
          <a:p>
            <a:pPr marL="407988" lvl="0" indent="-407988">
              <a:buFont typeface="Arial" panose="020B0604020202020204" pitchFamily="34" charset="0"/>
              <a:buChar char="•"/>
            </a:pPr>
            <a:r>
              <a:rPr lang="en-US">
                <a:latin typeface="Amazon Ember" panose="02000000000000000000" pitchFamily="2" charset="0"/>
                <a:ea typeface="Amazon Ember" panose="02000000000000000000" pitchFamily="2" charset="0"/>
                <a:cs typeface="Amazon Ember Light" panose="020B0403020204020204" pitchFamily="34" charset="0"/>
              </a:rPr>
              <a:t>Failover routing configuration</a:t>
            </a:r>
          </a:p>
          <a:p>
            <a:pPr marL="0" marR="0" lvl="0" indent="0" algn="l" defTabSz="914400" rtl="0" eaLnBrk="1" fontAlgn="auto" latinLnBrk="0" hangingPunct="1">
              <a:lnSpc>
                <a:spcPct val="150000"/>
              </a:lnSpc>
              <a:spcBef>
                <a:spcPts val="100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endParaRPr>
          </a:p>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rPr>
              <a:t>To finish this module:</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Complete:</a:t>
            </a:r>
          </a:p>
        </p:txBody>
      </p:sp>
      <p:grpSp>
        <p:nvGrpSpPr>
          <p:cNvPr id="8" name="Group 7"/>
          <p:cNvGrpSpPr/>
          <p:nvPr/>
        </p:nvGrpSpPr>
        <p:grpSpPr>
          <a:xfrm>
            <a:off x="2068017" y="5307447"/>
            <a:ext cx="2868219" cy="532323"/>
            <a:chOff x="4188879" y="4810544"/>
            <a:chExt cx="2868219" cy="532323"/>
          </a:xfrm>
        </p:grpSpPr>
        <p:sp>
          <p:nvSpPr>
            <p:cNvPr id="9" name="TextBox 8"/>
            <p:cNvSpPr txBox="1"/>
            <p:nvPr/>
          </p:nvSpPr>
          <p:spPr>
            <a:xfrm>
              <a:off x="4721202" y="4892040"/>
              <a:ext cx="233589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2">
                      <a:lumMod val="75000"/>
                    </a:schemeClr>
                  </a:solidFill>
                  <a:effectLst/>
                  <a:uLnTx/>
                  <a:uFillTx/>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10" name="Picture 9"/>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
        <p:nvSpPr>
          <p:cNvPr id="1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41</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802267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787E3C5-F017-5342-A18A-0774633BEB95}"/>
              </a:ext>
            </a:extLst>
          </p:cNvPr>
          <p:cNvSpPr>
            <a:spLocks noGrp="1"/>
          </p:cNvSpPr>
          <p:nvPr>
            <p:ph type="title"/>
          </p:nvPr>
        </p:nvSpPr>
        <p:spPr/>
        <p:txBody>
          <a:bodyPr>
            <a:noAutofit/>
          </a:bodyPr>
          <a:lstStyle/>
          <a:p>
            <a:r>
              <a:rPr lang="en-US" b="1"/>
              <a:t>Thank you</a:t>
            </a:r>
          </a:p>
        </p:txBody>
      </p:sp>
    </p:spTree>
    <p:custDataLst>
      <p:tags r:id="rId1"/>
    </p:custDataLst>
    <p:extLst>
      <p:ext uri="{BB962C8B-B14F-4D97-AF65-F5344CB8AC3E}">
        <p14:creationId xmlns:p14="http://schemas.microsoft.com/office/powerpoint/2010/main" val="10249965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GAF8rRbq"/>
  <p:tag name="ARTICULATE_DESIGN_ID_1_OFFICE THEME" val="trQnE9yA"/>
  <p:tag name="ARTICULATE_SLIDE_COUNT" val="7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08AF6F89DD1C940B81FDF2F46999DCC" ma:contentTypeVersion="7" ma:contentTypeDescription="Umožňuje vytvoriť nový dokument." ma:contentTypeScope="" ma:versionID="250776555e9454bf4d1a4da187be6e58">
  <xsd:schema xmlns:xsd="http://www.w3.org/2001/XMLSchema" xmlns:xs="http://www.w3.org/2001/XMLSchema" xmlns:p="http://schemas.microsoft.com/office/2006/metadata/properties" xmlns:ns2="8a382071-b305-4c66-9910-422c2687582b" xmlns:ns3="135fa1e8-94b5-45a0-bd72-c53b9911ff0b" targetNamespace="http://schemas.microsoft.com/office/2006/metadata/properties" ma:root="true" ma:fieldsID="6c729ac3cb9b358115fdbf57eb1dc65d" ns2:_="" ns3:_="">
    <xsd:import namespace="8a382071-b305-4c66-9910-422c2687582b"/>
    <xsd:import namespace="135fa1e8-94b5-45a0-bd72-c53b9911ff0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382071-b305-4c66-9910-422c268758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5fa1e8-94b5-45a0-bd72-c53b9911ff0b" elementFormDefault="qualified">
    <xsd:import namespace="http://schemas.microsoft.com/office/2006/documentManagement/types"/>
    <xsd:import namespace="http://schemas.microsoft.com/office/infopath/2007/PartnerControls"/>
    <xsd:element name="SharedWithUsers" ma:index="13" nillable="true" ma:displayName="Zdieľa sa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Zdieľané s podrobnosťam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5170E1-9694-4AA0-B316-57F580025B85}">
  <ds:schemaRefs>
    <ds:schemaRef ds:uri="135fa1e8-94b5-45a0-bd72-c53b9911ff0b"/>
    <ds:schemaRef ds:uri="8a382071-b305-4c66-9910-422c2687582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96B1AB-EEC3-4776-8A36-8BFF3DC975D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AD8363B-E2D3-4285-AC01-DD92A7BE5D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42</Slides>
  <Notes>42</Notes>
  <HiddenSlides>0</HiddenSlides>
  <ScaleCrop>false</ScaleCrop>
  <HeadingPairs>
    <vt:vector size="4" baseType="variant">
      <vt:variant>
        <vt:lpstr>Theme</vt:lpstr>
      </vt:variant>
      <vt:variant>
        <vt:i4>5</vt:i4>
      </vt:variant>
      <vt:variant>
        <vt:lpstr>Slide Titles</vt:lpstr>
      </vt:variant>
      <vt:variant>
        <vt:i4>42</vt:i4>
      </vt:variant>
    </vt:vector>
  </HeadingPairs>
  <TitlesOfParts>
    <vt:vector size="47" baseType="lpstr">
      <vt:lpstr>1_Office Theme</vt:lpstr>
      <vt:lpstr>Office Theme</vt:lpstr>
      <vt:lpstr>2_Office Theme</vt:lpstr>
      <vt:lpstr>3_Office Theme</vt:lpstr>
      <vt:lpstr>4_Office Theme</vt:lpstr>
      <vt:lpstr>Module 4: Computing (Scaling and Name Resolution) </vt:lpstr>
      <vt:lpstr>Module objectives</vt:lpstr>
      <vt:lpstr>Scaling on demand: Overview</vt:lpstr>
      <vt:lpstr>Components discussed</vt:lpstr>
      <vt:lpstr>Elastic Load Balancing (ELB)</vt:lpstr>
      <vt:lpstr>Elastic Load Balancing (ELB)</vt:lpstr>
      <vt:lpstr>Type of load balancer: ALB</vt:lpstr>
      <vt:lpstr>Type of load balancer: NLB</vt:lpstr>
      <vt:lpstr>Type of load balancer: CLB</vt:lpstr>
      <vt:lpstr>ELB load balancer: Features</vt:lpstr>
      <vt:lpstr>Load balancer: Listeners</vt:lpstr>
      <vt:lpstr>Load balancer: Target groups</vt:lpstr>
      <vt:lpstr>Application Load Balancer components</vt:lpstr>
      <vt:lpstr>Example Application Load Balancer </vt:lpstr>
      <vt:lpstr>Create an Application Load Balancer:  AWS CLI</vt:lpstr>
      <vt:lpstr>Create a target group for the load balancer</vt:lpstr>
      <vt:lpstr>Register EC2 instances to the target group</vt:lpstr>
      <vt:lpstr>Register EC2 instances to the target group</vt:lpstr>
      <vt:lpstr>Verify the health of the registered targets</vt:lpstr>
      <vt:lpstr>Key Takeaway</vt:lpstr>
      <vt:lpstr>Amazon EC2 Auto Scaling</vt:lpstr>
      <vt:lpstr>Amazon EC2 Auto Scaling</vt:lpstr>
      <vt:lpstr>EC2 Auto Scaling in action</vt:lpstr>
      <vt:lpstr>EC2 Auto Scaling and instance health</vt:lpstr>
      <vt:lpstr>EC2 Auto Scaling termination policy</vt:lpstr>
      <vt:lpstr>Termination policies</vt:lpstr>
      <vt:lpstr>Creating a steady-state group</vt:lpstr>
      <vt:lpstr>Scheduled scaling: Amazon EC2</vt:lpstr>
      <vt:lpstr>Dynamic scaling: Amazon EC2</vt:lpstr>
      <vt:lpstr>Predictive scaling: Amazon EC2</vt:lpstr>
      <vt:lpstr>Key Takeaway</vt:lpstr>
      <vt:lpstr>Avoid thrashing</vt:lpstr>
      <vt:lpstr>EC2 Auto Scaling group lifecycle hooks</vt:lpstr>
      <vt:lpstr>Amazon Route 53</vt:lpstr>
      <vt:lpstr>Amazon Route 53</vt:lpstr>
      <vt:lpstr>Associating DNS names with ELB</vt:lpstr>
      <vt:lpstr>Amazon Route 53 routing policies</vt:lpstr>
      <vt:lpstr>Latency-based routing (LBR)</vt:lpstr>
      <vt:lpstr>Example: Blue/green deployment</vt:lpstr>
      <vt:lpstr>Key Takeaway</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revision>16</cp:revision>
  <cp:lastPrinted>2017-08-03T20:30:13Z</cp:lastPrinted>
  <dcterms:created xsi:type="dcterms:W3CDTF">2019-04-23T14:54:44Z</dcterms:created>
  <dcterms:modified xsi:type="dcterms:W3CDTF">2026-02-26T13:20:13Z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9EDE5CEA-C62D-4428-A239-1473F3E9FC91</vt:lpwstr>
  </property>
  <property fmtid="{D5CDD505-2E9C-101B-9397-08002B2CF9AE}" pid="3" name="ArticulatePath">
    <vt:lpwstr>T&amp;C_PPT_template_100level_newbrand</vt:lpwstr>
  </property>
  <property fmtid="{D5CDD505-2E9C-101B-9397-08002B2CF9AE}" pid="4" name="ContentTypeId">
    <vt:lpwstr>0x010100D08AF6F89DD1C940B81FDF2F46999DCC</vt:lpwstr>
  </property>
</Properties>
</file>